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 snapToObjects="1">
      <p:cViewPr varScale="1">
        <p:scale>
          <a:sx n="115" d="100"/>
          <a:sy n="115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 rot="600000">
            <a:off x="8138160" y="-274320"/>
            <a:ext cx="4480560" cy="7315200"/>
          </a:xfrm>
          <a:prstGeom prst="rect">
            <a:avLst/>
          </a:prstGeom>
          <a:solidFill>
            <a:srgbClr val="186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 rot="20880000">
            <a:off x="8641080" y="914400"/>
            <a:ext cx="3017520" cy="1920240"/>
          </a:xfrm>
          <a:prstGeom prst="roundRect">
            <a:avLst/>
          </a:prstGeom>
          <a:solidFill>
            <a:srgbClr val="F43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8229600" cy="24688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6400" b="1">
                <a:solidFill>
                  <a:srgbClr val="171717"/>
                </a:solidFill>
                <a:latin typeface="Aptos Display"/>
              </a:defRPr>
            </a:pPr>
            <a:r>
              <a:t>LAB REPORT</a:t>
            </a:r>
          </a:p>
          <a:p>
            <a:pPr>
              <a:spcAft>
                <a:spcPts val="700"/>
              </a:spcAft>
              <a:defRPr sz="6400" b="1">
                <a:solidFill>
                  <a:srgbClr val="171717"/>
                </a:solidFill>
                <a:latin typeface="Aptos Display"/>
              </a:defRPr>
            </a:pPr>
            <a:r>
              <a:t>LEVEL UP!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69080"/>
            <a:ext cx="731520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CRITICAL ANGLE  •  WHOLE-CLASS FEEDBACK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074920"/>
            <a:ext cx="5212080" cy="4389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5143500"/>
            <a:ext cx="502920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71717"/>
                </a:solidFill>
                <a:latin typeface="Aptos Display"/>
              </a:defRPr>
            </a:pPr>
            <a:r>
              <a:t>11 REPORTS  →  BETTER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9601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171717"/>
                </a:solidFill>
                <a:latin typeface="Aptos Display"/>
              </a:defRPr>
            </a:pPr>
            <a:r>
              <a:t>WE DID SOME GOOD STUFF!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Before we fix mistakes, give yourselves credit.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303520" cy="1554480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313432"/>
            <a:ext cx="489204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GEAR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71800"/>
            <a:ext cx="48920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71717"/>
                </a:solidFill>
                <a:latin typeface="Aptos Display"/>
              </a:defRPr>
            </a:pPr>
            <a:r>
              <a:t>Most chose suitable equipment.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303520" cy="1554480"/>
          </a:xfrm>
          <a:prstGeom prst="roundRect">
            <a:avLst/>
          </a:prstGeom>
          <a:solidFill>
            <a:srgbClr val="A9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313432"/>
            <a:ext cx="489204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METHOD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971800"/>
            <a:ext cx="48920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71717"/>
                </a:solidFill>
                <a:latin typeface="Aptos Display"/>
              </a:defRPr>
            </a:pPr>
            <a:r>
              <a:t>Most described the practical.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31920"/>
            <a:ext cx="5303520" cy="1554480"/>
          </a:xfrm>
          <a:prstGeom prst="roundRect">
            <a:avLst/>
          </a:prstGeom>
          <a:solidFill>
            <a:srgbClr val="FFA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0392" y="4096511"/>
            <a:ext cx="489204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RAYS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754880"/>
            <a:ext cx="48920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71717"/>
                </a:solidFill>
                <a:latin typeface="Aptos Display"/>
              </a:defRPr>
            </a:pPr>
            <a:r>
              <a:t>Most attempted a ray diagram.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31920"/>
            <a:ext cx="5303520" cy="1554480"/>
          </a:xfrm>
          <a:prstGeom prst="roundRect">
            <a:avLst/>
          </a:prstGeom>
          <a:solidFill>
            <a:srgbClr val="A7E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4096511"/>
            <a:ext cx="489204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754880"/>
            <a:ext cx="48920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171717"/>
                </a:solidFill>
                <a:latin typeface="Aptos Display"/>
              </a:defRPr>
            </a:pPr>
            <a:r>
              <a:t>Most took repeat readings.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6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11480"/>
            <a:ext cx="10058400" cy="15544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5 WAYS TO</a:t>
            </a:r>
          </a:p>
          <a:p>
            <a:pPr>
              <a:spcAft>
                <a:spcPts val="700"/>
              </a:spcAft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LEVEL 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3566160" cy="1645920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2304288"/>
            <a:ext cx="7772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43B38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340864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VARIABLES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3026664"/>
            <a:ext cx="246888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1717"/>
                </a:solidFill>
                <a:latin typeface="Aptos Display"/>
              </a:defRPr>
            </a:pPr>
            <a:r>
              <a:t>Checklist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9456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9432" y="2304288"/>
            <a:ext cx="7772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43B38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340864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CALCULATIONS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3026664"/>
            <a:ext cx="246888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1717"/>
                </a:solidFill>
                <a:latin typeface="Aptos Display"/>
              </a:defRPr>
            </a:pPr>
            <a:r>
              <a:t>7 + 9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194560"/>
            <a:ext cx="3566160" cy="1645920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2304288"/>
            <a:ext cx="7772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43B38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340864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PRECAUTIONS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3026664"/>
            <a:ext cx="246888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1717"/>
                </a:solidFill>
                <a:latin typeface="Aptos Display"/>
              </a:defRPr>
            </a:pPr>
            <a:r>
              <a:t>Checklist 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14800"/>
            <a:ext cx="35661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" y="4224528"/>
            <a:ext cx="7772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43B38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61104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PEER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4946904"/>
            <a:ext cx="246888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1717"/>
                </a:solidFill>
                <a:latin typeface="Aptos Display"/>
              </a:defRPr>
            </a:pPr>
            <a:r>
              <a:t>Checklist 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114800"/>
            <a:ext cx="3566160" cy="1645920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9432" y="4224528"/>
            <a:ext cx="77724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300" b="1">
                <a:solidFill>
                  <a:srgbClr val="F43B38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61104"/>
            <a:ext cx="251460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UNCERTAINTY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67528" y="4946904"/>
            <a:ext cx="2468880" cy="3657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71717"/>
                </a:solidFill>
                <a:latin typeface="Aptos Display"/>
              </a:defRPr>
            </a:pPr>
            <a:r>
              <a:t>9 + 10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9601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171717"/>
                </a:solidFill>
                <a:latin typeface="Aptos Display"/>
              </a:defRPr>
            </a:pPr>
            <a:r>
              <a:t>WHO CHANGES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Checklist 4  •  Match the variable to its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3337560" cy="2514600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313432"/>
            <a:ext cx="2926079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71717"/>
                </a:solidFill>
                <a:latin typeface="Aptos Display"/>
              </a:defRPr>
            </a:pPr>
            <a:r>
              <a:t>CHANGE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71800"/>
            <a:ext cx="2926079" cy="1600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71717"/>
                </a:solidFill>
                <a:latin typeface="Aptos Display"/>
              </a:defRPr>
            </a:pPr>
            <a:r>
              <a:t>Angle of incidence at the flat 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48840"/>
            <a:ext cx="3337560" cy="2514600"/>
          </a:xfrm>
          <a:prstGeom prst="roundRect">
            <a:avLst/>
          </a:prstGeom>
          <a:solidFill>
            <a:srgbClr val="A9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2313432"/>
            <a:ext cx="2926079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71717"/>
                </a:solidFill>
                <a:latin typeface="Aptos Display"/>
              </a:defRPr>
            </a:pPr>
            <a: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2926079" cy="1600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71717"/>
                </a:solidFill>
                <a:latin typeface="Aptos Display"/>
              </a:defRPr>
            </a:pPr>
            <a:r>
              <a:t>Direction of the emergent 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148840"/>
            <a:ext cx="3337560" cy="2514600"/>
          </a:xfrm>
          <a:prstGeom prst="roundRect">
            <a:avLst/>
          </a:prstGeom>
          <a:solidFill>
            <a:srgbClr val="FFA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85632" y="2313432"/>
            <a:ext cx="2926079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71717"/>
                </a:solidFill>
                <a:latin typeface="Aptos Display"/>
              </a:defRPr>
            </a:pPr>
            <a:r>
              <a:t>KEEP SAME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971800"/>
            <a:ext cx="2926079" cy="16002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71717"/>
                </a:solidFill>
                <a:latin typeface="Aptos Display"/>
              </a:defRPr>
            </a:pPr>
            <a:r>
              <a:t>Glass block and ray alignment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166360"/>
            <a:ext cx="8458200" cy="438912"/>
          </a:xfrm>
          <a:prstGeom prst="roundRect">
            <a:avLst/>
          </a:prstGeom>
          <a:solidFill>
            <a:srgbClr val="186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38528" y="5234940"/>
            <a:ext cx="82753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KEY FACT: at C, the refracted angle is 90°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9601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171717"/>
                </a:solidFill>
                <a:latin typeface="Aptos Display"/>
              </a:defRPr>
            </a:pPr>
            <a:r>
              <a:t>CALCULATOR CHALLENGE!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Checklist 9  •  Mean critical angle = 40°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03120"/>
            <a:ext cx="64922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468880"/>
            <a:ext cx="5943600" cy="7315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900" b="1">
                <a:solidFill>
                  <a:srgbClr val="1864F2"/>
                </a:solidFill>
                <a:latin typeface="Aptos Display"/>
              </a:defRPr>
            </a:pPr>
            <a:r>
              <a:t>n = 1 / sin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3429000"/>
            <a:ext cx="6126480" cy="8229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171717"/>
                </a:solidFill>
                <a:latin typeface="Aptos Display"/>
              </a:defRPr>
            </a:pPr>
            <a:r>
              <a:t>n = 1 / sin 40° = 1.56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103120"/>
            <a:ext cx="3931920" cy="3200400"/>
          </a:xfrm>
          <a:prstGeom prst="roundRect">
            <a:avLst/>
          </a:prstGeom>
          <a:solidFill>
            <a:srgbClr val="F43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09560" y="2423160"/>
            <a:ext cx="3108960" cy="64008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CHECK!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291840"/>
            <a:ext cx="3200400" cy="1417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Accepted n = 1.50</a:t>
            </a:r>
          </a:p>
          <a:p>
            <a:pPr>
              <a:spcAft>
                <a:spcPts val="700"/>
              </a:spcAft>
              <a:defRPr sz="2300" b="1">
                <a:solidFill>
                  <a:srgbClr val="FFFFFF"/>
                </a:solidFill>
                <a:latin typeface="Aptos Display"/>
              </a:defRPr>
            </a:pPr>
            <a:r>
              <a:t>Difference ≈ 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23560"/>
            <a:ext cx="1005840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Formula  →  substitute  →  calculate  →  round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9601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171717"/>
                </a:solidFill>
                <a:latin typeface="Aptos Display"/>
              </a:defRPr>
            </a:pPr>
            <a:r>
              <a:t>SPOT THE MISTAKE!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Someone wrote: n = sin 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10332720" cy="1417320"/>
          </a:xfrm>
          <a:prstGeom prst="roundRect">
            <a:avLst/>
          </a:prstGeom>
          <a:solidFill>
            <a:srgbClr val="F43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17320" y="2331720"/>
            <a:ext cx="9509760" cy="8229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spcAft>
                <a:spcPts val="700"/>
              </a:spcAft>
              <a:defRPr sz="4300" b="1">
                <a:solidFill>
                  <a:srgbClr val="FFFFFF"/>
                </a:solidFill>
                <a:latin typeface="Aptos Display"/>
              </a:defRPr>
            </a:pPr>
            <a:r>
              <a:t>n = sin 40° = 0.643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86200"/>
            <a:ext cx="9966960" cy="7772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 algn="ctr">
              <a:spcAft>
                <a:spcPts val="700"/>
              </a:spcAft>
              <a:defRPr sz="3600" b="1">
                <a:solidFill>
                  <a:srgbClr val="1864F2"/>
                </a:solidFill>
                <a:latin typeface="Aptos Display"/>
              </a:defRPr>
            </a:pPr>
            <a:r>
              <a:t>WHY CAN’T THAT BE RIGHT?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5212080"/>
            <a:ext cx="5760720" cy="438912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64408" y="5280660"/>
            <a:ext cx="557784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171717"/>
                </a:solidFill>
                <a:latin typeface="Aptos Display"/>
              </a:defRPr>
            </a:pPr>
            <a:r>
              <a:t>CORRECT IT:  n = 1 / sin 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9601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171717"/>
                </a:solidFill>
                <a:latin typeface="Aptos Display"/>
              </a:defRPr>
            </a:pPr>
            <a:r>
              <a:t>DON’T JUST SAY IT…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Checklist 6  •  Explain WHY a precaution helps.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120640" cy="2651760"/>
          </a:xfrm>
          <a:prstGeom prst="roundRect">
            <a:avLst/>
          </a:prstGeom>
          <a:solidFill>
            <a:srgbClr val="FFA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21992"/>
            <a:ext cx="4709159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600" b="1">
                <a:solidFill>
                  <a:srgbClr val="171717"/>
                </a:solidFill>
                <a:latin typeface="Aptos Display"/>
              </a:defRPr>
            </a:pPr>
            <a:r>
              <a:t>TOO VAGUE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80360"/>
            <a:ext cx="4709159" cy="1737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800" b="0">
                <a:solidFill>
                  <a:srgbClr val="171717"/>
                </a:solidFill>
                <a:latin typeface="Aptos Display"/>
              </a:defRPr>
            </a:pPr>
            <a:r>
              <a:t>“Use a narrow ray.”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57400"/>
            <a:ext cx="5257800" cy="2651760"/>
          </a:xfrm>
          <a:prstGeom prst="roundRect">
            <a:avLst/>
          </a:prstGeom>
          <a:solidFill>
            <a:srgbClr val="A7E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221992"/>
            <a:ext cx="484632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500" b="1">
                <a:solidFill>
                  <a:srgbClr val="171717"/>
                </a:solidFill>
                <a:latin typeface="Aptos Display"/>
              </a:defRPr>
            </a:pPr>
            <a:r>
              <a:t>MUCH BETTER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880360"/>
            <a:ext cx="4846320" cy="1737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“Use a narrow ray so the path can be marked more precisely.”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5212080"/>
            <a:ext cx="7772400" cy="438912"/>
          </a:xfrm>
          <a:prstGeom prst="roundRect">
            <a:avLst/>
          </a:prstGeom>
          <a:solidFill>
            <a:srgbClr val="1864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04288" y="5280660"/>
            <a:ext cx="75895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YOUR TURN: Why look straight down?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64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4900" b="1">
                <a:solidFill>
                  <a:srgbClr val="FFFFFF"/>
                </a:solidFill>
                <a:latin typeface="Aptos Display"/>
              </a:defRPr>
            </a:pPr>
            <a:r>
              <a:t>PEER = POWER!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FFFFFF"/>
                </a:solidFill>
                <a:latin typeface="Aptos Display"/>
              </a:defRPr>
            </a:pPr>
            <a:r>
              <a:t>Checklist 10  •  A conclusion is more than “It worked.”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14600"/>
            <a:ext cx="2697480" cy="2926080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219456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5100" b="1">
                <a:solidFill>
                  <a:srgbClr val="F43B38"/>
                </a:solidFill>
                <a:latin typeface="Aptos Display"/>
              </a:defRPr>
            </a:pPr>
            <a: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2860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43400"/>
            <a:ext cx="224028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1717"/>
                </a:solidFill>
                <a:latin typeface="Aptos Display"/>
              </a:defRPr>
            </a:pPr>
            <a:r>
              <a:t>What did you find?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514600"/>
            <a:ext cx="26974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2688336"/>
            <a:ext cx="219456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5100" b="1">
                <a:solidFill>
                  <a:srgbClr val="F43B38"/>
                </a:solidFill>
                <a:latin typeface="Aptos Display"/>
              </a:defRPr>
            </a:pPr>
            <a: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657600"/>
            <a:ext cx="22860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4343400"/>
            <a:ext cx="224028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1717"/>
                </a:solidFill>
                <a:latin typeface="Aptos Display"/>
              </a:defRPr>
            </a:pPr>
            <a:r>
              <a:t>What numbers support it?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8504" y="2514600"/>
            <a:ext cx="2697480" cy="2926080"/>
          </a:xfrm>
          <a:prstGeom prst="roundRect">
            <a:avLst/>
          </a:prstGeom>
          <a:solidFill>
            <a:srgbClr val="FFA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47104" y="2688336"/>
            <a:ext cx="219456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5100" b="1">
                <a:solidFill>
                  <a:srgbClr val="F43B38"/>
                </a:solidFill>
                <a:latin typeface="Aptos Display"/>
              </a:defRPr>
            </a:pPr>
            <a: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657600"/>
            <a:ext cx="22860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4343400"/>
            <a:ext cx="224028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1717"/>
                </a:solidFill>
                <a:latin typeface="Aptos Display"/>
              </a:defRPr>
            </a:pPr>
            <a:r>
              <a:t>What physics explains it?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26296" y="2514600"/>
            <a:ext cx="2697480" cy="2926080"/>
          </a:xfrm>
          <a:prstGeom prst="roundRect">
            <a:avLst/>
          </a:prstGeom>
          <a:solidFill>
            <a:srgbClr val="A7E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54896" y="2688336"/>
            <a:ext cx="219456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5100" b="1">
                <a:solidFill>
                  <a:srgbClr val="F43B38"/>
                </a:solidFill>
                <a:latin typeface="Aptos Display"/>
              </a:defRPr>
            </a:pPr>
            <a: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6" y="3657600"/>
            <a:ext cx="2286000" cy="5029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300" b="1">
                <a:solidFill>
                  <a:srgbClr val="171717"/>
                </a:solidFill>
                <a:latin typeface="Aptos Display"/>
              </a:defRPr>
            </a:pPr>
            <a:r>
              <a:t>REFLECT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54896" y="4343400"/>
            <a:ext cx="2240280" cy="9144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171717"/>
                </a:solidFill>
                <a:latin typeface="Aptos Display"/>
              </a:defRPr>
            </a:pPr>
            <a:r>
              <a:t>What would you improve?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9601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171717"/>
                </a:solidFill>
                <a:latin typeface="Aptos Display"/>
              </a:defRPr>
            </a:pPr>
            <a:r>
              <a:t>BUILD A PEER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Example numbers only: C = 40°, n = 1.56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84248"/>
            <a:ext cx="10789920" cy="832104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057400"/>
            <a:ext cx="594360" cy="61264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43B38"/>
                </a:solidFill>
                <a:latin typeface="Aptos Display"/>
              </a:defRPr>
            </a:pPr>
            <a:r>
              <a:t>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139696"/>
            <a:ext cx="9464040" cy="52120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1717"/>
                </a:solidFill>
                <a:latin typeface="Aptos Display"/>
              </a:defRPr>
            </a:pPr>
            <a:r>
              <a:t>We measured C = 40° and calculated n = 1.56.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44368"/>
            <a:ext cx="10789920" cy="832104"/>
          </a:xfrm>
          <a:prstGeom prst="roundRect">
            <a:avLst/>
          </a:prstGeom>
          <a:solidFill>
            <a:srgbClr val="A9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3017520"/>
            <a:ext cx="594360" cy="61264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43B38"/>
                </a:solidFill>
                <a:latin typeface="Aptos Display"/>
              </a:defRPr>
            </a:pPr>
            <a:r>
              <a:t>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099815"/>
            <a:ext cx="9464040" cy="52120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1717"/>
                </a:solidFill>
                <a:latin typeface="Aptos Display"/>
              </a:defRPr>
            </a:pPr>
            <a:r>
              <a:t>Compared with 1.50, the difference is 4.0%.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04487"/>
            <a:ext cx="10789920" cy="832104"/>
          </a:xfrm>
          <a:prstGeom prst="roundRect">
            <a:avLst/>
          </a:prstGeom>
          <a:solidFill>
            <a:srgbClr val="FFA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3977639"/>
            <a:ext cx="594360" cy="61264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43B38"/>
                </a:solidFill>
                <a:latin typeface="Aptos Display"/>
              </a:defRPr>
            </a:pPr>
            <a: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059935"/>
            <a:ext cx="9464040" cy="52120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1717"/>
                </a:solidFill>
                <a:latin typeface="Aptos Display"/>
              </a:defRPr>
            </a:pPr>
            <a:r>
              <a:t>At C, the refracted ray is 90° to the normal.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64608"/>
            <a:ext cx="10789920" cy="832104"/>
          </a:xfrm>
          <a:prstGeom prst="roundRect">
            <a:avLst/>
          </a:prstGeom>
          <a:solidFill>
            <a:srgbClr val="A7E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4937760"/>
            <a:ext cx="594360" cy="61264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43B38"/>
                </a:solidFill>
                <a:latin typeface="Aptos Display"/>
              </a:defRPr>
            </a:pPr>
            <a: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020056"/>
            <a:ext cx="9464040" cy="521207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171717"/>
                </a:solidFill>
                <a:latin typeface="Aptos Display"/>
              </a:defRPr>
            </a:pPr>
            <a:r>
              <a:t>A narrower ray could help locate C more precisely.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972800" cy="9601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4300" b="1">
                <a:solidFill>
                  <a:srgbClr val="171717"/>
                </a:solidFill>
                <a:latin typeface="Aptos Display"/>
              </a:defRPr>
            </a:pPr>
            <a:r>
              <a:t>UNCERTAINTY ≠ GUESSWORK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99032"/>
            <a:ext cx="10058400" cy="594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Checklist 9 + 10  •  Be precise.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5303520" cy="2606040"/>
          </a:xfrm>
          <a:prstGeom prst="round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2267712"/>
            <a:ext cx="489204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1717"/>
                </a:solidFill>
                <a:latin typeface="Aptos Display"/>
              </a:defRPr>
            </a:pPr>
            <a:r>
              <a:t>±0.5°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26079"/>
            <a:ext cx="4892040" cy="1691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This is an ANGLE uncertainty — not ±0.5 in refractive index.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103120"/>
            <a:ext cx="5303520" cy="2606040"/>
          </a:xfrm>
          <a:prstGeom prst="roundRect">
            <a:avLst/>
          </a:prstGeom>
          <a:solidFill>
            <a:srgbClr val="A9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267712"/>
            <a:ext cx="4892040" cy="548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171717"/>
                </a:solidFill>
                <a:latin typeface="Aptos Display"/>
              </a:defRPr>
            </a:pPr>
            <a:r>
              <a:t>REPEATS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926079"/>
            <a:ext cx="4892040" cy="16916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100" b="0">
                <a:solidFill>
                  <a:srgbClr val="171717"/>
                </a:solidFill>
                <a:latin typeface="Aptos Display"/>
              </a:defRPr>
            </a:pPr>
            <a:r>
              <a:t>Repeated readings reveal variation. They don’t remove every error.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5230368"/>
            <a:ext cx="9829800" cy="438912"/>
          </a:xfrm>
          <a:prstGeom prst="roundRect">
            <a:avLst/>
          </a:prstGeom>
          <a:solidFill>
            <a:srgbClr val="F43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98448" y="5298948"/>
            <a:ext cx="9646920" cy="32004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FFFF"/>
                </a:solidFill>
                <a:latin typeface="Aptos Display"/>
              </a:defRPr>
            </a:pPr>
            <a:r>
              <a:t>A close answer supports a model — it does not PROVE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A3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FD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8229600" cy="22860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171717"/>
                </a:solidFill>
                <a:latin typeface="Aptos Display"/>
              </a:defRPr>
            </a:pPr>
            <a:r>
              <a:t>CRITICAL ANGLE LAB  /  FIX YOUR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33679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71717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94360"/>
            <a:ext cx="10058400" cy="1737360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5800" b="1">
                <a:solidFill>
                  <a:srgbClr val="FFFFFF"/>
                </a:solidFill>
                <a:latin typeface="Aptos Display"/>
              </a:defRPr>
            </a:pPr>
            <a:r>
              <a:t>GREEN PEN</a:t>
            </a:r>
          </a:p>
          <a:p>
            <a:pPr>
              <a:spcAft>
                <a:spcPts val="700"/>
              </a:spcAft>
              <a:defRPr sz="5800" b="1">
                <a:solidFill>
                  <a:srgbClr val="FFFFFF"/>
                </a:solidFill>
                <a:latin typeface="Aptos Display"/>
              </a:defRPr>
            </a:pPr>
            <a:r>
              <a:t>MISSION!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10424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679192"/>
            <a:ext cx="640080" cy="4754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43B38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715768"/>
            <a:ext cx="9052560" cy="43891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Read your individual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429000"/>
            <a:ext cx="10424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502152"/>
            <a:ext cx="640080" cy="4754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43B38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38728"/>
            <a:ext cx="9052560" cy="43891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Correct your ORIGINAL report in green 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51960"/>
            <a:ext cx="10424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325112"/>
            <a:ext cx="640080" cy="4754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43B38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361688"/>
            <a:ext cx="9052560" cy="43891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Show your working and explain the fix.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074920"/>
            <a:ext cx="10424160" cy="65836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5148072"/>
            <a:ext cx="640080" cy="475488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F43B38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5184648"/>
            <a:ext cx="9052560" cy="438912"/>
          </a:xfrm>
          <a:prstGeom prst="rect">
            <a:avLst/>
          </a:prstGeom>
          <a:noFill/>
        </p:spPr>
        <p:txBody>
          <a:bodyPr wrap="square" lIns="36576" tIns="18288" rIns="36576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71717"/>
                </a:solidFill>
                <a:latin typeface="Aptos Display"/>
              </a:defRPr>
            </a:pPr>
            <a:r>
              <a:t>Use the exemplar LAST.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533</Words>
  <Application>Microsoft Macintosh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 Casey</cp:lastModifiedBy>
  <cp:revision>2</cp:revision>
  <dcterms:created xsi:type="dcterms:W3CDTF">2013-01-27T09:14:16Z</dcterms:created>
  <dcterms:modified xsi:type="dcterms:W3CDTF">2026-10-16T13:10:20Z</dcterms:modified>
  <cp:category/>
</cp:coreProperties>
</file>