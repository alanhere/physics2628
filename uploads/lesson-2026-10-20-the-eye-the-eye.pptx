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304" r:id="rId3"/>
    <p:sldId id="763" r:id="rId4"/>
    <p:sldId id="767" r:id="rId5"/>
    <p:sldId id="764" r:id="rId6"/>
    <p:sldId id="765" r:id="rId7"/>
    <p:sldId id="771" r:id="rId8"/>
    <p:sldId id="772" r:id="rId9"/>
    <p:sldId id="307" r:id="rId10"/>
    <p:sldId id="768" r:id="rId11"/>
    <p:sldId id="336" r:id="rId12"/>
    <p:sldId id="352" r:id="rId13"/>
    <p:sldId id="288" r:id="rId14"/>
    <p:sldId id="291" r:id="rId15"/>
    <p:sldId id="292" r:id="rId16"/>
    <p:sldId id="293" r:id="rId17"/>
    <p:sldId id="779" r:id="rId18"/>
    <p:sldId id="781" r:id="rId19"/>
    <p:sldId id="782" r:id="rId20"/>
    <p:sldId id="7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1"/>
  </p:normalViewPr>
  <p:slideViewPr>
    <p:cSldViewPr snapToGrid="0">
      <p:cViewPr varScale="1">
        <p:scale>
          <a:sx n="115" d="100"/>
          <a:sy n="115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5E5A90-6B31-DB4A-BCCF-D5F4791905AD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1978A-F5B9-AB49-B587-707334C278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11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>
            <a:extLst>
              <a:ext uri="{FF2B5EF4-FFF2-40B4-BE49-F238E27FC236}">
                <a16:creationId xmlns:a16="http://schemas.microsoft.com/office/drawing/2014/main" id="{78DB95F2-03A4-7973-1CE8-73D261EC4D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6" name="Notes Placeholder 2">
            <a:extLst>
              <a:ext uri="{FF2B5EF4-FFF2-40B4-BE49-F238E27FC236}">
                <a16:creationId xmlns:a16="http://schemas.microsoft.com/office/drawing/2014/main" id="{F6C45294-D1FF-8223-B4C5-93E5C3AB0D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/>
              <a:t>Image: vision art eye care</a:t>
            </a:r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7198BF71-6A30-AE7B-106A-A505E9CA1A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AE2541C-1E9A-AB42-8AC5-9A97469CC157}" type="slidenum">
              <a:rPr lang="en-GB" altLang="en-US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Image Placeholder 1">
            <a:extLst>
              <a:ext uri="{FF2B5EF4-FFF2-40B4-BE49-F238E27FC236}">
                <a16:creationId xmlns:a16="http://schemas.microsoft.com/office/drawing/2014/main" id="{75D40484-8A77-0AF0-00F2-FD88AA7415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0" name="Notes Placeholder 2">
            <a:extLst>
              <a:ext uri="{FF2B5EF4-FFF2-40B4-BE49-F238E27FC236}">
                <a16:creationId xmlns:a16="http://schemas.microsoft.com/office/drawing/2014/main" id="{6017939F-77AD-4FF1-645E-574E4C72F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8131" name="Slide Number Placeholder 3">
            <a:extLst>
              <a:ext uri="{FF2B5EF4-FFF2-40B4-BE49-F238E27FC236}">
                <a16:creationId xmlns:a16="http://schemas.microsoft.com/office/drawing/2014/main" id="{970FF1E4-0B64-6B77-2E8A-30546D600C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51CD8D-5061-B34A-9BBF-31A381EACD23}" type="slidenum">
              <a:rPr lang="en-GB" altLang="en-US"/>
              <a:pPr/>
              <a:t>6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57530-A9B0-263D-415C-3C60B0C77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3F8AD-D679-4032-2152-C9EE00FD7C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0C24C-7517-1604-E9C3-2E54CFA1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4CE61-C92B-D06B-6F9D-48E288E0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8A5E32-6E32-BB1B-AA92-6D9FD0E9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01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E45BA-5206-AED5-A732-A701CD6A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8923E-775E-B898-F10B-8557BADCE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9DCC5-3DCC-5F37-A855-E2BA40D1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55B6-EFF8-B6DF-9DB3-BE67EB5A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EB7AC-4970-ECF2-B092-7728E0AE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147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9E88-4A8A-908F-1C25-F083BB5D2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41A966-3102-18ED-44C8-88D49D913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26C2E-13A2-7FB1-E105-3A19A11C4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E6FBA6-3ADE-D993-7C15-9113D06E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AB84-76C4-E5E1-9C63-D0ACDF573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0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8460-5801-1C80-87CF-91B5B75FB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5B98D-745A-24D0-1B0C-410406DB50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513F9-A56F-3855-59ED-DF6AB14E8E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3FC75-38F6-3173-8AE6-C83FFF2B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8653F-EA97-CE55-F776-5FDBA6F7B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3B40AA-1554-22A1-6222-0B0B40B2B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97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3DDC-033E-2072-4B5D-E9F68478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DD3FB-2DE1-C617-AB9F-7A96682A0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F913D-BB62-F3A6-D199-1F1AF82C2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D2EF8-7EDE-A1CB-7140-E32183096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A85E5E-9D20-CB60-0DC0-15AF54A498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3D4D46-F03F-9EF6-F54E-81BC32161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D92BA-E90C-DA2C-EF7C-CE53B4D4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C3CF55-1629-0242-937D-BB2823AD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248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EB23-8D5F-4FE3-3CC6-ED5952C6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89A0FD-FCF8-144E-D48A-DD26D83A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E792CF-1F59-73F3-F241-F4F1751DF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A5DC0-9FFD-866D-1C5E-CB542651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979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96AD7-61E6-BE33-83C1-D81F1F5D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80806E-2397-CEEB-5E21-BB4515D6B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3C5709-E829-B446-0F28-7D7E39E8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11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F01F8-B32F-AF52-BD3B-62E3AA2A0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1264-0192-1335-86C2-F282F14D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CE6CA-CD41-6EC7-5F87-D4D4B972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B5C9B-0948-631F-B18C-2994CE36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CB914-8C5B-97C0-FF0D-96B14EE2D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535DB-1F2B-9EDE-D4F6-4F6431946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3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FA3C7-2A5B-D648-13A2-C3D55673C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70009C-D4F1-D1B5-481F-C4AE7491EC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4C43D-8564-A029-5CB1-C74C88FFF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612A9-EE83-A82E-C4E0-58D6051C0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A5F58-3809-836C-E8AE-45CBB4F03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CD06A4-BB5E-E4AD-BD6B-6AADC90E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251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B9457-A8F5-F76D-B85F-7B72252D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D6E8A-A001-66F4-F160-46476EEDF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73607-28F4-6C70-53C1-26A39E7A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2ED5E-B9B1-C63B-BED5-4F883F3D0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7E08E-780E-3F00-7BB0-DD8F07EBD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8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EDBC7-CBF5-8E42-D32A-29B505D25B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16577-2384-A939-74F4-B557C4A990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FD779-40B8-0EFF-E63B-AC8028AD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82D0C-B9AA-476D-6528-4677A6515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A0F7-6291-0BD7-C4A8-B0B008B3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62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AA44AD-9FE7-5356-D978-1FA190D9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B91171-6EA3-A844-5F47-E72AFCD7D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B7CAD-92C1-F999-8692-CE8ED317B5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0D2B1-27CA-0E49-99DA-07DF5E437EDA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11594-43CF-1C76-DA88-CA4587144E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BE53B-095C-6651-767F-E9307E0C4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48D2BE-23C3-E041-B438-EF40054FD9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46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October_2020_tree_in_Maryland.jpg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ommons.wikimedia.org/wiki/File:Book_of_Knowledge_1919_Vol_1_Page_110.jpg" TargetMode="Externa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commons.wikimedia.org/wiki/File:Book_of_Knowledge_1919_Vol_1_Page_110.jpg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Book_of_Knowledge_1919_Vol_1_Page_110.jpg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commons.wikimedia.org/wiki/File:October_2020_tree_in_Maryland.jpg" TargetMode="External"/><Relationship Id="rId4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9836A-6F43-D7AC-00E0-72EB27CE78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876E1B-0687-2F9A-7A27-CDA31C1F0D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144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7" name="Picture 1">
            <a:extLst>
              <a:ext uri="{FF2B5EF4-FFF2-40B4-BE49-F238E27FC236}">
                <a16:creationId xmlns:a16="http://schemas.microsoft.com/office/drawing/2014/main" id="{B25DBFB5-AC1E-1AD2-5043-954603A70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37" y="1"/>
            <a:ext cx="10599738" cy="695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C2C133-204E-9246-A3F5-AA4EC165A6A2}"/>
              </a:ext>
            </a:extLst>
          </p:cNvPr>
          <p:cNvSpPr/>
          <p:nvPr/>
        </p:nvSpPr>
        <p:spPr>
          <a:xfrm>
            <a:off x="1774826" y="115888"/>
            <a:ext cx="2881313" cy="201771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Other parts of the body take time to warm up not the eyes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BD8AA-A832-4E45-A6B7-2119896B48B0}"/>
              </a:ext>
            </a:extLst>
          </p:cNvPr>
          <p:cNvSpPr/>
          <p:nvPr/>
        </p:nvSpPr>
        <p:spPr>
          <a:xfrm>
            <a:off x="4775201" y="85726"/>
            <a:ext cx="3279775" cy="2016125"/>
          </a:xfrm>
          <a:prstGeom prst="rect">
            <a:avLst/>
          </a:prstGeom>
          <a:solidFill>
            <a:srgbClr val="EF31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Babies don’t produce tears when they cry till 4-13 weeks old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B2014A-460D-8C42-9C69-BE727B3118D7}"/>
              </a:ext>
            </a:extLst>
          </p:cNvPr>
          <p:cNvSpPr/>
          <p:nvPr/>
        </p:nvSpPr>
        <p:spPr>
          <a:xfrm>
            <a:off x="1576389" y="2455864"/>
            <a:ext cx="3278187" cy="1544637"/>
          </a:xfrm>
          <a:prstGeom prst="rect">
            <a:avLst/>
          </a:prstGeom>
          <a:solidFill>
            <a:srgbClr val="F398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Half your brain is involved with seeing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74C608-B46A-BA40-ACE1-057737F1FC38}"/>
              </a:ext>
            </a:extLst>
          </p:cNvPr>
          <p:cNvSpPr/>
          <p:nvPr/>
        </p:nvSpPr>
        <p:spPr>
          <a:xfrm>
            <a:off x="1576389" y="4322764"/>
            <a:ext cx="3278187" cy="154463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8% of vision problems world wide can be cured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FBB80-D85F-B34B-843E-3683559EF69D}"/>
              </a:ext>
            </a:extLst>
          </p:cNvPr>
          <p:cNvSpPr/>
          <p:nvPr/>
        </p:nvSpPr>
        <p:spPr>
          <a:xfrm>
            <a:off x="5016500" y="5313364"/>
            <a:ext cx="2159000" cy="154463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39 million people are blind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7C9B17-E5E8-6A41-8751-F99C5109F8F7}"/>
              </a:ext>
            </a:extLst>
          </p:cNvPr>
          <p:cNvSpPr/>
          <p:nvPr/>
        </p:nvSpPr>
        <p:spPr>
          <a:xfrm>
            <a:off x="7824788" y="5094289"/>
            <a:ext cx="2159000" cy="1544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Eyes are very quick healers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8DD2DF-D452-E246-A70E-4F776B671732}"/>
              </a:ext>
            </a:extLst>
          </p:cNvPr>
          <p:cNvSpPr/>
          <p:nvPr/>
        </p:nvSpPr>
        <p:spPr>
          <a:xfrm>
            <a:off x="8397875" y="115889"/>
            <a:ext cx="2160588" cy="3457575"/>
          </a:xfrm>
          <a:prstGeom prst="rect">
            <a:avLst/>
          </a:prstGeom>
          <a:solidFill>
            <a:srgbClr val="CC6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Eyes stay the same size but your nose and ears continue to grow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CD2C5C-DE3F-4744-99B2-D628396CAD66}"/>
              </a:ext>
            </a:extLst>
          </p:cNvPr>
          <p:cNvSpPr/>
          <p:nvPr/>
        </p:nvSpPr>
        <p:spPr>
          <a:xfrm>
            <a:off x="5016501" y="2455864"/>
            <a:ext cx="3287713" cy="2473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3200" dirty="0">
                <a:solidFill>
                  <a:prstClr val="white"/>
                </a:solidFill>
              </a:rPr>
              <a:t>Your eyes can distinguish 10million different colours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3">
            <a:extLst>
              <a:ext uri="{FF2B5EF4-FFF2-40B4-BE49-F238E27FC236}">
                <a16:creationId xmlns:a16="http://schemas.microsoft.com/office/drawing/2014/main" id="{483317DE-D2AF-B083-07B4-E05A92759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2"/>
          <a:stretch>
            <a:fillRect/>
          </a:stretch>
        </p:blipFill>
        <p:spPr bwMode="auto">
          <a:xfrm>
            <a:off x="4278314" y="2135188"/>
            <a:ext cx="6389687" cy="472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DCC7164-70C7-5F41-B084-25D36A736838}"/>
              </a:ext>
            </a:extLst>
          </p:cNvPr>
          <p:cNvSpPr txBox="1"/>
          <p:nvPr/>
        </p:nvSpPr>
        <p:spPr>
          <a:xfrm>
            <a:off x="1511300" y="0"/>
            <a:ext cx="9144000" cy="954088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prstClr val="white"/>
                </a:solidFill>
              </a:rPr>
              <a:t>The </a:t>
            </a:r>
            <a:r>
              <a:rPr lang="en-GB" sz="2800" b="1" dirty="0">
                <a:solidFill>
                  <a:srgbClr val="FFC000"/>
                </a:solidFill>
              </a:rPr>
              <a:t>eye</a:t>
            </a:r>
            <a:r>
              <a:rPr lang="en-GB" sz="2800" b="1" dirty="0">
                <a:solidFill>
                  <a:prstClr val="white"/>
                </a:solidFill>
              </a:rPr>
              <a:t> is an amazing </a:t>
            </a:r>
            <a:r>
              <a:rPr lang="en-GB" sz="2800" b="1" dirty="0">
                <a:solidFill>
                  <a:srgbClr val="FFC000"/>
                </a:solidFill>
              </a:rPr>
              <a:t>organ</a:t>
            </a:r>
            <a:r>
              <a:rPr lang="en-GB" sz="2800" b="1" dirty="0">
                <a:solidFill>
                  <a:prstClr val="white"/>
                </a:solidFill>
              </a:rPr>
              <a:t>. It is complex and perfectly adapted for its function.</a:t>
            </a:r>
            <a:endParaRPr lang="en-GB" sz="2800" dirty="0">
              <a:solidFill>
                <a:prstClr val="whit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A2F7E-2EBF-CB46-B514-C3EA7A91BCF3}"/>
              </a:ext>
            </a:extLst>
          </p:cNvPr>
          <p:cNvSpPr txBox="1"/>
          <p:nvPr/>
        </p:nvSpPr>
        <p:spPr>
          <a:xfrm>
            <a:off x="2587625" y="1204913"/>
            <a:ext cx="6991350" cy="83026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iris is a muscle that we can’t consciously control.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It responds to light and narrows or expands the pupil.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FCEB19-09E6-2E43-AFEF-93C04045C063}"/>
              </a:ext>
            </a:extLst>
          </p:cNvPr>
          <p:cNvSpPr txBox="1"/>
          <p:nvPr/>
        </p:nvSpPr>
        <p:spPr>
          <a:xfrm>
            <a:off x="1595439" y="2865439"/>
            <a:ext cx="3284537" cy="2308225"/>
          </a:xfrm>
          <a:prstGeom prst="rect">
            <a:avLst/>
          </a:prstGeom>
          <a:noFill/>
          <a:ln w="38100">
            <a:solidFill>
              <a:schemeClr val="accent5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“If you close your eye</a:t>
            </a:r>
          </a:p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and get your partner to</a:t>
            </a:r>
          </a:p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shine a phone light at an</a:t>
            </a:r>
          </a:p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angle into your eye. Then </a:t>
            </a:r>
          </a:p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open you eyes they will</a:t>
            </a:r>
          </a:p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see the iris contracting to</a:t>
            </a:r>
          </a:p>
          <a:p>
            <a:pPr algn="ctr">
              <a:defRPr/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  <a:latin typeface="Segoe Print" panose="02000800000000000000" pitchFamily="2" charset="0"/>
              </a:rPr>
              <a:t>narrow the pupil.” </a:t>
            </a:r>
          </a:p>
          <a:p>
            <a:pPr algn="ctr">
              <a:defRPr/>
            </a:pP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  <a:latin typeface="Segoe Print" panose="020008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39A752-0642-A08D-BCB4-D3E947903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6" t="16859" r="36635" b="53149"/>
          <a:stretch>
            <a:fillRect/>
          </a:stretch>
        </p:blipFill>
        <p:spPr bwMode="auto">
          <a:xfrm>
            <a:off x="1595439" y="4849813"/>
            <a:ext cx="2160587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">
            <a:extLst>
              <a:ext uri="{FF2B5EF4-FFF2-40B4-BE49-F238E27FC236}">
                <a16:creationId xmlns:a16="http://schemas.microsoft.com/office/drawing/2014/main" id="{684C536F-9C4E-6F8F-00CA-3ED9EFA2E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26" r="57184"/>
          <a:stretch>
            <a:fillRect/>
          </a:stretch>
        </p:blipFill>
        <p:spPr bwMode="auto">
          <a:xfrm>
            <a:off x="4862514" y="1384300"/>
            <a:ext cx="4967287" cy="594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9866042A-A748-F94A-815B-E794F204C141}"/>
              </a:ext>
            </a:extLst>
          </p:cNvPr>
          <p:cNvSpPr/>
          <p:nvPr/>
        </p:nvSpPr>
        <p:spPr>
          <a:xfrm rot="1675967">
            <a:off x="5127625" y="3167064"/>
            <a:ext cx="863600" cy="504825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6C956D-5C8B-E346-B75B-C4A67F92DD9E}"/>
              </a:ext>
            </a:extLst>
          </p:cNvPr>
          <p:cNvSpPr txBox="1"/>
          <p:nvPr/>
        </p:nvSpPr>
        <p:spPr>
          <a:xfrm>
            <a:off x="1511300" y="0"/>
            <a:ext cx="9144000" cy="1384300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prstClr val="white"/>
                </a:solidFill>
              </a:rPr>
              <a:t>The </a:t>
            </a:r>
            <a:r>
              <a:rPr lang="en-GB" sz="2800" b="1" dirty="0">
                <a:solidFill>
                  <a:srgbClr val="FFC000"/>
                </a:solidFill>
              </a:rPr>
              <a:t>cornea</a:t>
            </a:r>
            <a:r>
              <a:rPr lang="en-GB" sz="2800" b="1" dirty="0">
                <a:solidFill>
                  <a:prstClr val="white"/>
                </a:solidFill>
              </a:rPr>
              <a:t> is a </a:t>
            </a:r>
            <a:r>
              <a:rPr lang="en-GB" sz="2800" b="1" dirty="0">
                <a:solidFill>
                  <a:srgbClr val="FFC000"/>
                </a:solidFill>
              </a:rPr>
              <a:t>transparent tissue </a:t>
            </a:r>
            <a:r>
              <a:rPr lang="en-GB" sz="2800" b="1" dirty="0">
                <a:solidFill>
                  <a:prstClr val="white"/>
                </a:solidFill>
              </a:rPr>
              <a:t>that covers the front of the eye. It is responsible for most of the </a:t>
            </a:r>
            <a:r>
              <a:rPr lang="en-GB" sz="2800" b="1" dirty="0">
                <a:solidFill>
                  <a:srgbClr val="FFC000"/>
                </a:solidFill>
              </a:rPr>
              <a:t>refraction</a:t>
            </a:r>
            <a:r>
              <a:rPr lang="en-GB" sz="2800" b="1" dirty="0">
                <a:solidFill>
                  <a:prstClr val="white"/>
                </a:solidFill>
              </a:rPr>
              <a:t> of light for focusing. </a:t>
            </a:r>
            <a:endParaRPr lang="en-GB" sz="2800" dirty="0">
              <a:solidFill>
                <a:prstClr val="white"/>
              </a:solidFill>
            </a:endParaRPr>
          </a:p>
        </p:txBody>
      </p:sp>
      <p:sp>
        <p:nvSpPr>
          <p:cNvPr id="43013" name="TextBox 6">
            <a:extLst>
              <a:ext uri="{FF2B5EF4-FFF2-40B4-BE49-F238E27FC236}">
                <a16:creationId xmlns:a16="http://schemas.microsoft.com/office/drawing/2014/main" id="{A75EB9C5-96B9-FB70-47D9-B328DE647A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314" y="2808288"/>
            <a:ext cx="18129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bg1"/>
                </a:solidFill>
                <a:latin typeface="Segoe Print" panose="02000800000000000000" pitchFamily="2" charset="0"/>
              </a:rPr>
              <a:t>Cornea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3" name="Picture 5">
            <a:extLst>
              <a:ext uri="{FF2B5EF4-FFF2-40B4-BE49-F238E27FC236}">
                <a16:creationId xmlns:a16="http://schemas.microsoft.com/office/drawing/2014/main" id="{F4D6913F-A4E5-8B26-E13C-9F9B16FAD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050" y="954088"/>
            <a:ext cx="9505950" cy="59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7F0FFF-178C-1C42-98BD-776C6EEF2D8A}"/>
              </a:ext>
            </a:extLst>
          </p:cNvPr>
          <p:cNvSpPr txBox="1"/>
          <p:nvPr/>
        </p:nvSpPr>
        <p:spPr>
          <a:xfrm>
            <a:off x="1511300" y="0"/>
            <a:ext cx="9144000" cy="954088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prstClr val="white"/>
                </a:solidFill>
              </a:rPr>
              <a:t>Light travels through the </a:t>
            </a:r>
            <a:r>
              <a:rPr lang="en-GB" sz="2800" b="1" dirty="0">
                <a:solidFill>
                  <a:srgbClr val="FFC000"/>
                </a:solidFill>
              </a:rPr>
              <a:t>pupil</a:t>
            </a:r>
            <a:r>
              <a:rPr lang="en-GB" sz="2800" b="1" dirty="0">
                <a:solidFill>
                  <a:prstClr val="white"/>
                </a:solidFill>
              </a:rPr>
              <a:t>, which is a hole leading into the </a:t>
            </a:r>
            <a:r>
              <a:rPr lang="en-GB" sz="2800" b="1" dirty="0">
                <a:solidFill>
                  <a:srgbClr val="FFC000"/>
                </a:solidFill>
              </a:rPr>
              <a:t>lens</a:t>
            </a:r>
            <a:r>
              <a:rPr lang="en-GB" sz="2800" b="1" dirty="0">
                <a:solidFill>
                  <a:prstClr val="white"/>
                </a:solidFill>
              </a:rPr>
              <a:t> of the eye. </a:t>
            </a:r>
            <a:endParaRPr lang="en-GB" sz="28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>
            <a:extLst>
              <a:ext uri="{FF2B5EF4-FFF2-40B4-BE49-F238E27FC236}">
                <a16:creationId xmlns:a16="http://schemas.microsoft.com/office/drawing/2014/main" id="{7CB4EB41-6F77-7E38-0FF2-B461FCCDD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9" y="1428750"/>
            <a:ext cx="9367837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D2CEF5-96DD-094C-814D-190C9FF93BF1}"/>
              </a:ext>
            </a:extLst>
          </p:cNvPr>
          <p:cNvSpPr txBox="1"/>
          <p:nvPr/>
        </p:nvSpPr>
        <p:spPr>
          <a:xfrm>
            <a:off x="1511300" y="0"/>
            <a:ext cx="9144000" cy="1384300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rgbClr val="FFC000"/>
                </a:solidFill>
              </a:rPr>
              <a:t>Light rays</a:t>
            </a:r>
            <a:r>
              <a:rPr lang="en-GB" sz="2800" b="1" dirty="0">
                <a:solidFill>
                  <a:prstClr val="white"/>
                </a:solidFill>
              </a:rPr>
              <a:t> are </a:t>
            </a:r>
            <a:r>
              <a:rPr lang="en-GB" sz="2800" b="1" dirty="0">
                <a:solidFill>
                  <a:srgbClr val="FFC000"/>
                </a:solidFill>
              </a:rPr>
              <a:t>focused by the lens</a:t>
            </a:r>
            <a:r>
              <a:rPr lang="en-GB" sz="2800" b="1" dirty="0">
                <a:solidFill>
                  <a:prstClr val="white"/>
                </a:solidFill>
              </a:rPr>
              <a:t> onto the </a:t>
            </a:r>
            <a:r>
              <a:rPr lang="en-GB" sz="2800" b="1" dirty="0">
                <a:solidFill>
                  <a:srgbClr val="FFC000"/>
                </a:solidFill>
              </a:rPr>
              <a:t>back of the eye </a:t>
            </a:r>
            <a:r>
              <a:rPr lang="en-GB" sz="2800" b="1" dirty="0">
                <a:solidFill>
                  <a:prstClr val="white"/>
                </a:solidFill>
              </a:rPr>
              <a:t>called the </a:t>
            </a:r>
            <a:r>
              <a:rPr lang="en-GB" sz="2800" b="1" u="sng" dirty="0">
                <a:solidFill>
                  <a:srgbClr val="FFC000"/>
                </a:solidFill>
              </a:rPr>
              <a:t>retina</a:t>
            </a:r>
            <a:r>
              <a:rPr lang="en-GB" sz="2800" b="1" dirty="0">
                <a:solidFill>
                  <a:prstClr val="white"/>
                </a:solidFill>
              </a:rPr>
              <a:t>. Specialised cells called </a:t>
            </a:r>
            <a:r>
              <a:rPr lang="en-GB" sz="2800" b="1" dirty="0">
                <a:solidFill>
                  <a:srgbClr val="FFC000"/>
                </a:solidFill>
              </a:rPr>
              <a:t>photoreceptors</a:t>
            </a:r>
            <a:r>
              <a:rPr lang="en-GB" sz="2800" b="1" dirty="0">
                <a:solidFill>
                  <a:prstClr val="white"/>
                </a:solidFill>
              </a:rPr>
              <a:t> respond to light.</a:t>
            </a:r>
            <a:endParaRPr lang="en-GB" sz="2800" dirty="0">
              <a:solidFill>
                <a:prstClr val="white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3AC56A-C8B6-7548-B3E5-F5620A1841A2}"/>
              </a:ext>
            </a:extLst>
          </p:cNvPr>
          <p:cNvCxnSpPr/>
          <p:nvPr/>
        </p:nvCxnSpPr>
        <p:spPr>
          <a:xfrm>
            <a:off x="1631951" y="3860800"/>
            <a:ext cx="143986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4B6B00-3C21-914E-B273-1F15B492F49F}"/>
              </a:ext>
            </a:extLst>
          </p:cNvPr>
          <p:cNvCxnSpPr/>
          <p:nvPr/>
        </p:nvCxnSpPr>
        <p:spPr>
          <a:xfrm>
            <a:off x="1631951" y="4221163"/>
            <a:ext cx="143986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492108-C9B3-C247-920A-B92332A58E63}"/>
              </a:ext>
            </a:extLst>
          </p:cNvPr>
          <p:cNvCxnSpPr/>
          <p:nvPr/>
        </p:nvCxnSpPr>
        <p:spPr>
          <a:xfrm>
            <a:off x="1631951" y="4581525"/>
            <a:ext cx="1439863" cy="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riangle 9">
            <a:extLst>
              <a:ext uri="{FF2B5EF4-FFF2-40B4-BE49-F238E27FC236}">
                <a16:creationId xmlns:a16="http://schemas.microsoft.com/office/drawing/2014/main" id="{C782FEAB-982D-2F48-A285-8CC6FF8A55D8}"/>
              </a:ext>
            </a:extLst>
          </p:cNvPr>
          <p:cNvSpPr/>
          <p:nvPr/>
        </p:nvSpPr>
        <p:spPr>
          <a:xfrm rot="5113574">
            <a:off x="2068513" y="3813176"/>
            <a:ext cx="144463" cy="144462"/>
          </a:xfrm>
          <a:prstGeom prst="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01881D8A-A6C1-B746-AB23-126582DC5668}"/>
              </a:ext>
            </a:extLst>
          </p:cNvPr>
          <p:cNvSpPr/>
          <p:nvPr/>
        </p:nvSpPr>
        <p:spPr>
          <a:xfrm rot="5113574">
            <a:off x="2057401" y="4173538"/>
            <a:ext cx="144462" cy="144463"/>
          </a:xfrm>
          <a:prstGeom prst="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FDEE061E-D35A-6940-85F1-20621397C52A}"/>
              </a:ext>
            </a:extLst>
          </p:cNvPr>
          <p:cNvSpPr/>
          <p:nvPr/>
        </p:nvSpPr>
        <p:spPr>
          <a:xfrm rot="5113574">
            <a:off x="2051845" y="4509295"/>
            <a:ext cx="144463" cy="142875"/>
          </a:xfrm>
          <a:prstGeom prst="triangl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E5F32E-22DC-EB4F-9DE1-FAE08BF05C34}"/>
              </a:ext>
            </a:extLst>
          </p:cNvPr>
          <p:cNvCxnSpPr>
            <a:cxnSpLocks/>
          </p:cNvCxnSpPr>
          <p:nvPr/>
        </p:nvCxnSpPr>
        <p:spPr>
          <a:xfrm>
            <a:off x="3071813" y="3865564"/>
            <a:ext cx="647700" cy="7302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19C37EE-BAC5-944A-A07F-B2FB6F5ECED3}"/>
              </a:ext>
            </a:extLst>
          </p:cNvPr>
          <p:cNvCxnSpPr>
            <a:cxnSpLocks/>
          </p:cNvCxnSpPr>
          <p:nvPr/>
        </p:nvCxnSpPr>
        <p:spPr>
          <a:xfrm>
            <a:off x="3041651" y="4221164"/>
            <a:ext cx="2297113" cy="793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DA766F-E9F2-4843-B4D3-2DC15A526E6F}"/>
              </a:ext>
            </a:extLst>
          </p:cNvPr>
          <p:cNvCxnSpPr>
            <a:cxnSpLocks/>
          </p:cNvCxnSpPr>
          <p:nvPr/>
        </p:nvCxnSpPr>
        <p:spPr>
          <a:xfrm flipV="1">
            <a:off x="3041651" y="4519613"/>
            <a:ext cx="677863" cy="6191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1AFC7B0-A20B-5C4C-A1CF-F2899EC9AFF7}"/>
              </a:ext>
            </a:extLst>
          </p:cNvPr>
          <p:cNvCxnSpPr>
            <a:cxnSpLocks/>
          </p:cNvCxnSpPr>
          <p:nvPr/>
        </p:nvCxnSpPr>
        <p:spPr>
          <a:xfrm>
            <a:off x="3719513" y="3938588"/>
            <a:ext cx="1619250" cy="290512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A6E58E2-07D0-3545-8C79-6B73C58F7F77}"/>
              </a:ext>
            </a:extLst>
          </p:cNvPr>
          <p:cNvCxnSpPr>
            <a:cxnSpLocks/>
          </p:cNvCxnSpPr>
          <p:nvPr/>
        </p:nvCxnSpPr>
        <p:spPr>
          <a:xfrm flipV="1">
            <a:off x="3719513" y="4229101"/>
            <a:ext cx="1619250" cy="290513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3">
            <a:extLst>
              <a:ext uri="{FF2B5EF4-FFF2-40B4-BE49-F238E27FC236}">
                <a16:creationId xmlns:a16="http://schemas.microsoft.com/office/drawing/2014/main" id="{D652E9C0-1973-503C-8687-40AFE543B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250" y="2636838"/>
            <a:ext cx="79121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E841C5-BA14-D14B-9FD4-8E53A2DC65AE}"/>
              </a:ext>
            </a:extLst>
          </p:cNvPr>
          <p:cNvSpPr txBox="1"/>
          <p:nvPr/>
        </p:nvSpPr>
        <p:spPr>
          <a:xfrm>
            <a:off x="1511300" y="1"/>
            <a:ext cx="9144000" cy="954107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chemeClr val="bg1"/>
                </a:solidFill>
              </a:rPr>
              <a:t>There are two types of photoreceptors </a:t>
            </a:r>
            <a:r>
              <a:rPr lang="en-GB" sz="2800" b="1" dirty="0">
                <a:solidFill>
                  <a:srgbClr val="FFC000"/>
                </a:solidFill>
              </a:rPr>
              <a:t>‘Rods’ </a:t>
            </a:r>
            <a:r>
              <a:rPr lang="en-GB" sz="2800" b="1" dirty="0">
                <a:solidFill>
                  <a:schemeClr val="bg1"/>
                </a:solidFill>
              </a:rPr>
              <a:t>and </a:t>
            </a:r>
            <a:r>
              <a:rPr lang="en-GB" sz="2800" b="1" dirty="0">
                <a:solidFill>
                  <a:srgbClr val="FFC000"/>
                </a:solidFill>
              </a:rPr>
              <a:t>‘Cones’.  </a:t>
            </a:r>
            <a:endParaRPr lang="en-GB" sz="2800" dirty="0">
              <a:solidFill>
                <a:srgbClr val="FFC000"/>
              </a:solidFill>
            </a:endParaRPr>
          </a:p>
        </p:txBody>
      </p:sp>
      <p:sp>
        <p:nvSpPr>
          <p:cNvPr id="46083" name="TextBox 5">
            <a:extLst>
              <a:ext uri="{FF2B5EF4-FFF2-40B4-BE49-F238E27FC236}">
                <a16:creationId xmlns:a16="http://schemas.microsoft.com/office/drawing/2014/main" id="{74B902D0-5C80-CD07-782F-4E3D1F0418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389" y="1557339"/>
            <a:ext cx="39020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 b="1" u="sng">
                <a:latin typeface="Arial" panose="020B0604020202020204" pitchFamily="34" charset="0"/>
              </a:rPr>
              <a:t>Cones</a:t>
            </a:r>
            <a:r>
              <a:rPr lang="en-US" altLang="en-US" sz="2800">
                <a:latin typeface="Arial" panose="020B0604020202020204" pitchFamily="34" charset="0"/>
              </a:rPr>
              <a:t> are sensitive to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FFC000"/>
                </a:solidFill>
                <a:latin typeface="Arial" panose="020B0604020202020204" pitchFamily="34" charset="0"/>
              </a:rPr>
              <a:t>Bright light </a:t>
            </a:r>
            <a:r>
              <a:rPr lang="en-US" altLang="en-US" sz="2800">
                <a:latin typeface="Arial" panose="020B0604020202020204" pitchFamily="34" charset="0"/>
              </a:rPr>
              <a:t>and 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  <a:r>
              <a:rPr lang="en-US" altLang="en-US" sz="2800">
                <a:solidFill>
                  <a:srgbClr val="0070C0"/>
                </a:solidFill>
                <a:latin typeface="Arial" panose="020B0604020202020204" pitchFamily="34" charset="0"/>
              </a:rPr>
              <a:t>o</a:t>
            </a:r>
            <a:r>
              <a:rPr lang="en-US" altLang="en-US" sz="2800">
                <a:solidFill>
                  <a:srgbClr val="00B050"/>
                </a:solidFill>
                <a:latin typeface="Arial" panose="020B0604020202020204" pitchFamily="34" charset="0"/>
              </a:rPr>
              <a:t>l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o</a:t>
            </a:r>
            <a:r>
              <a:rPr lang="en-US" altLang="en-US" sz="2800">
                <a:solidFill>
                  <a:srgbClr val="0070C0"/>
                </a:solidFill>
                <a:latin typeface="Arial" panose="020B0604020202020204" pitchFamily="34" charset="0"/>
              </a:rPr>
              <a:t>u</a:t>
            </a:r>
            <a:r>
              <a:rPr lang="en-US" altLang="en-US" sz="2800">
                <a:solidFill>
                  <a:srgbClr val="00B050"/>
                </a:solidFill>
                <a:latin typeface="Arial" panose="020B0604020202020204" pitchFamily="34" charset="0"/>
              </a:rPr>
              <a:t>r</a:t>
            </a:r>
            <a:r>
              <a:rPr lang="en-US" altLang="en-US" sz="2800">
                <a:solidFill>
                  <a:srgbClr val="FF0000"/>
                </a:solidFill>
                <a:latin typeface="Arial" panose="020B0604020202020204" pitchFamily="34" charset="0"/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1D91F5-4D25-3D41-B0EE-3E434D52690A}"/>
              </a:ext>
            </a:extLst>
          </p:cNvPr>
          <p:cNvSpPr txBox="1"/>
          <p:nvPr/>
        </p:nvSpPr>
        <p:spPr>
          <a:xfrm>
            <a:off x="6086476" y="1557339"/>
            <a:ext cx="4003675" cy="95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b="1" u="sng" dirty="0"/>
              <a:t>Rods</a:t>
            </a:r>
            <a:r>
              <a:rPr lang="en-US" sz="2800" dirty="0"/>
              <a:t> are sensitive to </a:t>
            </a:r>
          </a:p>
          <a:p>
            <a:pPr algn="ctr">
              <a:defRPr/>
            </a:pPr>
            <a:r>
              <a:rPr lang="en-US" sz="2800" dirty="0">
                <a:solidFill>
                  <a:schemeClr val="accent4">
                    <a:lumMod val="75000"/>
                  </a:schemeClr>
                </a:solidFill>
              </a:rPr>
              <a:t>movement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dim light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8FAD2C-30D9-4743-B607-FD166F2A52E6}"/>
              </a:ext>
            </a:extLst>
          </p:cNvPr>
          <p:cNvSpPr txBox="1"/>
          <p:nvPr/>
        </p:nvSpPr>
        <p:spPr>
          <a:xfrm>
            <a:off x="1511300" y="1"/>
            <a:ext cx="9144000" cy="1384995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chemeClr val="bg1"/>
                </a:solidFill>
              </a:rPr>
              <a:t>We have a blind spot. There are no rods or cones where the cells join to make the </a:t>
            </a:r>
            <a:r>
              <a:rPr lang="en-GB" sz="2800" b="1" dirty="0">
                <a:solidFill>
                  <a:srgbClr val="FFC000"/>
                </a:solidFill>
              </a:rPr>
              <a:t>optical nerve. </a:t>
            </a:r>
            <a:r>
              <a:rPr lang="en-GB" sz="2800" b="1" dirty="0">
                <a:solidFill>
                  <a:schemeClr val="bg1"/>
                </a:solidFill>
              </a:rPr>
              <a:t>[part 4 on diagram] </a:t>
            </a:r>
            <a:endParaRPr lang="en-GB" sz="2800" dirty="0">
              <a:solidFill>
                <a:schemeClr val="bg1"/>
              </a:solidFill>
            </a:endParaRPr>
          </a:p>
        </p:txBody>
      </p:sp>
      <p:pic>
        <p:nvPicPr>
          <p:cNvPr id="50178" name="Picture 4">
            <a:extLst>
              <a:ext uri="{FF2B5EF4-FFF2-40B4-BE49-F238E27FC236}">
                <a16:creationId xmlns:a16="http://schemas.microsoft.com/office/drawing/2014/main" id="{54B239BE-45AC-C667-F666-6C9B6883C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73"/>
          <a:stretch>
            <a:fillRect/>
          </a:stretch>
        </p:blipFill>
        <p:spPr bwMode="auto">
          <a:xfrm>
            <a:off x="6816725" y="954088"/>
            <a:ext cx="4070350" cy="4913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79" name="TextBox 5">
            <a:extLst>
              <a:ext uri="{FF2B5EF4-FFF2-40B4-BE49-F238E27FC236}">
                <a16:creationId xmlns:a16="http://schemas.microsoft.com/office/drawing/2014/main" id="{3BAB8966-9E11-5C8F-4B01-890A10485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389" y="1366839"/>
            <a:ext cx="59642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Where is that place on the diagram?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C27682-9158-BC46-B7B9-9A380B9F044B}"/>
              </a:ext>
            </a:extLst>
          </p:cNvPr>
          <p:cNvSpPr txBox="1"/>
          <p:nvPr/>
        </p:nvSpPr>
        <p:spPr>
          <a:xfrm>
            <a:off x="2419351" y="2211388"/>
            <a:ext cx="4094163" cy="3694112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“To find your blind spot draw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these two symbols 15cm apart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In your book. </a:t>
            </a:r>
          </a:p>
          <a:p>
            <a:pPr algn="ctr">
              <a:defRPr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egoe Print" panose="02000800000000000000" pitchFamily="2" charset="0"/>
            </a:endParaRPr>
          </a:p>
          <a:p>
            <a:pPr algn="ctr">
              <a:defRPr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egoe Print" panose="02000800000000000000" pitchFamily="2" charset="0"/>
            </a:endParaRP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Cover one eye with your hand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And focus on one symbol. 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Move your head closer or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further till you can not see the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other symbol. When you can’t see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it that is because it is your</a:t>
            </a:r>
          </a:p>
          <a:p>
            <a:pPr algn="ctr">
              <a:defRPr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egoe Print" panose="02000800000000000000" pitchFamily="2" charset="0"/>
              </a:rPr>
              <a:t>blind spot.” </a:t>
            </a:r>
          </a:p>
          <a:p>
            <a:pPr algn="ctr">
              <a:defRPr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Segoe Print" panose="020008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F8AB7F-A86C-B8A3-4125-8634AEE4B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6" t="16859" r="36635" b="53149"/>
          <a:stretch>
            <a:fillRect/>
          </a:stretch>
        </p:blipFill>
        <p:spPr bwMode="auto">
          <a:xfrm>
            <a:off x="1343025" y="4968876"/>
            <a:ext cx="2160588" cy="205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2" name="TextBox 8">
            <a:extLst>
              <a:ext uri="{FF2B5EF4-FFF2-40B4-BE49-F238E27FC236}">
                <a16:creationId xmlns:a16="http://schemas.microsoft.com/office/drawing/2014/main" id="{5907E78A-EFE6-A0E0-47B1-A47A45D396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2888" y="3005139"/>
            <a:ext cx="47801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Arial" panose="020B0604020202020204" pitchFamily="34" charset="0"/>
              </a:rPr>
              <a:t>☓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801D1B5-6BF8-5C4E-919B-698417F7BE60}"/>
              </a:ext>
            </a:extLst>
          </p:cNvPr>
          <p:cNvSpPr/>
          <p:nvPr/>
        </p:nvSpPr>
        <p:spPr>
          <a:xfrm>
            <a:off x="5578476" y="3073401"/>
            <a:ext cx="504825" cy="48577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Picture 2" descr="Image result for eye inverted image">
            <a:extLst>
              <a:ext uri="{FF2B5EF4-FFF2-40B4-BE49-F238E27FC236}">
                <a16:creationId xmlns:a16="http://schemas.microsoft.com/office/drawing/2014/main" id="{8234D0A4-9E01-18C6-E9F6-803E155A4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1412876"/>
            <a:ext cx="8021637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35C5FA-C8FF-A64B-88E1-F36A79F3149B}"/>
              </a:ext>
            </a:extLst>
          </p:cNvPr>
          <p:cNvSpPr txBox="1"/>
          <p:nvPr/>
        </p:nvSpPr>
        <p:spPr>
          <a:xfrm>
            <a:off x="1511300" y="-22225"/>
            <a:ext cx="9144000" cy="1384300"/>
          </a:xfrm>
          <a:prstGeom prst="rect">
            <a:avLst/>
          </a:prstGeom>
          <a:solidFill>
            <a:srgbClr val="56426E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prstClr val="white"/>
                </a:solidFill>
              </a:rPr>
              <a:t>When light come from an object and passes into your eye to the retina the image is </a:t>
            </a:r>
            <a:r>
              <a:rPr lang="en-GB" sz="2800" b="1" dirty="0">
                <a:solidFill>
                  <a:srgbClr val="00B0F0"/>
                </a:solidFill>
              </a:rPr>
              <a:t>inverted</a:t>
            </a:r>
            <a:r>
              <a:rPr lang="en-GB" sz="2800" b="1" dirty="0">
                <a:solidFill>
                  <a:prstClr val="white"/>
                </a:solidFill>
              </a:rPr>
              <a:t> </a:t>
            </a:r>
            <a:r>
              <a:rPr lang="en-GB" sz="2800" b="1" dirty="0">
                <a:solidFill>
                  <a:srgbClr val="00B0F0"/>
                </a:solidFill>
              </a:rPr>
              <a:t>(upside down)</a:t>
            </a:r>
            <a:r>
              <a:rPr lang="en-GB" sz="2800" b="1" dirty="0">
                <a:solidFill>
                  <a:prstClr val="white"/>
                </a:solidFill>
              </a:rPr>
              <a:t>. Your brain sorts the image to make it the right way 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3" descr="oxo_act01_1104_ps00_xxaw02">
            <a:extLst>
              <a:ext uri="{FF2B5EF4-FFF2-40B4-BE49-F238E27FC236}">
                <a16:creationId xmlns:a16="http://schemas.microsoft.com/office/drawing/2014/main" id="{88870971-C0E2-30AB-6EBF-309999BF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484314"/>
            <a:ext cx="7127875" cy="384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5D6190-EA96-3D4B-8764-05D96FAF2085}"/>
              </a:ext>
            </a:extLst>
          </p:cNvPr>
          <p:cNvSpPr txBox="1"/>
          <p:nvPr/>
        </p:nvSpPr>
        <p:spPr>
          <a:xfrm>
            <a:off x="1511300" y="1"/>
            <a:ext cx="9144000" cy="523875"/>
          </a:xfrm>
          <a:prstGeom prst="rect">
            <a:avLst/>
          </a:prstGeom>
          <a:solidFill>
            <a:srgbClr val="0070C0"/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chemeClr val="bg1"/>
                </a:solidFill>
              </a:rPr>
              <a:t>Review</a:t>
            </a:r>
            <a:endParaRPr lang="en-GB" sz="2800" dirty="0">
              <a:solidFill>
                <a:schemeClr val="bg1"/>
              </a:solidFill>
            </a:endParaRPr>
          </a:p>
        </p:txBody>
      </p:sp>
      <p:sp>
        <p:nvSpPr>
          <p:cNvPr id="54275" name="TextBox 5">
            <a:extLst>
              <a:ext uri="{FF2B5EF4-FFF2-40B4-BE49-F238E27FC236}">
                <a16:creationId xmlns:a16="http://schemas.microsoft.com/office/drawing/2014/main" id="{AD0CEF76-9101-4CE7-9861-1401C63BE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1" y="981076"/>
            <a:ext cx="892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Iris</a:t>
            </a:r>
          </a:p>
        </p:txBody>
      </p:sp>
      <p:sp>
        <p:nvSpPr>
          <p:cNvPr id="54276" name="TextBox 6">
            <a:extLst>
              <a:ext uri="{FF2B5EF4-FFF2-40B4-BE49-F238E27FC236}">
                <a16:creationId xmlns:a16="http://schemas.microsoft.com/office/drawing/2014/main" id="{540808BE-7ED8-124C-B935-0315AEBC5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8163" y="4221163"/>
            <a:ext cx="13525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Pupil</a:t>
            </a:r>
          </a:p>
        </p:txBody>
      </p:sp>
      <p:sp>
        <p:nvSpPr>
          <p:cNvPr id="54277" name="TextBox 7">
            <a:extLst>
              <a:ext uri="{FF2B5EF4-FFF2-40B4-BE49-F238E27FC236}">
                <a16:creationId xmlns:a16="http://schemas.microsoft.com/office/drawing/2014/main" id="{2F542F88-F78D-E40E-FB5A-94D3EB55B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26" y="5165725"/>
            <a:ext cx="18129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Cornea</a:t>
            </a:r>
          </a:p>
        </p:txBody>
      </p:sp>
      <p:sp>
        <p:nvSpPr>
          <p:cNvPr id="54278" name="TextBox 8">
            <a:extLst>
              <a:ext uri="{FF2B5EF4-FFF2-40B4-BE49-F238E27FC236}">
                <a16:creationId xmlns:a16="http://schemas.microsoft.com/office/drawing/2014/main" id="{320775F9-B62A-1136-4B19-325C99166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7800" y="5241926"/>
            <a:ext cx="1214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Lens</a:t>
            </a:r>
          </a:p>
        </p:txBody>
      </p:sp>
      <p:sp>
        <p:nvSpPr>
          <p:cNvPr id="54279" name="TextBox 9">
            <a:extLst>
              <a:ext uri="{FF2B5EF4-FFF2-40B4-BE49-F238E27FC236}">
                <a16:creationId xmlns:a16="http://schemas.microsoft.com/office/drawing/2014/main" id="{C05E1C1C-655E-DB0B-63C7-4235E7F83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59825" y="5248275"/>
            <a:ext cx="18351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Optical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nerve</a:t>
            </a:r>
          </a:p>
        </p:txBody>
      </p:sp>
      <p:sp>
        <p:nvSpPr>
          <p:cNvPr id="54280" name="TextBox 10">
            <a:extLst>
              <a:ext uri="{FF2B5EF4-FFF2-40B4-BE49-F238E27FC236}">
                <a16:creationId xmlns:a16="http://schemas.microsoft.com/office/drawing/2014/main" id="{60EB1392-07D7-9474-65D3-3157B9C0FD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2489" y="884238"/>
            <a:ext cx="167957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Retina</a:t>
            </a:r>
          </a:p>
        </p:txBody>
      </p:sp>
      <p:sp>
        <p:nvSpPr>
          <p:cNvPr id="54281" name="TextBox 11">
            <a:extLst>
              <a:ext uri="{FF2B5EF4-FFF2-40B4-BE49-F238E27FC236}">
                <a16:creationId xmlns:a16="http://schemas.microsoft.com/office/drawing/2014/main" id="{F8FC69C9-73DA-DA86-6F9E-0B9A793E9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0464" y="482600"/>
            <a:ext cx="2071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Vitreous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Segoe Print" panose="02000800000000000000" pitchFamily="2" charset="0"/>
              </a:rPr>
              <a:t>humor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4">
            <a:extLst>
              <a:ext uri="{FF2B5EF4-FFF2-40B4-BE49-F238E27FC236}">
                <a16:creationId xmlns:a16="http://schemas.microsoft.com/office/drawing/2014/main" id="{3AAD80CC-F3FE-85B0-9004-9E7A508B4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692151"/>
            <a:ext cx="7920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9D7B775-DF84-FEE4-E0D5-4B14A88DA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155247"/>
            <a:ext cx="8724900" cy="1089529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How is light focused on the retina?</a:t>
            </a:r>
            <a:br>
              <a:rPr lang="en-US" altLang="en-US" dirty="0"/>
            </a:br>
            <a:endParaRPr lang="en-GB" dirty="0"/>
          </a:p>
        </p:txBody>
      </p:sp>
      <p:sp>
        <p:nvSpPr>
          <p:cNvPr id="32771" name="Text Box 5">
            <a:extLst>
              <a:ext uri="{FF2B5EF4-FFF2-40B4-BE49-F238E27FC236}">
                <a16:creationId xmlns:a16="http://schemas.microsoft.com/office/drawing/2014/main" id="{989DA35A-A1B4-1889-263B-3EB88EC63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869" y="1351363"/>
            <a:ext cx="4075868" cy="461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800" b="0" dirty="0"/>
              <a:t>The eye is a double lens consisting of the cornea, and the lens just behind it.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2800" b="0" dirty="0"/>
              <a:t>The focal length of the lens can be changed using the ciliary muscle. This allows the eye to focus on near or distant objects.</a:t>
            </a:r>
            <a:endParaRPr lang="en-GB" altLang="en-US" sz="2800" b="0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218DA4A-4BE7-E5BF-34B8-56A65BAB1612}"/>
              </a:ext>
            </a:extLst>
          </p:cNvPr>
          <p:cNvGrpSpPr/>
          <p:nvPr/>
        </p:nvGrpSpPr>
        <p:grpSpPr>
          <a:xfrm>
            <a:off x="5763989" y="1229350"/>
            <a:ext cx="4612021" cy="3675159"/>
            <a:chOff x="70381" y="1052736"/>
            <a:chExt cx="6445835" cy="525586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8B8A574-C6DA-DEE1-F3A5-6BDB0B3A8C14}"/>
                </a:ext>
              </a:extLst>
            </p:cNvPr>
            <p:cNvSpPr/>
            <p:nvPr/>
          </p:nvSpPr>
          <p:spPr bwMode="auto">
            <a:xfrm>
              <a:off x="188536" y="1052736"/>
              <a:ext cx="6327680" cy="5255868"/>
            </a:xfrm>
            <a:prstGeom prst="round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latin typeface="Arial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2DE3C94C-5690-0C1D-F3B1-FD271B635BE1}"/>
                </a:ext>
              </a:extLst>
            </p:cNvPr>
            <p:cNvSpPr/>
            <p:nvPr/>
          </p:nvSpPr>
          <p:spPr bwMode="auto">
            <a:xfrm>
              <a:off x="1638201" y="2905053"/>
              <a:ext cx="1273444" cy="1556401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latin typeface="Arial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4A8332E-810D-E05B-8532-8B0639C78E04}"/>
                </a:ext>
              </a:extLst>
            </p:cNvPr>
            <p:cNvSpPr/>
            <p:nvPr/>
          </p:nvSpPr>
          <p:spPr bwMode="auto">
            <a:xfrm>
              <a:off x="2088075" y="1798018"/>
              <a:ext cx="3723664" cy="3723664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latin typeface="Arial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2D40CD7-5A64-1614-EC0E-BCEE2F8882FE}"/>
                </a:ext>
              </a:extLst>
            </p:cNvPr>
            <p:cNvSpPr/>
            <p:nvPr/>
          </p:nvSpPr>
          <p:spPr bwMode="auto">
            <a:xfrm>
              <a:off x="2167684" y="2905053"/>
              <a:ext cx="301919" cy="1509593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solidFill>
                  <a:srgbClr val="FF0000"/>
                </a:solidFill>
                <a:latin typeface="Arial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8CA06E7-1EFC-A7BA-D1B9-659AB3216F37}"/>
                </a:ext>
              </a:extLst>
            </p:cNvPr>
            <p:cNvSpPr/>
            <p:nvPr/>
          </p:nvSpPr>
          <p:spPr bwMode="auto">
            <a:xfrm>
              <a:off x="2137962" y="3106332"/>
              <a:ext cx="352672" cy="1006985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latin typeface="Arial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90CC79D-7A55-1721-6D83-2A14FA74334D}"/>
                </a:ext>
              </a:extLst>
            </p:cNvPr>
            <p:cNvSpPr/>
            <p:nvPr/>
          </p:nvSpPr>
          <p:spPr bwMode="auto">
            <a:xfrm>
              <a:off x="2086218" y="2782018"/>
              <a:ext cx="148603" cy="653851"/>
            </a:xfrm>
            <a:custGeom>
              <a:avLst/>
              <a:gdLst>
                <a:gd name="connsiteX0" fmla="*/ 106326 w 106326"/>
                <a:gd name="connsiteY0" fmla="*/ 0 h 467833"/>
                <a:gd name="connsiteX1" fmla="*/ 31898 w 106326"/>
                <a:gd name="connsiteY1" fmla="*/ 297712 h 467833"/>
                <a:gd name="connsiteX2" fmla="*/ 0 w 106326"/>
                <a:gd name="connsiteY2" fmla="*/ 467833 h 4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326" h="467833">
                  <a:moveTo>
                    <a:pt x="106326" y="0"/>
                  </a:moveTo>
                  <a:lnTo>
                    <a:pt x="31898" y="297712"/>
                  </a:lnTo>
                  <a:lnTo>
                    <a:pt x="0" y="467833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latin typeface="Arial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544591B-908A-A766-277D-8CD579ADA423}"/>
                </a:ext>
              </a:extLst>
            </p:cNvPr>
            <p:cNvSpPr/>
            <p:nvPr/>
          </p:nvSpPr>
          <p:spPr bwMode="auto">
            <a:xfrm rot="19685096">
              <a:off x="2047212" y="3904479"/>
              <a:ext cx="148603" cy="653851"/>
            </a:xfrm>
            <a:custGeom>
              <a:avLst/>
              <a:gdLst>
                <a:gd name="connsiteX0" fmla="*/ 106326 w 106326"/>
                <a:gd name="connsiteY0" fmla="*/ 0 h 467833"/>
                <a:gd name="connsiteX1" fmla="*/ 31898 w 106326"/>
                <a:gd name="connsiteY1" fmla="*/ 297712 h 467833"/>
                <a:gd name="connsiteX2" fmla="*/ 0 w 106326"/>
                <a:gd name="connsiteY2" fmla="*/ 467833 h 467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326" h="467833">
                  <a:moveTo>
                    <a:pt x="106326" y="0"/>
                  </a:moveTo>
                  <a:lnTo>
                    <a:pt x="31898" y="297712"/>
                  </a:lnTo>
                  <a:lnTo>
                    <a:pt x="0" y="467833"/>
                  </a:lnTo>
                </a:path>
              </a:pathLst>
            </a:custGeom>
            <a:noFill/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sz="2400" b="1">
                <a:latin typeface="Arial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084446F-F41A-1D3A-718B-2B34578EF187}"/>
                </a:ext>
              </a:extLst>
            </p:cNvPr>
            <p:cNvSpPr/>
            <p:nvPr/>
          </p:nvSpPr>
          <p:spPr bwMode="auto">
            <a:xfrm>
              <a:off x="3676264" y="1934984"/>
              <a:ext cx="1993783" cy="3469712"/>
            </a:xfrm>
            <a:custGeom>
              <a:avLst/>
              <a:gdLst>
                <a:gd name="connsiteX0" fmla="*/ 382772 w 1446028"/>
                <a:gd name="connsiteY0" fmla="*/ 0 h 2466754"/>
                <a:gd name="connsiteX1" fmla="*/ 744279 w 1446028"/>
                <a:gd name="connsiteY1" fmla="*/ 74428 h 2466754"/>
                <a:gd name="connsiteX2" fmla="*/ 956930 w 1446028"/>
                <a:gd name="connsiteY2" fmla="*/ 244549 h 2466754"/>
                <a:gd name="connsiteX3" fmla="*/ 1201479 w 1446028"/>
                <a:gd name="connsiteY3" fmla="*/ 446568 h 2466754"/>
                <a:gd name="connsiteX4" fmla="*/ 1307805 w 1446028"/>
                <a:gd name="connsiteY4" fmla="*/ 691116 h 2466754"/>
                <a:gd name="connsiteX5" fmla="*/ 1424763 w 1446028"/>
                <a:gd name="connsiteY5" fmla="*/ 1063256 h 2466754"/>
                <a:gd name="connsiteX6" fmla="*/ 1446028 w 1446028"/>
                <a:gd name="connsiteY6" fmla="*/ 1509823 h 2466754"/>
                <a:gd name="connsiteX7" fmla="*/ 1297172 w 1446028"/>
                <a:gd name="connsiteY7" fmla="*/ 1807535 h 2466754"/>
                <a:gd name="connsiteX8" fmla="*/ 1095153 w 1446028"/>
                <a:gd name="connsiteY8" fmla="*/ 2137144 h 2466754"/>
                <a:gd name="connsiteX9" fmla="*/ 786809 w 1446028"/>
                <a:gd name="connsiteY9" fmla="*/ 2360428 h 2466754"/>
                <a:gd name="connsiteX10" fmla="*/ 393405 w 1446028"/>
                <a:gd name="connsiteY10" fmla="*/ 2466754 h 2466754"/>
                <a:gd name="connsiteX11" fmla="*/ 0 w 1446028"/>
                <a:gd name="connsiteY11" fmla="*/ 2466754 h 2466754"/>
                <a:gd name="connsiteX0" fmla="*/ 382772 w 1446028"/>
                <a:gd name="connsiteY0" fmla="*/ 0 h 2466754"/>
                <a:gd name="connsiteX1" fmla="*/ 744279 w 1446028"/>
                <a:gd name="connsiteY1" fmla="*/ 74428 h 2466754"/>
                <a:gd name="connsiteX2" fmla="*/ 1201479 w 1446028"/>
                <a:gd name="connsiteY2" fmla="*/ 446568 h 2466754"/>
                <a:gd name="connsiteX3" fmla="*/ 1307805 w 1446028"/>
                <a:gd name="connsiteY3" fmla="*/ 691116 h 2466754"/>
                <a:gd name="connsiteX4" fmla="*/ 1424763 w 1446028"/>
                <a:gd name="connsiteY4" fmla="*/ 1063256 h 2466754"/>
                <a:gd name="connsiteX5" fmla="*/ 1446028 w 1446028"/>
                <a:gd name="connsiteY5" fmla="*/ 1509823 h 2466754"/>
                <a:gd name="connsiteX6" fmla="*/ 1297172 w 1446028"/>
                <a:gd name="connsiteY6" fmla="*/ 1807535 h 2466754"/>
                <a:gd name="connsiteX7" fmla="*/ 1095153 w 1446028"/>
                <a:gd name="connsiteY7" fmla="*/ 2137144 h 2466754"/>
                <a:gd name="connsiteX8" fmla="*/ 786809 w 1446028"/>
                <a:gd name="connsiteY8" fmla="*/ 2360428 h 2466754"/>
                <a:gd name="connsiteX9" fmla="*/ 393405 w 1446028"/>
                <a:gd name="connsiteY9" fmla="*/ 2466754 h 2466754"/>
                <a:gd name="connsiteX10" fmla="*/ 0 w 1446028"/>
                <a:gd name="connsiteY10" fmla="*/ 2466754 h 2466754"/>
                <a:gd name="connsiteX0" fmla="*/ 382772 w 1446028"/>
                <a:gd name="connsiteY0" fmla="*/ 0 h 2466754"/>
                <a:gd name="connsiteX1" fmla="*/ 744279 w 1446028"/>
                <a:gd name="connsiteY1" fmla="*/ 74428 h 2466754"/>
                <a:gd name="connsiteX2" fmla="*/ 1201479 w 1446028"/>
                <a:gd name="connsiteY2" fmla="*/ 446568 h 2466754"/>
                <a:gd name="connsiteX3" fmla="*/ 1424763 w 1446028"/>
                <a:gd name="connsiteY3" fmla="*/ 1063256 h 2466754"/>
                <a:gd name="connsiteX4" fmla="*/ 1446028 w 1446028"/>
                <a:gd name="connsiteY4" fmla="*/ 1509823 h 2466754"/>
                <a:gd name="connsiteX5" fmla="*/ 1297172 w 1446028"/>
                <a:gd name="connsiteY5" fmla="*/ 1807535 h 2466754"/>
                <a:gd name="connsiteX6" fmla="*/ 1095153 w 1446028"/>
                <a:gd name="connsiteY6" fmla="*/ 2137144 h 2466754"/>
                <a:gd name="connsiteX7" fmla="*/ 786809 w 1446028"/>
                <a:gd name="connsiteY7" fmla="*/ 2360428 h 2466754"/>
                <a:gd name="connsiteX8" fmla="*/ 393405 w 1446028"/>
                <a:gd name="connsiteY8" fmla="*/ 2466754 h 2466754"/>
                <a:gd name="connsiteX9" fmla="*/ 0 w 1446028"/>
                <a:gd name="connsiteY9" fmla="*/ 2466754 h 2466754"/>
                <a:gd name="connsiteX0" fmla="*/ 382772 w 1446028"/>
                <a:gd name="connsiteY0" fmla="*/ 0 h 2466754"/>
                <a:gd name="connsiteX1" fmla="*/ 1201479 w 1446028"/>
                <a:gd name="connsiteY1" fmla="*/ 446568 h 2466754"/>
                <a:gd name="connsiteX2" fmla="*/ 1424763 w 1446028"/>
                <a:gd name="connsiteY2" fmla="*/ 1063256 h 2466754"/>
                <a:gd name="connsiteX3" fmla="*/ 1446028 w 1446028"/>
                <a:gd name="connsiteY3" fmla="*/ 1509823 h 2466754"/>
                <a:gd name="connsiteX4" fmla="*/ 1297172 w 1446028"/>
                <a:gd name="connsiteY4" fmla="*/ 1807535 h 2466754"/>
                <a:gd name="connsiteX5" fmla="*/ 1095153 w 1446028"/>
                <a:gd name="connsiteY5" fmla="*/ 2137144 h 2466754"/>
                <a:gd name="connsiteX6" fmla="*/ 786809 w 1446028"/>
                <a:gd name="connsiteY6" fmla="*/ 2360428 h 2466754"/>
                <a:gd name="connsiteX7" fmla="*/ 393405 w 1446028"/>
                <a:gd name="connsiteY7" fmla="*/ 2466754 h 2466754"/>
                <a:gd name="connsiteX8" fmla="*/ 0 w 1446028"/>
                <a:gd name="connsiteY8" fmla="*/ 2466754 h 2466754"/>
                <a:gd name="connsiteX0" fmla="*/ 382772 w 1446028"/>
                <a:gd name="connsiteY0" fmla="*/ 0 h 2466754"/>
                <a:gd name="connsiteX1" fmla="*/ 1201479 w 1446028"/>
                <a:gd name="connsiteY1" fmla="*/ 446568 h 2466754"/>
                <a:gd name="connsiteX2" fmla="*/ 1424763 w 1446028"/>
                <a:gd name="connsiteY2" fmla="*/ 1063256 h 2466754"/>
                <a:gd name="connsiteX3" fmla="*/ 1446028 w 1446028"/>
                <a:gd name="connsiteY3" fmla="*/ 1509823 h 2466754"/>
                <a:gd name="connsiteX4" fmla="*/ 1095153 w 1446028"/>
                <a:gd name="connsiteY4" fmla="*/ 2137144 h 2466754"/>
                <a:gd name="connsiteX5" fmla="*/ 786809 w 1446028"/>
                <a:gd name="connsiteY5" fmla="*/ 2360428 h 2466754"/>
                <a:gd name="connsiteX6" fmla="*/ 393405 w 1446028"/>
                <a:gd name="connsiteY6" fmla="*/ 2466754 h 2466754"/>
                <a:gd name="connsiteX7" fmla="*/ 0 w 1446028"/>
                <a:gd name="connsiteY7" fmla="*/ 2466754 h 2466754"/>
                <a:gd name="connsiteX0" fmla="*/ 382772 w 1446028"/>
                <a:gd name="connsiteY0" fmla="*/ 0 h 2466754"/>
                <a:gd name="connsiteX1" fmla="*/ 1201479 w 1446028"/>
                <a:gd name="connsiteY1" fmla="*/ 446568 h 2466754"/>
                <a:gd name="connsiteX2" fmla="*/ 1424763 w 1446028"/>
                <a:gd name="connsiteY2" fmla="*/ 1063256 h 2466754"/>
                <a:gd name="connsiteX3" fmla="*/ 1446028 w 1446028"/>
                <a:gd name="connsiteY3" fmla="*/ 1509823 h 2466754"/>
                <a:gd name="connsiteX4" fmla="*/ 1095153 w 1446028"/>
                <a:gd name="connsiteY4" fmla="*/ 2137144 h 2466754"/>
                <a:gd name="connsiteX5" fmla="*/ 393405 w 1446028"/>
                <a:gd name="connsiteY5" fmla="*/ 2466754 h 2466754"/>
                <a:gd name="connsiteX6" fmla="*/ 0 w 1446028"/>
                <a:gd name="connsiteY6" fmla="*/ 2466754 h 2466754"/>
                <a:gd name="connsiteX0" fmla="*/ 382772 w 1446028"/>
                <a:gd name="connsiteY0" fmla="*/ 0 h 2466754"/>
                <a:gd name="connsiteX1" fmla="*/ 1201479 w 1446028"/>
                <a:gd name="connsiteY1" fmla="*/ 446568 h 2466754"/>
                <a:gd name="connsiteX2" fmla="*/ 1424763 w 1446028"/>
                <a:gd name="connsiteY2" fmla="*/ 1063256 h 2466754"/>
                <a:gd name="connsiteX3" fmla="*/ 1446028 w 1446028"/>
                <a:gd name="connsiteY3" fmla="*/ 1509823 h 2466754"/>
                <a:gd name="connsiteX4" fmla="*/ 1095153 w 1446028"/>
                <a:gd name="connsiteY4" fmla="*/ 2137144 h 2466754"/>
                <a:gd name="connsiteX5" fmla="*/ 0 w 1446028"/>
                <a:gd name="connsiteY5" fmla="*/ 2466754 h 2466754"/>
                <a:gd name="connsiteX0" fmla="*/ 382772 w 1446028"/>
                <a:gd name="connsiteY0" fmla="*/ 0 h 2472847"/>
                <a:gd name="connsiteX1" fmla="*/ 1201479 w 1446028"/>
                <a:gd name="connsiteY1" fmla="*/ 446568 h 2472847"/>
                <a:gd name="connsiteX2" fmla="*/ 1424763 w 1446028"/>
                <a:gd name="connsiteY2" fmla="*/ 1063256 h 2472847"/>
                <a:gd name="connsiteX3" fmla="*/ 1446028 w 1446028"/>
                <a:gd name="connsiteY3" fmla="*/ 1509823 h 2472847"/>
                <a:gd name="connsiteX4" fmla="*/ 1095153 w 1446028"/>
                <a:gd name="connsiteY4" fmla="*/ 2137144 h 2472847"/>
                <a:gd name="connsiteX5" fmla="*/ 0 w 1446028"/>
                <a:gd name="connsiteY5" fmla="*/ 2466754 h 2472847"/>
                <a:gd name="connsiteX0" fmla="*/ 382772 w 1446028"/>
                <a:gd name="connsiteY0" fmla="*/ 0 h 2473956"/>
                <a:gd name="connsiteX1" fmla="*/ 1201479 w 1446028"/>
                <a:gd name="connsiteY1" fmla="*/ 446568 h 2473956"/>
                <a:gd name="connsiteX2" fmla="*/ 1424763 w 1446028"/>
                <a:gd name="connsiteY2" fmla="*/ 1063256 h 2473956"/>
                <a:gd name="connsiteX3" fmla="*/ 1446028 w 1446028"/>
                <a:gd name="connsiteY3" fmla="*/ 1509823 h 2473956"/>
                <a:gd name="connsiteX4" fmla="*/ 1095153 w 1446028"/>
                <a:gd name="connsiteY4" fmla="*/ 2137144 h 2473956"/>
                <a:gd name="connsiteX5" fmla="*/ 0 w 1446028"/>
                <a:gd name="connsiteY5" fmla="*/ 2466754 h 2473956"/>
                <a:gd name="connsiteX0" fmla="*/ 382772 w 1446028"/>
                <a:gd name="connsiteY0" fmla="*/ 0 h 2473956"/>
                <a:gd name="connsiteX1" fmla="*/ 1201479 w 1446028"/>
                <a:gd name="connsiteY1" fmla="*/ 446568 h 2473956"/>
                <a:gd name="connsiteX2" fmla="*/ 1446028 w 1446028"/>
                <a:gd name="connsiteY2" fmla="*/ 1509823 h 2473956"/>
                <a:gd name="connsiteX3" fmla="*/ 1095153 w 1446028"/>
                <a:gd name="connsiteY3" fmla="*/ 2137144 h 2473956"/>
                <a:gd name="connsiteX4" fmla="*/ 0 w 1446028"/>
                <a:gd name="connsiteY4" fmla="*/ 2466754 h 2473956"/>
                <a:gd name="connsiteX0" fmla="*/ 382772 w 1448326"/>
                <a:gd name="connsiteY0" fmla="*/ 0 h 2473956"/>
                <a:gd name="connsiteX1" fmla="*/ 1201479 w 1448326"/>
                <a:gd name="connsiteY1" fmla="*/ 446568 h 2473956"/>
                <a:gd name="connsiteX2" fmla="*/ 1446028 w 1448326"/>
                <a:gd name="connsiteY2" fmla="*/ 1509823 h 2473956"/>
                <a:gd name="connsiteX3" fmla="*/ 1095153 w 1448326"/>
                <a:gd name="connsiteY3" fmla="*/ 2137144 h 2473956"/>
                <a:gd name="connsiteX4" fmla="*/ 0 w 1448326"/>
                <a:gd name="connsiteY4" fmla="*/ 2466754 h 2473956"/>
                <a:gd name="connsiteX0" fmla="*/ 382772 w 1448326"/>
                <a:gd name="connsiteY0" fmla="*/ 0 h 2473956"/>
                <a:gd name="connsiteX1" fmla="*/ 1201479 w 1448326"/>
                <a:gd name="connsiteY1" fmla="*/ 446568 h 2473956"/>
                <a:gd name="connsiteX2" fmla="*/ 1446028 w 1448326"/>
                <a:gd name="connsiteY2" fmla="*/ 1509823 h 2473956"/>
                <a:gd name="connsiteX3" fmla="*/ 1095153 w 1448326"/>
                <a:gd name="connsiteY3" fmla="*/ 2137144 h 2473956"/>
                <a:gd name="connsiteX4" fmla="*/ 0 w 1448326"/>
                <a:gd name="connsiteY4" fmla="*/ 2466754 h 2473956"/>
                <a:gd name="connsiteX0" fmla="*/ 382772 w 1448326"/>
                <a:gd name="connsiteY0" fmla="*/ 0 h 2473956"/>
                <a:gd name="connsiteX1" fmla="*/ 1201479 w 1448326"/>
                <a:gd name="connsiteY1" fmla="*/ 446568 h 2473956"/>
                <a:gd name="connsiteX2" fmla="*/ 1446028 w 1448326"/>
                <a:gd name="connsiteY2" fmla="*/ 1509823 h 2473956"/>
                <a:gd name="connsiteX3" fmla="*/ 1095153 w 1448326"/>
                <a:gd name="connsiteY3" fmla="*/ 2137144 h 2473956"/>
                <a:gd name="connsiteX4" fmla="*/ 0 w 1448326"/>
                <a:gd name="connsiteY4" fmla="*/ 2466754 h 2473956"/>
                <a:gd name="connsiteX0" fmla="*/ 382772 w 1454290"/>
                <a:gd name="connsiteY0" fmla="*/ 0 h 2473956"/>
                <a:gd name="connsiteX1" fmla="*/ 1201479 w 1454290"/>
                <a:gd name="connsiteY1" fmla="*/ 446568 h 2473956"/>
                <a:gd name="connsiteX2" fmla="*/ 1446028 w 1454290"/>
                <a:gd name="connsiteY2" fmla="*/ 1509823 h 2473956"/>
                <a:gd name="connsiteX3" fmla="*/ 1095153 w 1454290"/>
                <a:gd name="connsiteY3" fmla="*/ 2137144 h 2473956"/>
                <a:gd name="connsiteX4" fmla="*/ 0 w 1454290"/>
                <a:gd name="connsiteY4" fmla="*/ 2466754 h 2473956"/>
                <a:gd name="connsiteX0" fmla="*/ 382772 w 1425483"/>
                <a:gd name="connsiteY0" fmla="*/ 0 h 2473699"/>
                <a:gd name="connsiteX1" fmla="*/ 1201479 w 1425483"/>
                <a:gd name="connsiteY1" fmla="*/ 446568 h 2473699"/>
                <a:gd name="connsiteX2" fmla="*/ 1415598 w 1425483"/>
                <a:gd name="connsiteY2" fmla="*/ 1570684 h 2473699"/>
                <a:gd name="connsiteX3" fmla="*/ 1095153 w 1425483"/>
                <a:gd name="connsiteY3" fmla="*/ 2137144 h 2473699"/>
                <a:gd name="connsiteX4" fmla="*/ 0 w 1425483"/>
                <a:gd name="connsiteY4" fmla="*/ 2466754 h 2473699"/>
                <a:gd name="connsiteX0" fmla="*/ 382772 w 1445911"/>
                <a:gd name="connsiteY0" fmla="*/ 0 h 2473699"/>
                <a:gd name="connsiteX1" fmla="*/ 1201479 w 1445911"/>
                <a:gd name="connsiteY1" fmla="*/ 446568 h 2473699"/>
                <a:gd name="connsiteX2" fmla="*/ 1415598 w 1445911"/>
                <a:gd name="connsiteY2" fmla="*/ 1570684 h 2473699"/>
                <a:gd name="connsiteX3" fmla="*/ 1095153 w 1445911"/>
                <a:gd name="connsiteY3" fmla="*/ 2137144 h 2473699"/>
                <a:gd name="connsiteX4" fmla="*/ 0 w 1445911"/>
                <a:gd name="connsiteY4" fmla="*/ 2466754 h 2473699"/>
                <a:gd name="connsiteX0" fmla="*/ 382772 w 1418809"/>
                <a:gd name="connsiteY0" fmla="*/ 0 h 2471055"/>
                <a:gd name="connsiteX1" fmla="*/ 1201479 w 1418809"/>
                <a:gd name="connsiteY1" fmla="*/ 446568 h 2471055"/>
                <a:gd name="connsiteX2" fmla="*/ 1415598 w 1418809"/>
                <a:gd name="connsiteY2" fmla="*/ 1570684 h 2471055"/>
                <a:gd name="connsiteX3" fmla="*/ 1216875 w 1418809"/>
                <a:gd name="connsiteY3" fmla="*/ 1969775 h 2471055"/>
                <a:gd name="connsiteX4" fmla="*/ 0 w 1418809"/>
                <a:gd name="connsiteY4" fmla="*/ 2466754 h 2471055"/>
                <a:gd name="connsiteX0" fmla="*/ 382772 w 1439556"/>
                <a:gd name="connsiteY0" fmla="*/ 0 h 2471796"/>
                <a:gd name="connsiteX1" fmla="*/ 1201479 w 1439556"/>
                <a:gd name="connsiteY1" fmla="*/ 446568 h 2471796"/>
                <a:gd name="connsiteX2" fmla="*/ 1438421 w 1439556"/>
                <a:gd name="connsiteY2" fmla="*/ 1175087 h 2471796"/>
                <a:gd name="connsiteX3" fmla="*/ 1216875 w 1439556"/>
                <a:gd name="connsiteY3" fmla="*/ 1969775 h 2471796"/>
                <a:gd name="connsiteX4" fmla="*/ 0 w 1439556"/>
                <a:gd name="connsiteY4" fmla="*/ 2466754 h 2471796"/>
                <a:gd name="connsiteX0" fmla="*/ 382772 w 1338678"/>
                <a:gd name="connsiteY0" fmla="*/ 0 h 2471796"/>
                <a:gd name="connsiteX1" fmla="*/ 1201479 w 1338678"/>
                <a:gd name="connsiteY1" fmla="*/ 446568 h 2471796"/>
                <a:gd name="connsiteX2" fmla="*/ 1216875 w 1338678"/>
                <a:gd name="connsiteY2" fmla="*/ 1969775 h 2471796"/>
                <a:gd name="connsiteX3" fmla="*/ 0 w 1338678"/>
                <a:gd name="connsiteY3" fmla="*/ 2466754 h 2471796"/>
                <a:gd name="connsiteX0" fmla="*/ 382772 w 1419988"/>
                <a:gd name="connsiteY0" fmla="*/ 0 h 2472845"/>
                <a:gd name="connsiteX1" fmla="*/ 1338417 w 1419988"/>
                <a:gd name="connsiteY1" fmla="*/ 773696 h 2472845"/>
                <a:gd name="connsiteX2" fmla="*/ 1216875 w 1419988"/>
                <a:gd name="connsiteY2" fmla="*/ 1969775 h 2472845"/>
                <a:gd name="connsiteX3" fmla="*/ 0 w 1419988"/>
                <a:gd name="connsiteY3" fmla="*/ 2466754 h 2472845"/>
                <a:gd name="connsiteX0" fmla="*/ 382772 w 1419988"/>
                <a:gd name="connsiteY0" fmla="*/ 0 h 2472845"/>
                <a:gd name="connsiteX1" fmla="*/ 1338417 w 1419988"/>
                <a:gd name="connsiteY1" fmla="*/ 773696 h 2472845"/>
                <a:gd name="connsiteX2" fmla="*/ 1216875 w 1419988"/>
                <a:gd name="connsiteY2" fmla="*/ 1969775 h 2472845"/>
                <a:gd name="connsiteX3" fmla="*/ 0 w 1419988"/>
                <a:gd name="connsiteY3" fmla="*/ 2466754 h 2472845"/>
                <a:gd name="connsiteX0" fmla="*/ 382772 w 1426560"/>
                <a:gd name="connsiteY0" fmla="*/ 0 h 2474224"/>
                <a:gd name="connsiteX1" fmla="*/ 1338417 w 1426560"/>
                <a:gd name="connsiteY1" fmla="*/ 773696 h 2474224"/>
                <a:gd name="connsiteX2" fmla="*/ 1216875 w 1426560"/>
                <a:gd name="connsiteY2" fmla="*/ 1969775 h 2474224"/>
                <a:gd name="connsiteX3" fmla="*/ 0 w 1426560"/>
                <a:gd name="connsiteY3" fmla="*/ 2466754 h 2474224"/>
                <a:gd name="connsiteX0" fmla="*/ 382772 w 1426560"/>
                <a:gd name="connsiteY0" fmla="*/ 0 h 2482592"/>
                <a:gd name="connsiteX1" fmla="*/ 1338417 w 1426560"/>
                <a:gd name="connsiteY1" fmla="*/ 773696 h 2482592"/>
                <a:gd name="connsiteX2" fmla="*/ 1216875 w 1426560"/>
                <a:gd name="connsiteY2" fmla="*/ 1969775 h 2482592"/>
                <a:gd name="connsiteX3" fmla="*/ 0 w 1426560"/>
                <a:gd name="connsiteY3" fmla="*/ 2466754 h 248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26560" h="2482592">
                  <a:moveTo>
                    <a:pt x="382772" y="0"/>
                  </a:moveTo>
                  <a:cubicBezTo>
                    <a:pt x="899118" y="87994"/>
                    <a:pt x="1199400" y="445400"/>
                    <a:pt x="1338417" y="773696"/>
                  </a:cubicBezTo>
                  <a:cubicBezTo>
                    <a:pt x="1477434" y="1101992"/>
                    <a:pt x="1462767" y="1626737"/>
                    <a:pt x="1216875" y="1969775"/>
                  </a:cubicBezTo>
                  <a:cubicBezTo>
                    <a:pt x="970983" y="2312813"/>
                    <a:pt x="547634" y="2547074"/>
                    <a:pt x="0" y="2466754"/>
                  </a:cubicBezTo>
                </a:path>
              </a:pathLst>
            </a:custGeom>
            <a:noFill/>
            <a:ln w="571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IE" b="1">
                <a:latin typeface="Arial" charset="0"/>
              </a:endParaRP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102941E-A8AA-03C1-CBCB-0A151B111F7A}"/>
                </a:ext>
              </a:extLst>
            </p:cNvPr>
            <p:cNvCxnSpPr/>
            <p:nvPr/>
          </p:nvCxnSpPr>
          <p:spPr bwMode="auto">
            <a:xfrm>
              <a:off x="5308541" y="4716565"/>
              <a:ext cx="905756" cy="665995"/>
            </a:xfrm>
            <a:prstGeom prst="line">
              <a:avLst/>
            </a:prstGeom>
            <a:solidFill>
              <a:schemeClr val="accent1"/>
            </a:solidFill>
            <a:ln w="762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3EBE6B7-FA8B-04D3-3621-6322DA94FE02}"/>
                </a:ext>
              </a:extLst>
            </p:cNvPr>
            <p:cNvSpPr txBox="1"/>
            <p:nvPr/>
          </p:nvSpPr>
          <p:spPr>
            <a:xfrm>
              <a:off x="1160550" y="1201480"/>
              <a:ext cx="2172899" cy="11884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/>
                <a:t>Ciliary muscle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6D8DFA-CC0D-04E9-D4EE-A286C8493C65}"/>
                </a:ext>
              </a:extLst>
            </p:cNvPr>
            <p:cNvSpPr txBox="1"/>
            <p:nvPr/>
          </p:nvSpPr>
          <p:spPr>
            <a:xfrm>
              <a:off x="1068811" y="5007192"/>
              <a:ext cx="824909" cy="6602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400"/>
                <a:t>Iris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BEF8DA-A237-3F2B-1784-5521BED37B1F}"/>
                </a:ext>
              </a:extLst>
            </p:cNvPr>
            <p:cNvSpPr txBox="1"/>
            <p:nvPr/>
          </p:nvSpPr>
          <p:spPr>
            <a:xfrm>
              <a:off x="2782255" y="3269388"/>
              <a:ext cx="1579055" cy="66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/>
                <a:t>Lens</a:t>
              </a: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2C72F7F1-11C9-58F4-A45D-647CF7F1E942}"/>
                </a:ext>
              </a:extLst>
            </p:cNvPr>
            <p:cNvCxnSpPr>
              <a:endCxn id="29" idx="1"/>
            </p:cNvCxnSpPr>
            <p:nvPr/>
          </p:nvCxnSpPr>
          <p:spPr bwMode="auto">
            <a:xfrm flipV="1">
              <a:off x="1638201" y="4322799"/>
              <a:ext cx="505222" cy="695685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A049E54-A08E-344D-1D81-28ED1E3C02BF}"/>
                </a:ext>
              </a:extLst>
            </p:cNvPr>
            <p:cNvCxnSpPr/>
            <p:nvPr/>
          </p:nvCxnSpPr>
          <p:spPr bwMode="auto">
            <a:xfrm flipH="1">
              <a:off x="2357417" y="3578699"/>
              <a:ext cx="554228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9CE47FE-9EBF-AEC2-6C99-F7D07302F451}"/>
                </a:ext>
              </a:extLst>
            </p:cNvPr>
            <p:cNvCxnSpPr/>
            <p:nvPr/>
          </p:nvCxnSpPr>
          <p:spPr bwMode="auto">
            <a:xfrm flipH="1">
              <a:off x="2361670" y="2327031"/>
              <a:ext cx="187541" cy="696632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C5E8F90-8FFE-7D22-BBB5-C6C4E3CB23A3}"/>
                </a:ext>
              </a:extLst>
            </p:cNvPr>
            <p:cNvSpPr txBox="1"/>
            <p:nvPr/>
          </p:nvSpPr>
          <p:spPr>
            <a:xfrm>
              <a:off x="3234223" y="4091968"/>
              <a:ext cx="1732594" cy="66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/>
                <a:t>Retina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6A6EC6C-A715-6F08-16DE-0EAFF6B4D06F}"/>
                </a:ext>
              </a:extLst>
            </p:cNvPr>
            <p:cNvCxnSpPr/>
            <p:nvPr/>
          </p:nvCxnSpPr>
          <p:spPr bwMode="auto">
            <a:xfrm>
              <a:off x="4919347" y="4354904"/>
              <a:ext cx="590473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D3EB5A-D67A-FDCB-67C0-FA1C5838F81B}"/>
                </a:ext>
              </a:extLst>
            </p:cNvPr>
            <p:cNvSpPr txBox="1"/>
            <p:nvPr/>
          </p:nvSpPr>
          <p:spPr>
            <a:xfrm>
              <a:off x="70381" y="2479271"/>
              <a:ext cx="1991758" cy="6602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2400"/>
                <a:t>Cornea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4EF2982-9816-9575-9786-E9BB56966C7A}"/>
                </a:ext>
              </a:extLst>
            </p:cNvPr>
            <p:cNvCxnSpPr/>
            <p:nvPr/>
          </p:nvCxnSpPr>
          <p:spPr bwMode="auto">
            <a:xfrm>
              <a:off x="1179120" y="3084037"/>
              <a:ext cx="509171" cy="27889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C15805-D125-A5A9-EAFA-0104D3E3F774}"/>
                </a:ext>
              </a:extLst>
            </p:cNvPr>
            <p:cNvSpPr txBox="1"/>
            <p:nvPr/>
          </p:nvSpPr>
          <p:spPr>
            <a:xfrm>
              <a:off x="3535021" y="5543968"/>
              <a:ext cx="2402228" cy="6602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E" sz="2400"/>
                <a:t>Optic nerve</a:t>
              </a:r>
            </a:p>
          </p:txBody>
        </p: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A30C934-5346-0297-DD2A-20ACF6AF9FFE}"/>
                </a:ext>
              </a:extLst>
            </p:cNvPr>
            <p:cNvCxnSpPr/>
            <p:nvPr/>
          </p:nvCxnSpPr>
          <p:spPr bwMode="auto">
            <a:xfrm flipV="1">
              <a:off x="5214584" y="5283019"/>
              <a:ext cx="546836" cy="423659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603056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C4FBEAFA-621B-3881-8550-EB1A7B4EEE47}"/>
              </a:ext>
            </a:extLst>
          </p:cNvPr>
          <p:cNvGrpSpPr/>
          <p:nvPr/>
        </p:nvGrpSpPr>
        <p:grpSpPr>
          <a:xfrm>
            <a:off x="2063552" y="867228"/>
            <a:ext cx="3645024" cy="4865391"/>
            <a:chOff x="539552" y="867227"/>
            <a:chExt cx="3645024" cy="4865391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0EB00F14-4FE5-D4E4-7AED-3D499AF81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872586"/>
              <a:ext cx="3645024" cy="48600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hlinkClick r:id="rId3"/>
              <a:extLst>
                <a:ext uri="{FF2B5EF4-FFF2-40B4-BE49-F238E27FC236}">
                  <a16:creationId xmlns:a16="http://schemas.microsoft.com/office/drawing/2014/main" id="{9727F14F-1A8E-3392-DE2A-8F0765A4256E}"/>
                </a:ext>
              </a:extLst>
            </p:cNvPr>
            <p:cNvSpPr txBox="1"/>
            <p:nvPr/>
          </p:nvSpPr>
          <p:spPr>
            <a:xfrm>
              <a:off x="3641582" y="867227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CC0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833893-F21B-48E2-5F3A-A4DFC69E8090}"/>
              </a:ext>
            </a:extLst>
          </p:cNvPr>
          <p:cNvGrpSpPr/>
          <p:nvPr/>
        </p:nvGrpSpPr>
        <p:grpSpPr>
          <a:xfrm>
            <a:off x="6384032" y="872586"/>
            <a:ext cx="3645024" cy="4860031"/>
            <a:chOff x="4860032" y="872585"/>
            <a:chExt cx="3645024" cy="486003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C9E565A-2717-9E7D-808D-8C98E2DD4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60032" y="872585"/>
              <a:ext cx="3645024" cy="4860031"/>
            </a:xfrm>
            <a:prstGeom prst="rect">
              <a:avLst/>
            </a:prstGeom>
          </p:spPr>
        </p:pic>
        <p:sp>
          <p:nvSpPr>
            <p:cNvPr id="13" name="TextBox 12">
              <a:hlinkClick r:id="rId3"/>
              <a:extLst>
                <a:ext uri="{FF2B5EF4-FFF2-40B4-BE49-F238E27FC236}">
                  <a16:creationId xmlns:a16="http://schemas.microsoft.com/office/drawing/2014/main" id="{236C347F-C9FD-8C80-8661-8994E02FB0CB}"/>
                </a:ext>
              </a:extLst>
            </p:cNvPr>
            <p:cNvSpPr txBox="1"/>
            <p:nvPr/>
          </p:nvSpPr>
          <p:spPr>
            <a:xfrm>
              <a:off x="8014216" y="872585"/>
              <a:ext cx="4908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200" dirty="0"/>
                <a:t>CC0</a:t>
              </a:r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EC3DD878-18CE-B1B9-83DF-E2325829F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Long sighted              Short sighted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9B0BAB7-194C-245A-66A0-467C983F1138}"/>
              </a:ext>
            </a:extLst>
          </p:cNvPr>
          <p:cNvGrpSpPr/>
          <p:nvPr/>
        </p:nvGrpSpPr>
        <p:grpSpPr>
          <a:xfrm>
            <a:off x="6239450" y="3313037"/>
            <a:ext cx="4143953" cy="3448531"/>
            <a:chOff x="4715449" y="3313036"/>
            <a:chExt cx="4143953" cy="344853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FF5A2B5-B1B2-319E-7E66-D5A3084A0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15449" y="3313036"/>
              <a:ext cx="4143953" cy="3448531"/>
            </a:xfrm>
            <a:prstGeom prst="rect">
              <a:avLst/>
            </a:prstGeom>
          </p:spPr>
        </p:pic>
        <p:sp>
          <p:nvSpPr>
            <p:cNvPr id="8" name="TextBox 7">
              <a:hlinkClick r:id="rId6"/>
              <a:extLst>
                <a:ext uri="{FF2B5EF4-FFF2-40B4-BE49-F238E27FC236}">
                  <a16:creationId xmlns:a16="http://schemas.microsoft.com/office/drawing/2014/main" id="{A8D74A52-B42D-04F5-CA84-19AE27BCC950}"/>
                </a:ext>
              </a:extLst>
            </p:cNvPr>
            <p:cNvSpPr txBox="1"/>
            <p:nvPr/>
          </p:nvSpPr>
          <p:spPr>
            <a:xfrm>
              <a:off x="7398176" y="6499957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100" dirty="0"/>
                <a:t>CC0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16293D-77B7-13F0-24AF-686B56E37881}"/>
              </a:ext>
            </a:extLst>
          </p:cNvPr>
          <p:cNvGrpSpPr/>
          <p:nvPr/>
        </p:nvGrpSpPr>
        <p:grpSpPr>
          <a:xfrm>
            <a:off x="1843796" y="3292838"/>
            <a:ext cx="4143953" cy="3448531"/>
            <a:chOff x="319795" y="3292837"/>
            <a:chExt cx="4143953" cy="344853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1B5C3E2-43DE-AD19-2E61-F49573BB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19795" y="3292837"/>
              <a:ext cx="4143953" cy="3448531"/>
            </a:xfrm>
            <a:prstGeom prst="rect">
              <a:avLst/>
            </a:prstGeom>
          </p:spPr>
        </p:pic>
        <p:sp>
          <p:nvSpPr>
            <p:cNvPr id="9" name="TextBox 8">
              <a:hlinkClick r:id="rId6"/>
              <a:extLst>
                <a:ext uri="{FF2B5EF4-FFF2-40B4-BE49-F238E27FC236}">
                  <a16:creationId xmlns:a16="http://schemas.microsoft.com/office/drawing/2014/main" id="{5EE5855A-8107-13A0-91C1-2B1520CDB7B4}"/>
                </a:ext>
              </a:extLst>
            </p:cNvPr>
            <p:cNvSpPr txBox="1"/>
            <p:nvPr/>
          </p:nvSpPr>
          <p:spPr>
            <a:xfrm>
              <a:off x="3887002" y="6369152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100" dirty="0"/>
                <a:t>CC0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8791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Text Box 5">
            <a:extLst>
              <a:ext uri="{FF2B5EF4-FFF2-40B4-BE49-F238E27FC236}">
                <a16:creationId xmlns:a16="http://schemas.microsoft.com/office/drawing/2014/main" id="{BFA95052-0C12-B89A-4869-A0B1BDB3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3284" y="1151950"/>
            <a:ext cx="8424862" cy="860425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GB" altLang="en-US" sz="2800" dirty="0"/>
              <a:t>A Short-Sighted </a:t>
            </a:r>
            <a:r>
              <a:rPr lang="en-GB" altLang="en-US" sz="2800" b="0" dirty="0"/>
              <a:t>person can focus on nearby objects but not distant objects.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0459C1D-17E2-F63E-7E63-68EB16CA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155247"/>
            <a:ext cx="8724900" cy="594137"/>
          </a:xfrm>
        </p:spPr>
        <p:txBody>
          <a:bodyPr>
            <a:normAutofit fontScale="90000"/>
          </a:bodyPr>
          <a:lstStyle/>
          <a:p>
            <a:r>
              <a:rPr lang="en-IE" altLang="en-US" dirty="0"/>
              <a:t>What does short sighted mean?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8F46C-C97F-CC99-A2FE-37C935E280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62" b="9660"/>
          <a:stretch/>
        </p:blipFill>
        <p:spPr>
          <a:xfrm>
            <a:off x="6888089" y="2780928"/>
            <a:ext cx="3431605" cy="3586157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30F7FA5-99D3-256B-2DC0-AFC09BA8C076}"/>
              </a:ext>
            </a:extLst>
          </p:cNvPr>
          <p:cNvSpPr/>
          <p:nvPr/>
        </p:nvSpPr>
        <p:spPr bwMode="auto">
          <a:xfrm>
            <a:off x="4007768" y="2323425"/>
            <a:ext cx="531628" cy="457200"/>
          </a:xfrm>
          <a:custGeom>
            <a:avLst/>
            <a:gdLst>
              <a:gd name="connsiteX0" fmla="*/ 63795 w 531628"/>
              <a:gd name="connsiteY0" fmla="*/ 212651 h 457200"/>
              <a:gd name="connsiteX1" fmla="*/ 0 w 531628"/>
              <a:gd name="connsiteY1" fmla="*/ 318976 h 457200"/>
              <a:gd name="connsiteX2" fmla="*/ 255181 w 531628"/>
              <a:gd name="connsiteY2" fmla="*/ 457200 h 457200"/>
              <a:gd name="connsiteX3" fmla="*/ 531628 w 531628"/>
              <a:gd name="connsiteY3" fmla="*/ 21265 h 457200"/>
              <a:gd name="connsiteX4" fmla="*/ 414670 w 531628"/>
              <a:gd name="connsiteY4" fmla="*/ 0 h 457200"/>
              <a:gd name="connsiteX5" fmla="*/ 244549 w 531628"/>
              <a:gd name="connsiteY5" fmla="*/ 318976 h 457200"/>
              <a:gd name="connsiteX6" fmla="*/ 63795 w 531628"/>
              <a:gd name="connsiteY6" fmla="*/ 212651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1628" h="457200">
                <a:moveTo>
                  <a:pt x="63795" y="212651"/>
                </a:moveTo>
                <a:lnTo>
                  <a:pt x="0" y="318976"/>
                </a:lnTo>
                <a:lnTo>
                  <a:pt x="255181" y="457200"/>
                </a:lnTo>
                <a:lnTo>
                  <a:pt x="531628" y="21265"/>
                </a:lnTo>
                <a:lnTo>
                  <a:pt x="414670" y="0"/>
                </a:lnTo>
                <a:lnTo>
                  <a:pt x="244549" y="318976"/>
                </a:lnTo>
                <a:lnTo>
                  <a:pt x="63795" y="212651"/>
                </a:lnTo>
                <a:close/>
              </a:path>
            </a:pathLst>
          </a:cu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572FB16-EFD7-89A4-3F71-3E7123EEA3D2}"/>
              </a:ext>
            </a:extLst>
          </p:cNvPr>
          <p:cNvGrpSpPr/>
          <p:nvPr/>
        </p:nvGrpSpPr>
        <p:grpSpPr>
          <a:xfrm>
            <a:off x="2129147" y="2744925"/>
            <a:ext cx="3970895" cy="3304515"/>
            <a:chOff x="605146" y="2744924"/>
            <a:chExt cx="3970895" cy="330451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DA58769-3308-4371-B62A-0D699CA50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146" y="2744924"/>
              <a:ext cx="3970895" cy="3304515"/>
            </a:xfrm>
            <a:prstGeom prst="rect">
              <a:avLst/>
            </a:prstGeom>
          </p:spPr>
        </p:pic>
        <p:sp>
          <p:nvSpPr>
            <p:cNvPr id="6" name="TextBox 5">
              <a:hlinkClick r:id="rId4"/>
              <a:extLst>
                <a:ext uri="{FF2B5EF4-FFF2-40B4-BE49-F238E27FC236}">
                  <a16:creationId xmlns:a16="http://schemas.microsoft.com/office/drawing/2014/main" id="{8DA11032-998F-5356-C4A3-74415DF1F645}"/>
                </a:ext>
              </a:extLst>
            </p:cNvPr>
            <p:cNvSpPr txBox="1"/>
            <p:nvPr/>
          </p:nvSpPr>
          <p:spPr>
            <a:xfrm>
              <a:off x="3196290" y="5787829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100" dirty="0"/>
                <a:t>CC0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3" grpId="0" animBg="1"/>
      <p:bldP spid="32773" grpId="1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Text Box 5">
            <a:extLst>
              <a:ext uri="{FF2B5EF4-FFF2-40B4-BE49-F238E27FC236}">
                <a16:creationId xmlns:a16="http://schemas.microsoft.com/office/drawing/2014/main" id="{FE3CC076-9A5A-9DCB-6289-AC9DBFD4C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057" y="1638946"/>
            <a:ext cx="8497887" cy="86793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GB" altLang="en-US" sz="2800" dirty="0"/>
              <a:t>Short-Sight</a:t>
            </a:r>
            <a:r>
              <a:rPr lang="en-GB" altLang="en-US" sz="2800" b="0" dirty="0"/>
              <a:t> can be corrected with a </a:t>
            </a:r>
            <a:r>
              <a:rPr lang="en-GB" altLang="en-US" sz="2800" dirty="0"/>
              <a:t>Diverging Lens</a:t>
            </a:r>
            <a:r>
              <a:rPr lang="en-GB" altLang="en-US" sz="2400" b="0" dirty="0"/>
              <a:t> (concave)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4EEE9B-AB1B-4370-8384-2927DDDB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155576"/>
            <a:ext cx="8724900" cy="978729"/>
          </a:xfrm>
        </p:spPr>
        <p:txBody>
          <a:bodyPr/>
          <a:lstStyle/>
          <a:p>
            <a:r>
              <a:rPr lang="en-IE" altLang="en-US" sz="3200" dirty="0"/>
              <a:t>What kind of lens can correct short-sightedness?</a:t>
            </a:r>
            <a:endParaRPr lang="en-GB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13D67-7903-CBB5-655C-0E32DAC9D0C8}"/>
              </a:ext>
            </a:extLst>
          </p:cNvPr>
          <p:cNvSpPr txBox="1"/>
          <p:nvPr/>
        </p:nvSpPr>
        <p:spPr>
          <a:xfrm>
            <a:off x="2115533" y="4839975"/>
            <a:ext cx="3046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Cannot focus on distant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9428EE-0D03-EC49-3BEA-D823F38C784C}"/>
              </a:ext>
            </a:extLst>
          </p:cNvPr>
          <p:cNvSpPr txBox="1"/>
          <p:nvPr/>
        </p:nvSpPr>
        <p:spPr>
          <a:xfrm>
            <a:off x="7072573" y="4893739"/>
            <a:ext cx="35731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A concave lens allows you to focus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8C94AD2-47BE-E1B6-53CA-FCDBBD5F9924}"/>
              </a:ext>
            </a:extLst>
          </p:cNvPr>
          <p:cNvSpPr/>
          <p:nvPr/>
        </p:nvSpPr>
        <p:spPr>
          <a:xfrm>
            <a:off x="5728356" y="3654699"/>
            <a:ext cx="901498" cy="6472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820F803-E8F0-E6A6-8C25-8907A28A54F5}"/>
              </a:ext>
            </a:extLst>
          </p:cNvPr>
          <p:cNvGrpSpPr/>
          <p:nvPr/>
        </p:nvGrpSpPr>
        <p:grpSpPr>
          <a:xfrm>
            <a:off x="6762963" y="2950288"/>
            <a:ext cx="3843886" cy="1861320"/>
            <a:chOff x="323528" y="2189411"/>
            <a:chExt cx="6349423" cy="257926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50421B5-D407-0A79-BF5E-588595BA69A7}"/>
                </a:ext>
              </a:extLst>
            </p:cNvPr>
            <p:cNvGrpSpPr/>
            <p:nvPr/>
          </p:nvGrpSpPr>
          <p:grpSpPr>
            <a:xfrm>
              <a:off x="323528" y="2189411"/>
              <a:ext cx="6349423" cy="2579262"/>
              <a:chOff x="-2654777" y="1757462"/>
              <a:chExt cx="9119952" cy="3688619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8E6F4EA0-0EAF-3992-B78C-F6B8051A260F}"/>
                  </a:ext>
                </a:extLst>
              </p:cNvPr>
              <p:cNvSpPr/>
              <p:nvPr/>
            </p:nvSpPr>
            <p:spPr bwMode="auto">
              <a:xfrm>
                <a:off x="-2654777" y="1757462"/>
                <a:ext cx="9119952" cy="3688619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D9A617F8-CF67-DA14-28E0-0BBC0F167795}"/>
                  </a:ext>
                </a:extLst>
              </p:cNvPr>
              <p:cNvSpPr/>
              <p:nvPr/>
            </p:nvSpPr>
            <p:spPr bwMode="auto">
              <a:xfrm>
                <a:off x="1638201" y="2905053"/>
                <a:ext cx="1273444" cy="155640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FB79E00-7CC2-D02F-437A-06F080F7E321}"/>
                  </a:ext>
                </a:extLst>
              </p:cNvPr>
              <p:cNvSpPr/>
              <p:nvPr/>
            </p:nvSpPr>
            <p:spPr bwMode="auto">
              <a:xfrm>
                <a:off x="2167684" y="1920221"/>
                <a:ext cx="2891346" cy="3479257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AA2FBE9-609D-21C2-86B6-8DD0173F10EA}"/>
                  </a:ext>
                </a:extLst>
              </p:cNvPr>
              <p:cNvSpPr/>
              <p:nvPr/>
            </p:nvSpPr>
            <p:spPr bwMode="auto">
              <a:xfrm>
                <a:off x="2167684" y="2905053"/>
                <a:ext cx="301919" cy="1509593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439BC4B-C322-CF98-D36B-7BA86448D4A0}"/>
                  </a:ext>
                </a:extLst>
              </p:cNvPr>
              <p:cNvSpPr/>
              <p:nvPr/>
            </p:nvSpPr>
            <p:spPr bwMode="auto">
              <a:xfrm>
                <a:off x="2176462" y="2905053"/>
                <a:ext cx="275671" cy="1409544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E1F8B60-D382-E4CE-7768-16D048209011}"/>
                  </a:ext>
                </a:extLst>
              </p:cNvPr>
              <p:cNvCxnSpPr/>
              <p:nvPr/>
            </p:nvCxnSpPr>
            <p:spPr bwMode="auto">
              <a:xfrm>
                <a:off x="5059030" y="3683252"/>
                <a:ext cx="0" cy="509524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8F51367-7EE8-F491-B087-6A333522DEBE}"/>
                  </a:ext>
                </a:extLst>
              </p:cNvPr>
              <p:cNvCxnSpPr/>
              <p:nvPr/>
            </p:nvCxnSpPr>
            <p:spPr bwMode="auto">
              <a:xfrm flipV="1">
                <a:off x="-1731243" y="2880698"/>
                <a:ext cx="0" cy="779152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FD6BE67-7D6A-7E75-61A5-DEEF2F6DE5D1}"/>
                </a:ext>
              </a:extLst>
            </p:cNvPr>
            <p:cNvCxnSpPr>
              <a:cxnSpLocks/>
              <a:endCxn id="15" idx="6"/>
            </p:cNvCxnSpPr>
            <p:nvPr/>
          </p:nvCxnSpPr>
          <p:spPr>
            <a:xfrm>
              <a:off x="480264" y="3503287"/>
              <a:ext cx="5213712" cy="16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8B6CB18-4F80-A901-8EDB-54AAEA67D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320" y="2981962"/>
              <a:ext cx="2102800" cy="2368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39F55B8-CD75-47E1-1A88-A58D7BEC3D1B}"/>
                </a:ext>
              </a:extLst>
            </p:cNvPr>
            <p:cNvCxnSpPr>
              <a:cxnSpLocks/>
            </p:cNvCxnSpPr>
            <p:nvPr/>
          </p:nvCxnSpPr>
          <p:spPr>
            <a:xfrm>
              <a:off x="3774084" y="2959132"/>
              <a:ext cx="1919892" cy="8975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937A401-91DE-1D24-C2BA-CA267670C27D}"/>
                </a:ext>
              </a:extLst>
            </p:cNvPr>
            <p:cNvCxnSpPr>
              <a:cxnSpLocks/>
            </p:cNvCxnSpPr>
            <p:nvPr/>
          </p:nvCxnSpPr>
          <p:spPr>
            <a:xfrm>
              <a:off x="984320" y="3014692"/>
              <a:ext cx="4709656" cy="8550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5311998-9C09-434D-EE0D-B8D434E85C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5761" y="2943235"/>
              <a:ext cx="668323" cy="5509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B3462F9-EBA9-F88A-E314-834B6F8A0EDA}"/>
              </a:ext>
            </a:extLst>
          </p:cNvPr>
          <p:cNvGrpSpPr/>
          <p:nvPr/>
        </p:nvGrpSpPr>
        <p:grpSpPr>
          <a:xfrm>
            <a:off x="1717423" y="2966577"/>
            <a:ext cx="3931348" cy="1795637"/>
            <a:chOff x="323528" y="2189411"/>
            <a:chExt cx="6349423" cy="257926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FC1C0A3-BBAC-2788-404F-89FDB0BB6F84}"/>
                </a:ext>
              </a:extLst>
            </p:cNvPr>
            <p:cNvGrpSpPr/>
            <p:nvPr/>
          </p:nvGrpSpPr>
          <p:grpSpPr>
            <a:xfrm>
              <a:off x="323528" y="2189411"/>
              <a:ext cx="6349423" cy="2579262"/>
              <a:chOff x="-2654777" y="1757462"/>
              <a:chExt cx="9119952" cy="3688619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FCC42331-D76E-4936-F457-A6AE86EAE3A0}"/>
                  </a:ext>
                </a:extLst>
              </p:cNvPr>
              <p:cNvSpPr/>
              <p:nvPr/>
            </p:nvSpPr>
            <p:spPr bwMode="auto">
              <a:xfrm>
                <a:off x="-2654777" y="1757462"/>
                <a:ext cx="9119952" cy="3688619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8DA664D-1AA9-E6A2-6A76-5C194A7583E1}"/>
                  </a:ext>
                </a:extLst>
              </p:cNvPr>
              <p:cNvSpPr/>
              <p:nvPr/>
            </p:nvSpPr>
            <p:spPr bwMode="auto">
              <a:xfrm>
                <a:off x="1638201" y="2905053"/>
                <a:ext cx="1273444" cy="155640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D1C50451-676F-6ADF-E4AE-000CEA740168}"/>
                  </a:ext>
                </a:extLst>
              </p:cNvPr>
              <p:cNvSpPr/>
              <p:nvPr/>
            </p:nvSpPr>
            <p:spPr bwMode="auto">
              <a:xfrm>
                <a:off x="2167684" y="1920221"/>
                <a:ext cx="2891346" cy="3479257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 dirty="0">
                  <a:latin typeface="Arial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7B264A5-DD4A-BA51-B43E-D622F6526F74}"/>
                  </a:ext>
                </a:extLst>
              </p:cNvPr>
              <p:cNvSpPr/>
              <p:nvPr/>
            </p:nvSpPr>
            <p:spPr bwMode="auto">
              <a:xfrm>
                <a:off x="2167684" y="2905053"/>
                <a:ext cx="301919" cy="1509593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CCC8003A-13EE-9E55-5405-1DBD6AB259D5}"/>
                  </a:ext>
                </a:extLst>
              </p:cNvPr>
              <p:cNvSpPr/>
              <p:nvPr/>
            </p:nvSpPr>
            <p:spPr bwMode="auto">
              <a:xfrm>
                <a:off x="2176462" y="2905053"/>
                <a:ext cx="275671" cy="1409544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526D774-8DD0-A781-5418-D1C41FBF6492}"/>
                  </a:ext>
                </a:extLst>
              </p:cNvPr>
              <p:cNvCxnSpPr/>
              <p:nvPr/>
            </p:nvCxnSpPr>
            <p:spPr bwMode="auto">
              <a:xfrm flipH="1">
                <a:off x="4625251" y="3601770"/>
                <a:ext cx="17211" cy="469038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1755460F-AB9F-A2D7-81AE-64B0F29E7CA4}"/>
                  </a:ext>
                </a:extLst>
              </p:cNvPr>
              <p:cNvCxnSpPr/>
              <p:nvPr/>
            </p:nvCxnSpPr>
            <p:spPr bwMode="auto">
              <a:xfrm flipV="1">
                <a:off x="-1731243" y="2880698"/>
                <a:ext cx="0" cy="779152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03DF797-25FC-B34F-31B8-BAE3D66B8843}"/>
                </a:ext>
              </a:extLst>
            </p:cNvPr>
            <p:cNvCxnSpPr>
              <a:cxnSpLocks/>
            </p:cNvCxnSpPr>
            <p:nvPr/>
          </p:nvCxnSpPr>
          <p:spPr>
            <a:xfrm>
              <a:off x="480264" y="3503287"/>
              <a:ext cx="564634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B0799EA-399A-C396-8466-81C13518DD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320" y="2989279"/>
              <a:ext cx="2815836" cy="16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EDFE90E-ECEE-1398-A7CC-D5640529394A}"/>
                </a:ext>
              </a:extLst>
            </p:cNvPr>
            <p:cNvCxnSpPr>
              <a:cxnSpLocks/>
            </p:cNvCxnSpPr>
            <p:nvPr/>
          </p:nvCxnSpPr>
          <p:spPr>
            <a:xfrm>
              <a:off x="3850747" y="3000909"/>
              <a:ext cx="1553208" cy="76060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BD388B9-B121-E1FA-7D49-7FEFC74118D9}"/>
                </a:ext>
              </a:extLst>
            </p:cNvPr>
            <p:cNvCxnSpPr>
              <a:cxnSpLocks/>
            </p:cNvCxnSpPr>
            <p:nvPr/>
          </p:nvCxnSpPr>
          <p:spPr>
            <a:xfrm>
              <a:off x="984320" y="3014692"/>
              <a:ext cx="4407654" cy="7681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EEF09EF9-5CC1-0308-6515-AD1ABF167D04}"/>
              </a:ext>
            </a:extLst>
          </p:cNvPr>
          <p:cNvSpPr/>
          <p:nvPr/>
        </p:nvSpPr>
        <p:spPr bwMode="auto">
          <a:xfrm>
            <a:off x="8255226" y="3235191"/>
            <a:ext cx="368773" cy="1373747"/>
          </a:xfrm>
          <a:custGeom>
            <a:avLst/>
            <a:gdLst>
              <a:gd name="connsiteX0" fmla="*/ 0 w 372140"/>
              <a:gd name="connsiteY0" fmla="*/ 21265 h 2286000"/>
              <a:gd name="connsiteX1" fmla="*/ 372140 w 372140"/>
              <a:gd name="connsiteY1" fmla="*/ 0 h 2286000"/>
              <a:gd name="connsiteX2" fmla="*/ 276447 w 372140"/>
              <a:gd name="connsiteY2" fmla="*/ 1105786 h 2286000"/>
              <a:gd name="connsiteX3" fmla="*/ 372140 w 372140"/>
              <a:gd name="connsiteY3" fmla="*/ 2286000 h 2286000"/>
              <a:gd name="connsiteX4" fmla="*/ 53163 w 372140"/>
              <a:gd name="connsiteY4" fmla="*/ 2286000 h 2286000"/>
              <a:gd name="connsiteX5" fmla="*/ 170121 w 372140"/>
              <a:gd name="connsiteY5" fmla="*/ 1116419 h 2286000"/>
              <a:gd name="connsiteX6" fmla="*/ 0 w 372140"/>
              <a:gd name="connsiteY6" fmla="*/ 21265 h 2286000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4251 w 355126"/>
              <a:gd name="connsiteY0" fmla="*/ 0 h 2296632"/>
              <a:gd name="connsiteX1" fmla="*/ 355126 w 355126"/>
              <a:gd name="connsiteY1" fmla="*/ 10632 h 2296632"/>
              <a:gd name="connsiteX2" fmla="*/ 259433 w 355126"/>
              <a:gd name="connsiteY2" fmla="*/ 1116418 h 2296632"/>
              <a:gd name="connsiteX3" fmla="*/ 355126 w 355126"/>
              <a:gd name="connsiteY3" fmla="*/ 2296632 h 2296632"/>
              <a:gd name="connsiteX4" fmla="*/ 36149 w 355126"/>
              <a:gd name="connsiteY4" fmla="*/ 2296632 h 2296632"/>
              <a:gd name="connsiteX5" fmla="*/ 153107 w 355126"/>
              <a:gd name="connsiteY5" fmla="*/ 1127051 h 2296632"/>
              <a:gd name="connsiteX6" fmla="*/ 4251 w 355126"/>
              <a:gd name="connsiteY6" fmla="*/ 0 h 2296632"/>
              <a:gd name="connsiteX0" fmla="*/ 5021 w 355896"/>
              <a:gd name="connsiteY0" fmla="*/ 0 h 2296632"/>
              <a:gd name="connsiteX1" fmla="*/ 355896 w 355896"/>
              <a:gd name="connsiteY1" fmla="*/ 10632 h 2296632"/>
              <a:gd name="connsiteX2" fmla="*/ 260203 w 355896"/>
              <a:gd name="connsiteY2" fmla="*/ 1116418 h 2296632"/>
              <a:gd name="connsiteX3" fmla="*/ 355896 w 355896"/>
              <a:gd name="connsiteY3" fmla="*/ 2296632 h 2296632"/>
              <a:gd name="connsiteX4" fmla="*/ 36919 w 355896"/>
              <a:gd name="connsiteY4" fmla="*/ 2296632 h 2296632"/>
              <a:gd name="connsiteX5" fmla="*/ 153877 w 355896"/>
              <a:gd name="connsiteY5" fmla="*/ 1127051 h 2296632"/>
              <a:gd name="connsiteX6" fmla="*/ 5021 w 355896"/>
              <a:gd name="connsiteY6" fmla="*/ 0 h 2296632"/>
              <a:gd name="connsiteX0" fmla="*/ 5021 w 364023"/>
              <a:gd name="connsiteY0" fmla="*/ 0 h 2296632"/>
              <a:gd name="connsiteX1" fmla="*/ 355896 w 364023"/>
              <a:gd name="connsiteY1" fmla="*/ 10632 h 2296632"/>
              <a:gd name="connsiteX2" fmla="*/ 260203 w 364023"/>
              <a:gd name="connsiteY2" fmla="*/ 1116418 h 2296632"/>
              <a:gd name="connsiteX3" fmla="*/ 355896 w 364023"/>
              <a:gd name="connsiteY3" fmla="*/ 2296632 h 2296632"/>
              <a:gd name="connsiteX4" fmla="*/ 36919 w 364023"/>
              <a:gd name="connsiteY4" fmla="*/ 2296632 h 2296632"/>
              <a:gd name="connsiteX5" fmla="*/ 153877 w 364023"/>
              <a:gd name="connsiteY5" fmla="*/ 1127051 h 2296632"/>
              <a:gd name="connsiteX6" fmla="*/ 5021 w 364023"/>
              <a:gd name="connsiteY6" fmla="*/ 0 h 2296632"/>
              <a:gd name="connsiteX0" fmla="*/ 5021 w 364023"/>
              <a:gd name="connsiteY0" fmla="*/ 0 h 2296632"/>
              <a:gd name="connsiteX1" fmla="*/ 355896 w 364023"/>
              <a:gd name="connsiteY1" fmla="*/ 10632 h 2296632"/>
              <a:gd name="connsiteX2" fmla="*/ 260203 w 364023"/>
              <a:gd name="connsiteY2" fmla="*/ 1116418 h 2296632"/>
              <a:gd name="connsiteX3" fmla="*/ 355896 w 364023"/>
              <a:gd name="connsiteY3" fmla="*/ 2296632 h 2296632"/>
              <a:gd name="connsiteX4" fmla="*/ 36919 w 364023"/>
              <a:gd name="connsiteY4" fmla="*/ 2296632 h 2296632"/>
              <a:gd name="connsiteX5" fmla="*/ 153877 w 364023"/>
              <a:gd name="connsiteY5" fmla="*/ 1127051 h 2296632"/>
              <a:gd name="connsiteX6" fmla="*/ 5021 w 364023"/>
              <a:gd name="connsiteY6" fmla="*/ 0 h 2296632"/>
              <a:gd name="connsiteX0" fmla="*/ 5021 w 362470"/>
              <a:gd name="connsiteY0" fmla="*/ 0 h 2296632"/>
              <a:gd name="connsiteX1" fmla="*/ 355896 w 362470"/>
              <a:gd name="connsiteY1" fmla="*/ 10632 h 2296632"/>
              <a:gd name="connsiteX2" fmla="*/ 260203 w 362470"/>
              <a:gd name="connsiteY2" fmla="*/ 1116418 h 2296632"/>
              <a:gd name="connsiteX3" fmla="*/ 355896 w 362470"/>
              <a:gd name="connsiteY3" fmla="*/ 2296632 h 2296632"/>
              <a:gd name="connsiteX4" fmla="*/ 36919 w 362470"/>
              <a:gd name="connsiteY4" fmla="*/ 2296632 h 2296632"/>
              <a:gd name="connsiteX5" fmla="*/ 153877 w 362470"/>
              <a:gd name="connsiteY5" fmla="*/ 1127051 h 2296632"/>
              <a:gd name="connsiteX6" fmla="*/ 5021 w 362470"/>
              <a:gd name="connsiteY6" fmla="*/ 0 h 2296632"/>
              <a:gd name="connsiteX0" fmla="*/ 0 w 357449"/>
              <a:gd name="connsiteY0" fmla="*/ 0 h 2296632"/>
              <a:gd name="connsiteX1" fmla="*/ 350875 w 357449"/>
              <a:gd name="connsiteY1" fmla="*/ 10632 h 2296632"/>
              <a:gd name="connsiteX2" fmla="*/ 255182 w 357449"/>
              <a:gd name="connsiteY2" fmla="*/ 1116418 h 2296632"/>
              <a:gd name="connsiteX3" fmla="*/ 350875 w 357449"/>
              <a:gd name="connsiteY3" fmla="*/ 2296632 h 2296632"/>
              <a:gd name="connsiteX4" fmla="*/ 31898 w 357449"/>
              <a:gd name="connsiteY4" fmla="*/ 2296632 h 2296632"/>
              <a:gd name="connsiteX5" fmla="*/ 148856 w 357449"/>
              <a:gd name="connsiteY5" fmla="*/ 1127051 h 2296632"/>
              <a:gd name="connsiteX6" fmla="*/ 0 w 357449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0 w 350875"/>
              <a:gd name="connsiteY0" fmla="*/ 0 h 2296632"/>
              <a:gd name="connsiteX1" fmla="*/ 350875 w 350875"/>
              <a:gd name="connsiteY1" fmla="*/ 10632 h 2296632"/>
              <a:gd name="connsiteX2" fmla="*/ 255182 w 350875"/>
              <a:gd name="connsiteY2" fmla="*/ 1116418 h 2296632"/>
              <a:gd name="connsiteX3" fmla="*/ 350875 w 350875"/>
              <a:gd name="connsiteY3" fmla="*/ 2296632 h 2296632"/>
              <a:gd name="connsiteX4" fmla="*/ 31898 w 350875"/>
              <a:gd name="connsiteY4" fmla="*/ 2296632 h 2296632"/>
              <a:gd name="connsiteX5" fmla="*/ 148856 w 350875"/>
              <a:gd name="connsiteY5" fmla="*/ 1127051 h 2296632"/>
              <a:gd name="connsiteX6" fmla="*/ 0 w 350875"/>
              <a:gd name="connsiteY6" fmla="*/ 0 h 2296632"/>
              <a:gd name="connsiteX0" fmla="*/ 1969 w 318977"/>
              <a:gd name="connsiteY0" fmla="*/ 6301 h 2286000"/>
              <a:gd name="connsiteX1" fmla="*/ 318977 w 318977"/>
              <a:gd name="connsiteY1" fmla="*/ 0 h 2286000"/>
              <a:gd name="connsiteX2" fmla="*/ 223284 w 318977"/>
              <a:gd name="connsiteY2" fmla="*/ 1105786 h 2286000"/>
              <a:gd name="connsiteX3" fmla="*/ 318977 w 318977"/>
              <a:gd name="connsiteY3" fmla="*/ 2286000 h 2286000"/>
              <a:gd name="connsiteX4" fmla="*/ 0 w 318977"/>
              <a:gd name="connsiteY4" fmla="*/ 2286000 h 2286000"/>
              <a:gd name="connsiteX5" fmla="*/ 116958 w 318977"/>
              <a:gd name="connsiteY5" fmla="*/ 1116419 h 2286000"/>
              <a:gd name="connsiteX6" fmla="*/ 1969 w 318977"/>
              <a:gd name="connsiteY6" fmla="*/ 6301 h 2286000"/>
              <a:gd name="connsiteX0" fmla="*/ 14669 w 318977"/>
              <a:gd name="connsiteY0" fmla="*/ 0 h 2288165"/>
              <a:gd name="connsiteX1" fmla="*/ 318977 w 318977"/>
              <a:gd name="connsiteY1" fmla="*/ 2165 h 2288165"/>
              <a:gd name="connsiteX2" fmla="*/ 223284 w 318977"/>
              <a:gd name="connsiteY2" fmla="*/ 1107951 h 2288165"/>
              <a:gd name="connsiteX3" fmla="*/ 318977 w 318977"/>
              <a:gd name="connsiteY3" fmla="*/ 2288165 h 2288165"/>
              <a:gd name="connsiteX4" fmla="*/ 0 w 318977"/>
              <a:gd name="connsiteY4" fmla="*/ 2288165 h 2288165"/>
              <a:gd name="connsiteX5" fmla="*/ 116958 w 318977"/>
              <a:gd name="connsiteY5" fmla="*/ 1118584 h 2288165"/>
              <a:gd name="connsiteX6" fmla="*/ 14669 w 318977"/>
              <a:gd name="connsiteY6" fmla="*/ 0 h 2288165"/>
              <a:gd name="connsiteX0" fmla="*/ 0 w 304308"/>
              <a:gd name="connsiteY0" fmla="*/ 0 h 2288165"/>
              <a:gd name="connsiteX1" fmla="*/ 304308 w 304308"/>
              <a:gd name="connsiteY1" fmla="*/ 2165 h 2288165"/>
              <a:gd name="connsiteX2" fmla="*/ 208615 w 304308"/>
              <a:gd name="connsiteY2" fmla="*/ 1107951 h 2288165"/>
              <a:gd name="connsiteX3" fmla="*/ 304308 w 304308"/>
              <a:gd name="connsiteY3" fmla="*/ 2288165 h 2288165"/>
              <a:gd name="connsiteX4" fmla="*/ 48831 w 304308"/>
              <a:gd name="connsiteY4" fmla="*/ 2279698 h 2288165"/>
              <a:gd name="connsiteX5" fmla="*/ 102289 w 304308"/>
              <a:gd name="connsiteY5" fmla="*/ 1118584 h 2288165"/>
              <a:gd name="connsiteX6" fmla="*/ 0 w 304308"/>
              <a:gd name="connsiteY6" fmla="*/ 0 h 2288165"/>
              <a:gd name="connsiteX0" fmla="*/ 0 w 304308"/>
              <a:gd name="connsiteY0" fmla="*/ 0 h 2288165"/>
              <a:gd name="connsiteX1" fmla="*/ 304308 w 304308"/>
              <a:gd name="connsiteY1" fmla="*/ 2165 h 2288165"/>
              <a:gd name="connsiteX2" fmla="*/ 208615 w 304308"/>
              <a:gd name="connsiteY2" fmla="*/ 1107951 h 2288165"/>
              <a:gd name="connsiteX3" fmla="*/ 304308 w 304308"/>
              <a:gd name="connsiteY3" fmla="*/ 2288165 h 2288165"/>
              <a:gd name="connsiteX4" fmla="*/ 48831 w 304308"/>
              <a:gd name="connsiteY4" fmla="*/ 2279698 h 2288165"/>
              <a:gd name="connsiteX5" fmla="*/ 102289 w 304308"/>
              <a:gd name="connsiteY5" fmla="*/ 1118584 h 2288165"/>
              <a:gd name="connsiteX6" fmla="*/ 0 w 304308"/>
              <a:gd name="connsiteY6" fmla="*/ 0 h 2288165"/>
              <a:gd name="connsiteX0" fmla="*/ 0 w 304308"/>
              <a:gd name="connsiteY0" fmla="*/ 0 h 2288165"/>
              <a:gd name="connsiteX1" fmla="*/ 304308 w 304308"/>
              <a:gd name="connsiteY1" fmla="*/ 2165 h 2288165"/>
              <a:gd name="connsiteX2" fmla="*/ 208615 w 304308"/>
              <a:gd name="connsiteY2" fmla="*/ 1129118 h 2288165"/>
              <a:gd name="connsiteX3" fmla="*/ 304308 w 304308"/>
              <a:gd name="connsiteY3" fmla="*/ 2288165 h 2288165"/>
              <a:gd name="connsiteX4" fmla="*/ 48831 w 304308"/>
              <a:gd name="connsiteY4" fmla="*/ 2279698 h 2288165"/>
              <a:gd name="connsiteX5" fmla="*/ 102289 w 304308"/>
              <a:gd name="connsiteY5" fmla="*/ 1118584 h 2288165"/>
              <a:gd name="connsiteX6" fmla="*/ 0 w 304308"/>
              <a:gd name="connsiteY6" fmla="*/ 0 h 2288165"/>
              <a:gd name="connsiteX0" fmla="*/ 0 w 304308"/>
              <a:gd name="connsiteY0" fmla="*/ 0 h 2296631"/>
              <a:gd name="connsiteX1" fmla="*/ 304308 w 304308"/>
              <a:gd name="connsiteY1" fmla="*/ 2165 h 2296631"/>
              <a:gd name="connsiteX2" fmla="*/ 208615 w 304308"/>
              <a:gd name="connsiteY2" fmla="*/ 1129118 h 2296631"/>
              <a:gd name="connsiteX3" fmla="*/ 304308 w 304308"/>
              <a:gd name="connsiteY3" fmla="*/ 2288165 h 2296631"/>
              <a:gd name="connsiteX4" fmla="*/ 23431 w 304308"/>
              <a:gd name="connsiteY4" fmla="*/ 2296631 h 2296631"/>
              <a:gd name="connsiteX5" fmla="*/ 102289 w 304308"/>
              <a:gd name="connsiteY5" fmla="*/ 1118584 h 2296631"/>
              <a:gd name="connsiteX6" fmla="*/ 0 w 304308"/>
              <a:gd name="connsiteY6" fmla="*/ 0 h 2296631"/>
              <a:gd name="connsiteX0" fmla="*/ 0 w 304308"/>
              <a:gd name="connsiteY0" fmla="*/ 0 h 2301325"/>
              <a:gd name="connsiteX1" fmla="*/ 304308 w 304308"/>
              <a:gd name="connsiteY1" fmla="*/ 2165 h 2301325"/>
              <a:gd name="connsiteX2" fmla="*/ 208615 w 304308"/>
              <a:gd name="connsiteY2" fmla="*/ 1129118 h 2301325"/>
              <a:gd name="connsiteX3" fmla="*/ 304308 w 304308"/>
              <a:gd name="connsiteY3" fmla="*/ 2288165 h 2301325"/>
              <a:gd name="connsiteX4" fmla="*/ 3156 w 304308"/>
              <a:gd name="connsiteY4" fmla="*/ 2301325 h 2301325"/>
              <a:gd name="connsiteX5" fmla="*/ 102289 w 304308"/>
              <a:gd name="connsiteY5" fmla="*/ 1118584 h 2301325"/>
              <a:gd name="connsiteX6" fmla="*/ 0 w 304308"/>
              <a:gd name="connsiteY6" fmla="*/ 0 h 2301325"/>
              <a:gd name="connsiteX0" fmla="*/ 0 w 304308"/>
              <a:gd name="connsiteY0" fmla="*/ 0 h 2296631"/>
              <a:gd name="connsiteX1" fmla="*/ 304308 w 304308"/>
              <a:gd name="connsiteY1" fmla="*/ 2165 h 2296631"/>
              <a:gd name="connsiteX2" fmla="*/ 208615 w 304308"/>
              <a:gd name="connsiteY2" fmla="*/ 1129118 h 2296631"/>
              <a:gd name="connsiteX3" fmla="*/ 304308 w 304308"/>
              <a:gd name="connsiteY3" fmla="*/ 2288165 h 2296631"/>
              <a:gd name="connsiteX4" fmla="*/ 3156 w 304308"/>
              <a:gd name="connsiteY4" fmla="*/ 2296631 h 2296631"/>
              <a:gd name="connsiteX5" fmla="*/ 102289 w 304308"/>
              <a:gd name="connsiteY5" fmla="*/ 1118584 h 2296631"/>
              <a:gd name="connsiteX6" fmla="*/ 0 w 304308"/>
              <a:gd name="connsiteY6" fmla="*/ 0 h 2296631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8615 w 304308"/>
              <a:gd name="connsiteY2" fmla="*/ 1129118 h 2289590"/>
              <a:gd name="connsiteX3" fmla="*/ 304308 w 304308"/>
              <a:gd name="connsiteY3" fmla="*/ 2288165 h 2289590"/>
              <a:gd name="connsiteX4" fmla="*/ 920 w 304308"/>
              <a:gd name="connsiteY4" fmla="*/ 2289590 h 2289590"/>
              <a:gd name="connsiteX5" fmla="*/ 102289 w 304308"/>
              <a:gd name="connsiteY5" fmla="*/ 1118584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8615 w 304308"/>
              <a:gd name="connsiteY2" fmla="*/ 1129118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289 w 304308"/>
              <a:gd name="connsiteY5" fmla="*/ 1118584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8615 w 304308"/>
              <a:gd name="connsiteY2" fmla="*/ 1129118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736 w 304308"/>
              <a:gd name="connsiteY5" fmla="*/ 1141468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2353 w 304308"/>
              <a:gd name="connsiteY2" fmla="*/ 1146721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736 w 304308"/>
              <a:gd name="connsiteY5" fmla="*/ 1141468 h 2289590"/>
              <a:gd name="connsiteX6" fmla="*/ 0 w 304308"/>
              <a:gd name="connsiteY6" fmla="*/ 0 h 2289590"/>
              <a:gd name="connsiteX0" fmla="*/ 0 w 304308"/>
              <a:gd name="connsiteY0" fmla="*/ 0 h 2289590"/>
              <a:gd name="connsiteX1" fmla="*/ 304308 w 304308"/>
              <a:gd name="connsiteY1" fmla="*/ 2165 h 2289590"/>
              <a:gd name="connsiteX2" fmla="*/ 201906 w 304308"/>
              <a:gd name="connsiteY2" fmla="*/ 1136159 h 2289590"/>
              <a:gd name="connsiteX3" fmla="*/ 302966 w 304308"/>
              <a:gd name="connsiteY3" fmla="*/ 2286404 h 2289590"/>
              <a:gd name="connsiteX4" fmla="*/ 920 w 304308"/>
              <a:gd name="connsiteY4" fmla="*/ 2289590 h 2289590"/>
              <a:gd name="connsiteX5" fmla="*/ 102736 w 304308"/>
              <a:gd name="connsiteY5" fmla="*/ 1141468 h 2289590"/>
              <a:gd name="connsiteX6" fmla="*/ 0 w 304308"/>
              <a:gd name="connsiteY6" fmla="*/ 0 h 2289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4308" h="2289590">
                <a:moveTo>
                  <a:pt x="0" y="0"/>
                </a:moveTo>
                <a:lnTo>
                  <a:pt x="304308" y="2165"/>
                </a:lnTo>
                <a:cubicBezTo>
                  <a:pt x="251145" y="220132"/>
                  <a:pt x="202130" y="755453"/>
                  <a:pt x="201906" y="1136159"/>
                </a:cubicBezTo>
                <a:cubicBezTo>
                  <a:pt x="201682" y="1516865"/>
                  <a:pt x="276385" y="2100334"/>
                  <a:pt x="302966" y="2286404"/>
                </a:cubicBezTo>
                <a:lnTo>
                  <a:pt x="920" y="2289590"/>
                </a:lnTo>
                <a:cubicBezTo>
                  <a:pt x="50243" y="2039528"/>
                  <a:pt x="102889" y="1523066"/>
                  <a:pt x="102736" y="1141468"/>
                </a:cubicBezTo>
                <a:cubicBezTo>
                  <a:pt x="102583" y="759870"/>
                  <a:pt x="62023" y="186070"/>
                  <a:pt x="0" y="0"/>
                </a:cubicBezTo>
                <a:close/>
              </a:path>
            </a:pathLst>
          </a:cu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nimBg="1"/>
      <p:bldP spid="33797" grpId="1" animBg="1"/>
      <p:bldP spid="4" grpId="0"/>
      <p:bldP spid="5" grpId="0"/>
      <p:bldP spid="6" grpId="0" animBg="1"/>
      <p:bldP spid="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Text Box 5">
            <a:extLst>
              <a:ext uri="{FF2B5EF4-FFF2-40B4-BE49-F238E27FC236}">
                <a16:creationId xmlns:a16="http://schemas.microsoft.com/office/drawing/2014/main" id="{48789815-9143-3870-B8A4-34BC7626A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9289" y="980579"/>
            <a:ext cx="8207375" cy="13419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GB" altLang="en-US" sz="2800" b="0" dirty="0"/>
              <a:t>A </a:t>
            </a:r>
            <a:r>
              <a:rPr lang="en-GB" altLang="en-US" sz="2800" dirty="0"/>
              <a:t>Long-Sighted</a:t>
            </a:r>
            <a:r>
              <a:rPr lang="en-GB" altLang="en-US" sz="2800" b="0" dirty="0"/>
              <a:t> person cannot see nearby objects clearly. </a:t>
            </a:r>
          </a:p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GB" altLang="en-US" sz="2800" b="0" dirty="0"/>
              <a:t>Some (but not all) can see distant objects clearly.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D48B759-C35C-167A-8AF0-6FB15579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155247"/>
            <a:ext cx="8724900" cy="590931"/>
          </a:xfrm>
        </p:spPr>
        <p:txBody>
          <a:bodyPr>
            <a:normAutofit fontScale="90000"/>
          </a:bodyPr>
          <a:lstStyle/>
          <a:p>
            <a:r>
              <a:rPr lang="en-IE" altLang="en-US" b="0" dirty="0"/>
              <a:t>What does </a:t>
            </a:r>
            <a:r>
              <a:rPr lang="en-IE" altLang="en-US" dirty="0"/>
              <a:t>long sighted mean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49DD50-3C92-4910-6D6E-AB518D818160}"/>
              </a:ext>
            </a:extLst>
          </p:cNvPr>
          <p:cNvGrpSpPr/>
          <p:nvPr/>
        </p:nvGrpSpPr>
        <p:grpSpPr>
          <a:xfrm>
            <a:off x="6022976" y="2598592"/>
            <a:ext cx="4143953" cy="3510913"/>
            <a:chOff x="4498975" y="2598591"/>
            <a:chExt cx="4143953" cy="351091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B81AA3B-9A20-1670-4C7F-A47B2E97B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8975" y="2598591"/>
              <a:ext cx="4143953" cy="3448531"/>
            </a:xfrm>
            <a:prstGeom prst="rect">
              <a:avLst/>
            </a:prstGeom>
          </p:spPr>
        </p:pic>
        <p:sp>
          <p:nvSpPr>
            <p:cNvPr id="5" name="TextBox 4">
              <a:hlinkClick r:id="rId3"/>
              <a:extLst>
                <a:ext uri="{FF2B5EF4-FFF2-40B4-BE49-F238E27FC236}">
                  <a16:creationId xmlns:a16="http://schemas.microsoft.com/office/drawing/2014/main" id="{91D4212E-05F3-B77B-23C8-7C8314F9B0B5}"/>
                </a:ext>
              </a:extLst>
            </p:cNvPr>
            <p:cNvSpPr txBox="1"/>
            <p:nvPr/>
          </p:nvSpPr>
          <p:spPr>
            <a:xfrm>
              <a:off x="7267547" y="5847894"/>
              <a:ext cx="4683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GB" sz="1100" dirty="0"/>
                <a:t>CC0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8E64693-BEB9-C635-330F-189F1654BCF3}"/>
              </a:ext>
            </a:extLst>
          </p:cNvPr>
          <p:cNvGrpSpPr/>
          <p:nvPr/>
        </p:nvGrpSpPr>
        <p:grpSpPr>
          <a:xfrm>
            <a:off x="1919289" y="2588163"/>
            <a:ext cx="3779345" cy="3468765"/>
            <a:chOff x="395288" y="2588162"/>
            <a:chExt cx="3779345" cy="34687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35E538-EFB7-756A-35D5-767E585929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522" b="17338"/>
            <a:stretch/>
          </p:blipFill>
          <p:spPr bwMode="auto">
            <a:xfrm>
              <a:off x="395288" y="2588162"/>
              <a:ext cx="3779345" cy="34337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TextBox 6">
              <a:hlinkClick r:id="rId5"/>
              <a:extLst>
                <a:ext uri="{FF2B5EF4-FFF2-40B4-BE49-F238E27FC236}">
                  <a16:creationId xmlns:a16="http://schemas.microsoft.com/office/drawing/2014/main" id="{AC4968AD-B57C-B826-9988-E0E8CA51C872}"/>
                </a:ext>
              </a:extLst>
            </p:cNvPr>
            <p:cNvSpPr txBox="1"/>
            <p:nvPr/>
          </p:nvSpPr>
          <p:spPr>
            <a:xfrm>
              <a:off x="3446656" y="5718373"/>
              <a:ext cx="59343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dirty="0"/>
                <a:t>CC0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  <p:bldP spid="34821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Text Box 5">
            <a:extLst>
              <a:ext uri="{FF2B5EF4-FFF2-40B4-BE49-F238E27FC236}">
                <a16:creationId xmlns:a16="http://schemas.microsoft.com/office/drawing/2014/main" id="{7441C068-A113-EBD7-FE70-E11C04510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162" y="1482836"/>
            <a:ext cx="8497887" cy="867930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</a:pPr>
            <a:r>
              <a:rPr lang="en-GB" altLang="en-US" sz="2800" dirty="0"/>
              <a:t>Long-Sight</a:t>
            </a:r>
            <a:r>
              <a:rPr lang="en-GB" altLang="en-US" sz="2800" b="0" dirty="0"/>
              <a:t> can be corrected with a </a:t>
            </a:r>
            <a:r>
              <a:rPr lang="en-GB" altLang="en-US" sz="2800" dirty="0"/>
              <a:t>converging Lens</a:t>
            </a:r>
            <a:r>
              <a:rPr lang="en-GB" altLang="en-US" sz="2400" b="0" dirty="0"/>
              <a:t> (convex)</a:t>
            </a: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5E4FA396-9733-A03D-8660-A5785D5C7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5300" y="155247"/>
            <a:ext cx="8724900" cy="535531"/>
          </a:xfrm>
        </p:spPr>
        <p:txBody>
          <a:bodyPr/>
          <a:lstStyle/>
          <a:p>
            <a:r>
              <a:rPr lang="en-IE" altLang="en-US" sz="3200" dirty="0"/>
              <a:t>What kind of lens can correct Long-sight?</a:t>
            </a: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A243BC-D91F-FC86-8975-413114804D36}"/>
              </a:ext>
            </a:extLst>
          </p:cNvPr>
          <p:cNvSpPr txBox="1"/>
          <p:nvPr/>
        </p:nvSpPr>
        <p:spPr>
          <a:xfrm>
            <a:off x="1814470" y="5117702"/>
            <a:ext cx="41905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Long sight</a:t>
            </a:r>
          </a:p>
          <a:p>
            <a:r>
              <a:rPr lang="en-GB" sz="2400" dirty="0"/>
              <a:t>Cannot focus on near objects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65A1F0-542F-244C-04CA-F292C4874D64}"/>
              </a:ext>
            </a:extLst>
          </p:cNvPr>
          <p:cNvSpPr txBox="1"/>
          <p:nvPr/>
        </p:nvSpPr>
        <p:spPr>
          <a:xfrm>
            <a:off x="6857850" y="5154326"/>
            <a:ext cx="3396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Focus corrected with convex lens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2A2BBA8-6302-D8E6-89FB-1EDFD3FE30FE}"/>
              </a:ext>
            </a:extLst>
          </p:cNvPr>
          <p:cNvSpPr/>
          <p:nvPr/>
        </p:nvSpPr>
        <p:spPr>
          <a:xfrm>
            <a:off x="5728356" y="3654699"/>
            <a:ext cx="901498" cy="64727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D61CC6C-66A4-6107-6A26-2AF8460959CB}"/>
              </a:ext>
            </a:extLst>
          </p:cNvPr>
          <p:cNvGrpSpPr/>
          <p:nvPr/>
        </p:nvGrpSpPr>
        <p:grpSpPr>
          <a:xfrm>
            <a:off x="6762963" y="2950288"/>
            <a:ext cx="3843886" cy="1861320"/>
            <a:chOff x="323528" y="2189411"/>
            <a:chExt cx="6349423" cy="257926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1BE6169-E89F-8CFC-0B35-6E180069530B}"/>
                </a:ext>
              </a:extLst>
            </p:cNvPr>
            <p:cNvGrpSpPr/>
            <p:nvPr/>
          </p:nvGrpSpPr>
          <p:grpSpPr>
            <a:xfrm>
              <a:off x="323528" y="2189411"/>
              <a:ext cx="6349423" cy="2579262"/>
              <a:chOff x="-2654777" y="1757462"/>
              <a:chExt cx="9119952" cy="3688619"/>
            </a:xfrm>
          </p:grpSpPr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2EAC7DDF-EA94-ADDE-75A3-E1BE8512BC76}"/>
                  </a:ext>
                </a:extLst>
              </p:cNvPr>
              <p:cNvSpPr/>
              <p:nvPr/>
            </p:nvSpPr>
            <p:spPr bwMode="auto">
              <a:xfrm>
                <a:off x="-2654777" y="1757462"/>
                <a:ext cx="9119952" cy="3688619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CD10862-BAC4-6CDF-56F6-D6BD443D83F7}"/>
                  </a:ext>
                </a:extLst>
              </p:cNvPr>
              <p:cNvSpPr/>
              <p:nvPr/>
            </p:nvSpPr>
            <p:spPr bwMode="auto">
              <a:xfrm>
                <a:off x="1638201" y="2905053"/>
                <a:ext cx="1273444" cy="155640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B9D52049-8854-D287-3074-CF572D2784AA}"/>
                  </a:ext>
                </a:extLst>
              </p:cNvPr>
              <p:cNvSpPr/>
              <p:nvPr/>
            </p:nvSpPr>
            <p:spPr bwMode="auto">
              <a:xfrm>
                <a:off x="2167684" y="1920221"/>
                <a:ext cx="2891346" cy="3479257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 dirty="0">
                  <a:latin typeface="Arial" charset="0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91912A9-4502-DF10-B4BE-15AE62AE89B5}"/>
                  </a:ext>
                </a:extLst>
              </p:cNvPr>
              <p:cNvSpPr/>
              <p:nvPr/>
            </p:nvSpPr>
            <p:spPr bwMode="auto">
              <a:xfrm>
                <a:off x="2167684" y="2905053"/>
                <a:ext cx="301919" cy="1509593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BAF052C6-C1BB-3658-8C54-58417498C8BC}"/>
                  </a:ext>
                </a:extLst>
              </p:cNvPr>
              <p:cNvSpPr/>
              <p:nvPr/>
            </p:nvSpPr>
            <p:spPr bwMode="auto">
              <a:xfrm>
                <a:off x="2176462" y="2905053"/>
                <a:ext cx="275671" cy="1409544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0E57B13-4410-9EA4-C2EE-6725C180357E}"/>
                  </a:ext>
                </a:extLst>
              </p:cNvPr>
              <p:cNvCxnSpPr/>
              <p:nvPr/>
            </p:nvCxnSpPr>
            <p:spPr bwMode="auto">
              <a:xfrm>
                <a:off x="5059030" y="3683252"/>
                <a:ext cx="0" cy="509524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D50878AA-1FBE-373C-C470-BC884672BE6A}"/>
                  </a:ext>
                </a:extLst>
              </p:cNvPr>
              <p:cNvCxnSpPr/>
              <p:nvPr/>
            </p:nvCxnSpPr>
            <p:spPr bwMode="auto">
              <a:xfrm flipV="1">
                <a:off x="-1731243" y="2880698"/>
                <a:ext cx="0" cy="779152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854F52-12C9-26D2-7D86-472D411B9133}"/>
                </a:ext>
              </a:extLst>
            </p:cNvPr>
            <p:cNvCxnSpPr>
              <a:cxnSpLocks/>
              <a:endCxn id="14" idx="6"/>
            </p:cNvCxnSpPr>
            <p:nvPr/>
          </p:nvCxnSpPr>
          <p:spPr>
            <a:xfrm>
              <a:off x="480264" y="3503287"/>
              <a:ext cx="5213712" cy="16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3CFDD2F-06AD-388B-86FC-A98F2A9C61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320" y="2989279"/>
              <a:ext cx="2815836" cy="16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57ADE44-2FE8-86AE-3B33-8EF949C04C7B}"/>
                </a:ext>
              </a:extLst>
            </p:cNvPr>
            <p:cNvCxnSpPr>
              <a:cxnSpLocks/>
            </p:cNvCxnSpPr>
            <p:nvPr/>
          </p:nvCxnSpPr>
          <p:spPr>
            <a:xfrm>
              <a:off x="3850748" y="3000909"/>
              <a:ext cx="1843228" cy="85576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41A72CB-B062-F41C-EE33-658C6A8BCEFC}"/>
                </a:ext>
              </a:extLst>
            </p:cNvPr>
            <p:cNvCxnSpPr>
              <a:cxnSpLocks/>
            </p:cNvCxnSpPr>
            <p:nvPr/>
          </p:nvCxnSpPr>
          <p:spPr>
            <a:xfrm>
              <a:off x="984320" y="3014692"/>
              <a:ext cx="4709656" cy="85504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778272-3D87-DF4C-4CFB-1254E11B7020}"/>
              </a:ext>
            </a:extLst>
          </p:cNvPr>
          <p:cNvGrpSpPr/>
          <p:nvPr/>
        </p:nvGrpSpPr>
        <p:grpSpPr>
          <a:xfrm>
            <a:off x="1717423" y="2966577"/>
            <a:ext cx="3931348" cy="1795637"/>
            <a:chOff x="323528" y="2189411"/>
            <a:chExt cx="6349423" cy="257926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5E7FFFF-C968-4945-60F2-8D948EE4B0D8}"/>
                </a:ext>
              </a:extLst>
            </p:cNvPr>
            <p:cNvGrpSpPr/>
            <p:nvPr/>
          </p:nvGrpSpPr>
          <p:grpSpPr>
            <a:xfrm>
              <a:off x="323528" y="2189411"/>
              <a:ext cx="6349423" cy="2579262"/>
              <a:chOff x="-2654777" y="1757462"/>
              <a:chExt cx="9119952" cy="3688619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815A0E1C-192C-ED22-5D32-6D01C28B9FA5}"/>
                  </a:ext>
                </a:extLst>
              </p:cNvPr>
              <p:cNvSpPr/>
              <p:nvPr/>
            </p:nvSpPr>
            <p:spPr bwMode="auto">
              <a:xfrm>
                <a:off x="-2654777" y="1757462"/>
                <a:ext cx="9119952" cy="3688619"/>
              </a:xfrm>
              <a:prstGeom prst="round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CBAD21E-1DE1-1EF6-5F6A-FA3BB4328CE9}"/>
                  </a:ext>
                </a:extLst>
              </p:cNvPr>
              <p:cNvSpPr/>
              <p:nvPr/>
            </p:nvSpPr>
            <p:spPr bwMode="auto">
              <a:xfrm>
                <a:off x="1638201" y="2905053"/>
                <a:ext cx="1273444" cy="1556401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1CE2088-A060-B7EB-EA70-12EF429235AC}"/>
                  </a:ext>
                </a:extLst>
              </p:cNvPr>
              <p:cNvSpPr/>
              <p:nvPr/>
            </p:nvSpPr>
            <p:spPr bwMode="auto">
              <a:xfrm>
                <a:off x="2167684" y="1920221"/>
                <a:ext cx="2891346" cy="3479257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36F98B6A-9362-58BE-24A5-A19E344FA6D5}"/>
                  </a:ext>
                </a:extLst>
              </p:cNvPr>
              <p:cNvSpPr/>
              <p:nvPr/>
            </p:nvSpPr>
            <p:spPr bwMode="auto">
              <a:xfrm>
                <a:off x="2167684" y="2905053"/>
                <a:ext cx="301919" cy="1509593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solidFill>
                    <a:srgbClr val="FF0000"/>
                  </a:solidFill>
                  <a:latin typeface="Arial" charset="0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4A40334-84CF-BC0C-C349-7F7BE75F8A06}"/>
                  </a:ext>
                </a:extLst>
              </p:cNvPr>
              <p:cNvSpPr/>
              <p:nvPr/>
            </p:nvSpPr>
            <p:spPr bwMode="auto">
              <a:xfrm>
                <a:off x="2176462" y="2905053"/>
                <a:ext cx="275671" cy="1409544"/>
              </a:xfrm>
              <a:prstGeom prst="ellips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IE" b="1">
                  <a:latin typeface="Arial" charset="0"/>
                </a:endParaRPr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26A81F4-7E32-19FE-82C0-D878FEF3FD9E}"/>
                  </a:ext>
                </a:extLst>
              </p:cNvPr>
              <p:cNvCxnSpPr/>
              <p:nvPr/>
            </p:nvCxnSpPr>
            <p:spPr bwMode="auto">
              <a:xfrm>
                <a:off x="5619480" y="3683253"/>
                <a:ext cx="0" cy="509524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529D598-A17F-7F86-F110-7A18869CBA76}"/>
                  </a:ext>
                </a:extLst>
              </p:cNvPr>
              <p:cNvCxnSpPr/>
              <p:nvPr/>
            </p:nvCxnSpPr>
            <p:spPr bwMode="auto">
              <a:xfrm flipV="1">
                <a:off x="-1731243" y="2880698"/>
                <a:ext cx="0" cy="779152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5F08D4DC-DE2F-570A-1C5B-14E1408C999D}"/>
                </a:ext>
              </a:extLst>
            </p:cNvPr>
            <p:cNvCxnSpPr>
              <a:cxnSpLocks/>
            </p:cNvCxnSpPr>
            <p:nvPr/>
          </p:nvCxnSpPr>
          <p:spPr>
            <a:xfrm>
              <a:off x="480264" y="3503287"/>
              <a:ext cx="564634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9CDCE41A-534D-ABF7-D504-449CDD3B32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4320" y="2989279"/>
              <a:ext cx="2815836" cy="163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3F93741-9B45-E8C1-CB1E-70DB2F005828}"/>
                </a:ext>
              </a:extLst>
            </p:cNvPr>
            <p:cNvCxnSpPr>
              <a:cxnSpLocks/>
            </p:cNvCxnSpPr>
            <p:nvPr/>
          </p:nvCxnSpPr>
          <p:spPr>
            <a:xfrm>
              <a:off x="3850748" y="3000909"/>
              <a:ext cx="2275859" cy="8207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BEB5BF2-3ACC-DB84-97CB-9284E2E6B614}"/>
                </a:ext>
              </a:extLst>
            </p:cNvPr>
            <p:cNvCxnSpPr>
              <a:cxnSpLocks/>
            </p:cNvCxnSpPr>
            <p:nvPr/>
          </p:nvCxnSpPr>
          <p:spPr>
            <a:xfrm>
              <a:off x="984320" y="3014692"/>
              <a:ext cx="5056977" cy="84198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FEC2046-5BF5-DB7E-21E4-FBB3CC0E85BB}"/>
              </a:ext>
            </a:extLst>
          </p:cNvPr>
          <p:cNvSpPr/>
          <p:nvPr/>
        </p:nvSpPr>
        <p:spPr bwMode="auto">
          <a:xfrm>
            <a:off x="8316568" y="3216625"/>
            <a:ext cx="200697" cy="1352085"/>
          </a:xfrm>
          <a:custGeom>
            <a:avLst/>
            <a:gdLst>
              <a:gd name="connsiteX0" fmla="*/ 191386 w 627321"/>
              <a:gd name="connsiteY0" fmla="*/ 0 h 2519916"/>
              <a:gd name="connsiteX1" fmla="*/ 627321 w 627321"/>
              <a:gd name="connsiteY1" fmla="*/ 2519916 h 2519916"/>
              <a:gd name="connsiteX2" fmla="*/ 0 w 627321"/>
              <a:gd name="connsiteY2" fmla="*/ 2509283 h 2519916"/>
              <a:gd name="connsiteX3" fmla="*/ 191386 w 627321"/>
              <a:gd name="connsiteY3" fmla="*/ 0 h 2519916"/>
              <a:gd name="connsiteX0" fmla="*/ 191386 w 191386"/>
              <a:gd name="connsiteY0" fmla="*/ 0 h 2509283"/>
              <a:gd name="connsiteX1" fmla="*/ 0 w 191386"/>
              <a:gd name="connsiteY1" fmla="*/ 2509283 h 2509283"/>
              <a:gd name="connsiteX2" fmla="*/ 191386 w 191386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191386 w 282600"/>
              <a:gd name="connsiteY0" fmla="*/ 0 h 2509283"/>
              <a:gd name="connsiteX1" fmla="*/ 0 w 282600"/>
              <a:gd name="connsiteY1" fmla="*/ 2509283 h 2509283"/>
              <a:gd name="connsiteX2" fmla="*/ 191386 w 282600"/>
              <a:gd name="connsiteY2" fmla="*/ 0 h 2509283"/>
              <a:gd name="connsiteX0" fmla="*/ 191386 w 220728"/>
              <a:gd name="connsiteY0" fmla="*/ 0 h 2509283"/>
              <a:gd name="connsiteX1" fmla="*/ 0 w 220728"/>
              <a:gd name="connsiteY1" fmla="*/ 2509283 h 2509283"/>
              <a:gd name="connsiteX2" fmla="*/ 191386 w 220728"/>
              <a:gd name="connsiteY2" fmla="*/ 0 h 2509283"/>
              <a:gd name="connsiteX0" fmla="*/ 242724 w 272066"/>
              <a:gd name="connsiteY0" fmla="*/ 0 h 2509283"/>
              <a:gd name="connsiteX1" fmla="*/ 51338 w 272066"/>
              <a:gd name="connsiteY1" fmla="*/ 2509283 h 2509283"/>
              <a:gd name="connsiteX2" fmla="*/ 242724 w 272066"/>
              <a:gd name="connsiteY2" fmla="*/ 0 h 2509283"/>
              <a:gd name="connsiteX0" fmla="*/ 242724 w 431108"/>
              <a:gd name="connsiteY0" fmla="*/ 0 h 2509283"/>
              <a:gd name="connsiteX1" fmla="*/ 51338 w 431108"/>
              <a:gd name="connsiteY1" fmla="*/ 2509283 h 2509283"/>
              <a:gd name="connsiteX2" fmla="*/ 242724 w 431108"/>
              <a:gd name="connsiteY2" fmla="*/ 0 h 2509283"/>
              <a:gd name="connsiteX0" fmla="*/ 198091 w 442874"/>
              <a:gd name="connsiteY0" fmla="*/ 0 h 2488018"/>
              <a:gd name="connsiteX1" fmla="*/ 144928 w 442874"/>
              <a:gd name="connsiteY1" fmla="*/ 2488018 h 2488018"/>
              <a:gd name="connsiteX2" fmla="*/ 198091 w 442874"/>
              <a:gd name="connsiteY2" fmla="*/ 0 h 2488018"/>
              <a:gd name="connsiteX0" fmla="*/ 258630 w 503413"/>
              <a:gd name="connsiteY0" fmla="*/ 0 h 2488018"/>
              <a:gd name="connsiteX1" fmla="*/ 205467 w 503413"/>
              <a:gd name="connsiteY1" fmla="*/ 2488018 h 2488018"/>
              <a:gd name="connsiteX2" fmla="*/ 258630 w 503413"/>
              <a:gd name="connsiteY2" fmla="*/ 0 h 2488018"/>
              <a:gd name="connsiteX0" fmla="*/ 258630 w 434490"/>
              <a:gd name="connsiteY0" fmla="*/ 0 h 2488018"/>
              <a:gd name="connsiteX1" fmla="*/ 205467 w 434490"/>
              <a:gd name="connsiteY1" fmla="*/ 2488018 h 2488018"/>
              <a:gd name="connsiteX2" fmla="*/ 258630 w 434490"/>
              <a:gd name="connsiteY2" fmla="*/ 0 h 2488018"/>
              <a:gd name="connsiteX0" fmla="*/ 242605 w 433746"/>
              <a:gd name="connsiteY0" fmla="*/ 0 h 2668772"/>
              <a:gd name="connsiteX1" fmla="*/ 231972 w 433746"/>
              <a:gd name="connsiteY1" fmla="*/ 2668772 h 2668772"/>
              <a:gd name="connsiteX2" fmla="*/ 242605 w 433746"/>
              <a:gd name="connsiteY2" fmla="*/ 0 h 2668772"/>
              <a:gd name="connsiteX0" fmla="*/ 179477 w 370618"/>
              <a:gd name="connsiteY0" fmla="*/ 0 h 2668772"/>
              <a:gd name="connsiteX1" fmla="*/ 168844 w 370618"/>
              <a:gd name="connsiteY1" fmla="*/ 2668772 h 2668772"/>
              <a:gd name="connsiteX2" fmla="*/ 179477 w 370618"/>
              <a:gd name="connsiteY2" fmla="*/ 0 h 2668772"/>
              <a:gd name="connsiteX0" fmla="*/ 179477 w 326609"/>
              <a:gd name="connsiteY0" fmla="*/ 0 h 2668772"/>
              <a:gd name="connsiteX1" fmla="*/ 168844 w 326609"/>
              <a:gd name="connsiteY1" fmla="*/ 2668772 h 2668772"/>
              <a:gd name="connsiteX2" fmla="*/ 179477 w 326609"/>
              <a:gd name="connsiteY2" fmla="*/ 0 h 2668772"/>
              <a:gd name="connsiteX0" fmla="*/ 179477 w 322355"/>
              <a:gd name="connsiteY0" fmla="*/ 0 h 2668772"/>
              <a:gd name="connsiteX1" fmla="*/ 168844 w 322355"/>
              <a:gd name="connsiteY1" fmla="*/ 2668772 h 2668772"/>
              <a:gd name="connsiteX2" fmla="*/ 179477 w 322355"/>
              <a:gd name="connsiteY2" fmla="*/ 0 h 2668772"/>
              <a:gd name="connsiteX0" fmla="*/ 157761 w 300639"/>
              <a:gd name="connsiteY0" fmla="*/ 0 h 2668772"/>
              <a:gd name="connsiteX1" fmla="*/ 147128 w 300639"/>
              <a:gd name="connsiteY1" fmla="*/ 2668772 h 2668772"/>
              <a:gd name="connsiteX2" fmla="*/ 157761 w 300639"/>
              <a:gd name="connsiteY2" fmla="*/ 0 h 2668772"/>
              <a:gd name="connsiteX0" fmla="*/ 144523 w 302708"/>
              <a:gd name="connsiteY0" fmla="*/ 0 h 2668772"/>
              <a:gd name="connsiteX1" fmla="*/ 165788 w 302708"/>
              <a:gd name="connsiteY1" fmla="*/ 2668772 h 2668772"/>
              <a:gd name="connsiteX2" fmla="*/ 144523 w 302708"/>
              <a:gd name="connsiteY2" fmla="*/ 0 h 2668772"/>
              <a:gd name="connsiteX0" fmla="*/ 141246 w 299431"/>
              <a:gd name="connsiteY0" fmla="*/ 0 h 2668772"/>
              <a:gd name="connsiteX1" fmla="*/ 162511 w 299431"/>
              <a:gd name="connsiteY1" fmla="*/ 2668772 h 2668772"/>
              <a:gd name="connsiteX2" fmla="*/ 141246 w 299431"/>
              <a:gd name="connsiteY2" fmla="*/ 0 h 2668772"/>
              <a:gd name="connsiteX0" fmla="*/ 141246 w 295417"/>
              <a:gd name="connsiteY0" fmla="*/ 0 h 2668772"/>
              <a:gd name="connsiteX1" fmla="*/ 162511 w 295417"/>
              <a:gd name="connsiteY1" fmla="*/ 2668772 h 2668772"/>
              <a:gd name="connsiteX2" fmla="*/ 141246 w 295417"/>
              <a:gd name="connsiteY2" fmla="*/ 0 h 2668772"/>
              <a:gd name="connsiteX0" fmla="*/ 174134 w 296321"/>
              <a:gd name="connsiteY0" fmla="*/ 0 h 2690037"/>
              <a:gd name="connsiteX1" fmla="*/ 120972 w 296321"/>
              <a:gd name="connsiteY1" fmla="*/ 2690037 h 2690037"/>
              <a:gd name="connsiteX2" fmla="*/ 174134 w 296321"/>
              <a:gd name="connsiteY2" fmla="*/ 0 h 2690037"/>
              <a:gd name="connsiteX0" fmla="*/ 141244 w 295416"/>
              <a:gd name="connsiteY0" fmla="*/ 0 h 2690037"/>
              <a:gd name="connsiteX1" fmla="*/ 162510 w 295416"/>
              <a:gd name="connsiteY1" fmla="*/ 2690037 h 2690037"/>
              <a:gd name="connsiteX2" fmla="*/ 141244 w 295416"/>
              <a:gd name="connsiteY2" fmla="*/ 0 h 2690037"/>
              <a:gd name="connsiteX0" fmla="*/ 110167 w 264339"/>
              <a:gd name="connsiteY0" fmla="*/ 0 h 2690037"/>
              <a:gd name="connsiteX1" fmla="*/ 131433 w 264339"/>
              <a:gd name="connsiteY1" fmla="*/ 2690037 h 2690037"/>
              <a:gd name="connsiteX2" fmla="*/ 110167 w 264339"/>
              <a:gd name="connsiteY2" fmla="*/ 0 h 2690037"/>
              <a:gd name="connsiteX0" fmla="*/ 117454 w 271626"/>
              <a:gd name="connsiteY0" fmla="*/ 0 h 2690037"/>
              <a:gd name="connsiteX1" fmla="*/ 138720 w 271626"/>
              <a:gd name="connsiteY1" fmla="*/ 2690037 h 2690037"/>
              <a:gd name="connsiteX2" fmla="*/ 117454 w 271626"/>
              <a:gd name="connsiteY2" fmla="*/ 0 h 2690037"/>
              <a:gd name="connsiteX0" fmla="*/ 117454 w 267667"/>
              <a:gd name="connsiteY0" fmla="*/ 0 h 2690037"/>
              <a:gd name="connsiteX1" fmla="*/ 138720 w 267667"/>
              <a:gd name="connsiteY1" fmla="*/ 2690037 h 2690037"/>
              <a:gd name="connsiteX2" fmla="*/ 117454 w 267667"/>
              <a:gd name="connsiteY2" fmla="*/ 0 h 269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667" h="2690037">
                <a:moveTo>
                  <a:pt x="117454" y="0"/>
                </a:moveTo>
                <a:cubicBezTo>
                  <a:pt x="330105" y="698204"/>
                  <a:pt x="298207" y="2076893"/>
                  <a:pt x="138720" y="2690037"/>
                </a:cubicBezTo>
                <a:cubicBezTo>
                  <a:pt x="-31401" y="2044995"/>
                  <a:pt x="-52666" y="730102"/>
                  <a:pt x="117454" y="0"/>
                </a:cubicBezTo>
                <a:close/>
              </a:path>
            </a:pathLst>
          </a:cu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IE" b="1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 animBg="1"/>
      <p:bldP spid="3" grpId="0"/>
      <p:bldP spid="4" grpId="0"/>
      <p:bldP spid="5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847CA-06F9-DA49-97E1-D91050F736CD}"/>
              </a:ext>
            </a:extLst>
          </p:cNvPr>
          <p:cNvSpPr txBox="1"/>
          <p:nvPr/>
        </p:nvSpPr>
        <p:spPr>
          <a:xfrm>
            <a:off x="1511300" y="1"/>
            <a:ext cx="9144000" cy="9541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chemeClr val="bg1"/>
                </a:solidFill>
              </a:rPr>
              <a:t>If you are </a:t>
            </a:r>
            <a:r>
              <a:rPr lang="en-GB" sz="2800" b="1" dirty="0">
                <a:solidFill>
                  <a:srgbClr val="FFC000"/>
                </a:solidFill>
              </a:rPr>
              <a:t>short sighted </a:t>
            </a:r>
            <a:r>
              <a:rPr lang="en-GB" sz="2800" b="1" dirty="0">
                <a:solidFill>
                  <a:schemeClr val="bg1"/>
                </a:solidFill>
              </a:rPr>
              <a:t>you can’t see distance objects clearly </a:t>
            </a:r>
          </a:p>
        </p:txBody>
      </p:sp>
      <p:pic>
        <p:nvPicPr>
          <p:cNvPr id="59394" name="Picture 3">
            <a:extLst>
              <a:ext uri="{FF2B5EF4-FFF2-40B4-BE49-F238E27FC236}">
                <a16:creationId xmlns:a16="http://schemas.microsoft.com/office/drawing/2014/main" id="{18A20CAB-DE78-5377-F428-1EE8A0F44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7" t="13239" r="24013" b="22150"/>
          <a:stretch>
            <a:fillRect/>
          </a:stretch>
        </p:blipFill>
        <p:spPr bwMode="auto">
          <a:xfrm>
            <a:off x="3648076" y="1978025"/>
            <a:ext cx="5256213" cy="476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5" name="TextBox 4">
            <a:extLst>
              <a:ext uri="{FF2B5EF4-FFF2-40B4-BE49-F238E27FC236}">
                <a16:creationId xmlns:a16="http://schemas.microsoft.com/office/drawing/2014/main" id="{5C334271-203F-AA8A-F6CF-054789189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445" y="950914"/>
            <a:ext cx="44926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3600" dirty="0">
                <a:solidFill>
                  <a:srgbClr val="0070C0"/>
                </a:solidFill>
                <a:latin typeface="Berlin Sans FB Demi" panose="020F0502020204030204" pitchFamily="34" charset="0"/>
              </a:rPr>
              <a:t>Reason:</a:t>
            </a:r>
            <a:r>
              <a:rPr lang="en-GB" altLang="en-US" sz="3600" dirty="0">
                <a:latin typeface="Berlin Sans FB Demi" panose="020F0502020204030204" pitchFamily="34" charset="0"/>
              </a:rPr>
              <a:t> </a:t>
            </a:r>
            <a:r>
              <a:rPr lang="en-GB" altLang="en-US" sz="2800" dirty="0">
                <a:latin typeface="Berlin Sans FB Demi" panose="020F0502020204030204" pitchFamily="34" charset="0"/>
              </a:rPr>
              <a:t>Image is in front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800" dirty="0">
                <a:latin typeface="Berlin Sans FB Demi" panose="020F0502020204030204" pitchFamily="34" charset="0"/>
              </a:rPr>
              <a:t>Of the retina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EE2FDE-E1D2-9540-B3AC-78AA3F7957DD}"/>
              </a:ext>
            </a:extLst>
          </p:cNvPr>
          <p:cNvSpPr txBox="1"/>
          <p:nvPr/>
        </p:nvSpPr>
        <p:spPr>
          <a:xfrm>
            <a:off x="686594" y="2028961"/>
            <a:ext cx="3690938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GB" sz="2400" dirty="0"/>
              <a:t>Eye ball is too long</a:t>
            </a: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GB" sz="2400" dirty="0"/>
              <a:t>Cornea or lens refracts </a:t>
            </a:r>
          </a:p>
          <a:p>
            <a:pPr>
              <a:defRPr/>
            </a:pPr>
            <a:r>
              <a:rPr lang="en-GB" sz="2400" dirty="0"/>
              <a:t>Light too much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E6E9E6-E64B-F444-A044-30AA451E4AC8}"/>
              </a:ext>
            </a:extLst>
          </p:cNvPr>
          <p:cNvCxnSpPr/>
          <p:nvPr/>
        </p:nvCxnSpPr>
        <p:spPr>
          <a:xfrm>
            <a:off x="1703388" y="4076700"/>
            <a:ext cx="252095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396C954-FD06-7B43-BB39-9CEEFC6EB349}"/>
              </a:ext>
            </a:extLst>
          </p:cNvPr>
          <p:cNvCxnSpPr/>
          <p:nvPr/>
        </p:nvCxnSpPr>
        <p:spPr>
          <a:xfrm>
            <a:off x="1703388" y="4652963"/>
            <a:ext cx="252095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9828938C-BC35-7944-B21F-6060DF66DBA5}"/>
              </a:ext>
            </a:extLst>
          </p:cNvPr>
          <p:cNvSpPr/>
          <p:nvPr/>
        </p:nvSpPr>
        <p:spPr>
          <a:xfrm rot="5400000">
            <a:off x="2531270" y="4006057"/>
            <a:ext cx="144462" cy="142875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19B5C7E4-F57B-D64C-8BAC-115F36490539}"/>
              </a:ext>
            </a:extLst>
          </p:cNvPr>
          <p:cNvSpPr/>
          <p:nvPr/>
        </p:nvSpPr>
        <p:spPr>
          <a:xfrm rot="5400000">
            <a:off x="2532064" y="4581526"/>
            <a:ext cx="142875" cy="142875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8B9750D-6DB9-A54D-888E-1200D96D39DD}"/>
              </a:ext>
            </a:extLst>
          </p:cNvPr>
          <p:cNvCxnSpPr/>
          <p:nvPr/>
        </p:nvCxnSpPr>
        <p:spPr>
          <a:xfrm>
            <a:off x="4224338" y="4076700"/>
            <a:ext cx="787400" cy="317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29A0F03-2C65-1843-870D-80733EC48783}"/>
              </a:ext>
            </a:extLst>
          </p:cNvPr>
          <p:cNvCxnSpPr/>
          <p:nvPr/>
        </p:nvCxnSpPr>
        <p:spPr>
          <a:xfrm>
            <a:off x="5011738" y="4117976"/>
            <a:ext cx="1566862" cy="20161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6C602A-92A4-B44D-8FED-667ABD7C8B2B}"/>
              </a:ext>
            </a:extLst>
          </p:cNvPr>
          <p:cNvCxnSpPr/>
          <p:nvPr/>
        </p:nvCxnSpPr>
        <p:spPr>
          <a:xfrm flipV="1">
            <a:off x="4943476" y="4319589"/>
            <a:ext cx="1635125" cy="3016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9D10EDA-EA57-8546-9A1B-4942F7B03D64}"/>
              </a:ext>
            </a:extLst>
          </p:cNvPr>
          <p:cNvSpPr/>
          <p:nvPr/>
        </p:nvSpPr>
        <p:spPr>
          <a:xfrm rot="4227090">
            <a:off x="5590382" y="4420395"/>
            <a:ext cx="142875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6AF9E0A7-6DC4-5245-82C9-F452D73BD585}"/>
              </a:ext>
            </a:extLst>
          </p:cNvPr>
          <p:cNvSpPr/>
          <p:nvPr/>
        </p:nvSpPr>
        <p:spPr>
          <a:xfrm rot="5941755">
            <a:off x="5580063" y="4102101"/>
            <a:ext cx="144463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B0C9EF5-80DF-4A49-A528-51EB9A87E246}"/>
              </a:ext>
            </a:extLst>
          </p:cNvPr>
          <p:cNvCxnSpPr/>
          <p:nvPr/>
        </p:nvCxnSpPr>
        <p:spPr>
          <a:xfrm flipV="1">
            <a:off x="4192589" y="4621214"/>
            <a:ext cx="750887" cy="2698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407" name="Picture 2" descr="These fascinating paintings show what the world looks like for short-sighted  people">
            <a:extLst>
              <a:ext uri="{FF2B5EF4-FFF2-40B4-BE49-F238E27FC236}">
                <a16:creationId xmlns:a16="http://schemas.microsoft.com/office/drawing/2014/main" id="{09B404C9-CAB8-82AD-FDDE-1B0EEABCB0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4064" y="630238"/>
            <a:ext cx="3551237" cy="236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850F880-32F2-C14B-AC66-C249B22802F0}"/>
              </a:ext>
            </a:extLst>
          </p:cNvPr>
          <p:cNvCxnSpPr/>
          <p:nvPr/>
        </p:nvCxnSpPr>
        <p:spPr>
          <a:xfrm flipH="1">
            <a:off x="6672263" y="3789364"/>
            <a:ext cx="1655762" cy="530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409" name="TextBox 42">
            <a:extLst>
              <a:ext uri="{FF2B5EF4-FFF2-40B4-BE49-F238E27FC236}">
                <a16:creationId xmlns:a16="http://schemas.microsoft.com/office/drawing/2014/main" id="{163B94C9-221C-88E4-C3C7-6C3332A90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6513" y="3141664"/>
            <a:ext cx="307181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Light rays not focused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 b="1">
                <a:latin typeface="Segoe Print" panose="02000800000000000000" pitchFamily="2" charset="0"/>
              </a:rPr>
              <a:t>in front </a:t>
            </a:r>
            <a:r>
              <a:rPr lang="en-GB" altLang="en-US" sz="2000">
                <a:latin typeface="Segoe Print" panose="02000800000000000000" pitchFamily="2" charset="0"/>
              </a:rPr>
              <a:t>of the retina.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extBox 1">
            <a:extLst>
              <a:ext uri="{FF2B5EF4-FFF2-40B4-BE49-F238E27FC236}">
                <a16:creationId xmlns:a16="http://schemas.microsoft.com/office/drawing/2014/main" id="{AA04093F-62E0-DCB7-D753-0E0C4EAC2A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1684338"/>
            <a:ext cx="4095751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0070C0"/>
                </a:solidFill>
                <a:latin typeface="Berlin Sans FB Demi" panose="020F0502020204030204" pitchFamily="34" charset="0"/>
              </a:rPr>
              <a:t>Solution:</a:t>
            </a:r>
            <a:r>
              <a:rPr lang="en-GB" altLang="en-US" sz="3600">
                <a:solidFill>
                  <a:srgbClr val="00B050"/>
                </a:solidFill>
                <a:latin typeface="Berlin Sans FB Demi" panose="020F0502020204030204" pitchFamily="34" charset="0"/>
              </a:rPr>
              <a:t> </a:t>
            </a:r>
            <a:r>
              <a:rPr lang="en-GB" altLang="en-US" sz="2800">
                <a:latin typeface="Berlin Sans FB Demi" panose="020F0502020204030204" pitchFamily="34" charset="0"/>
              </a:rPr>
              <a:t>Concave lens</a:t>
            </a:r>
          </a:p>
        </p:txBody>
      </p:sp>
      <p:pic>
        <p:nvPicPr>
          <p:cNvPr id="60418" name="Picture 2" descr="http://www.schoolphysics.co.uk/age11-14/Light/text/Lenses_/images/1.png">
            <a:extLst>
              <a:ext uri="{FF2B5EF4-FFF2-40B4-BE49-F238E27FC236}">
                <a16:creationId xmlns:a16="http://schemas.microsoft.com/office/drawing/2014/main" id="{07839CA3-2CF8-440F-1870-F2232726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14" r="24113" b="22935"/>
          <a:stretch>
            <a:fillRect/>
          </a:stretch>
        </p:blipFill>
        <p:spPr bwMode="auto">
          <a:xfrm>
            <a:off x="2619376" y="3727451"/>
            <a:ext cx="576263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419" name="Picture 3">
            <a:extLst>
              <a:ext uri="{FF2B5EF4-FFF2-40B4-BE49-F238E27FC236}">
                <a16:creationId xmlns:a16="http://schemas.microsoft.com/office/drawing/2014/main" id="{5BCC0222-EBC3-87BE-35AE-6D6504609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7" t="13239" r="24013" b="22150"/>
          <a:stretch>
            <a:fillRect/>
          </a:stretch>
        </p:blipFill>
        <p:spPr bwMode="auto">
          <a:xfrm>
            <a:off x="3467100" y="2093914"/>
            <a:ext cx="5257800" cy="476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C4C716-8775-2C46-A366-6B4E2A0D6DB1}"/>
              </a:ext>
            </a:extLst>
          </p:cNvPr>
          <p:cNvCxnSpPr/>
          <p:nvPr/>
        </p:nvCxnSpPr>
        <p:spPr>
          <a:xfrm>
            <a:off x="1524001" y="4194175"/>
            <a:ext cx="1439863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9BBD41-4D9E-C24A-8CDA-3A4F2CE1E345}"/>
              </a:ext>
            </a:extLst>
          </p:cNvPr>
          <p:cNvCxnSpPr/>
          <p:nvPr/>
        </p:nvCxnSpPr>
        <p:spPr>
          <a:xfrm flipV="1">
            <a:off x="1524001" y="4765676"/>
            <a:ext cx="1522413" cy="476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BCCE721-6E22-754E-8924-5F268AF696E3}"/>
              </a:ext>
            </a:extLst>
          </p:cNvPr>
          <p:cNvSpPr/>
          <p:nvPr/>
        </p:nvSpPr>
        <p:spPr>
          <a:xfrm rot="5400000">
            <a:off x="2351088" y="4121151"/>
            <a:ext cx="144463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465F6DF4-4618-CE48-9A58-5C01F4CDBD5C}"/>
              </a:ext>
            </a:extLst>
          </p:cNvPr>
          <p:cNvSpPr/>
          <p:nvPr/>
        </p:nvSpPr>
        <p:spPr>
          <a:xfrm rot="5400000">
            <a:off x="2351088" y="4697413"/>
            <a:ext cx="144462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F8E0F2-0688-A042-BA77-FAF10B4062FB}"/>
              </a:ext>
            </a:extLst>
          </p:cNvPr>
          <p:cNvCxnSpPr/>
          <p:nvPr/>
        </p:nvCxnSpPr>
        <p:spPr>
          <a:xfrm>
            <a:off x="3992563" y="4073525"/>
            <a:ext cx="787400" cy="317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B92976-0C96-3C49-9F73-C472AC9FCDBA}"/>
              </a:ext>
            </a:extLst>
          </p:cNvPr>
          <p:cNvCxnSpPr/>
          <p:nvPr/>
        </p:nvCxnSpPr>
        <p:spPr>
          <a:xfrm>
            <a:off x="4754564" y="4098926"/>
            <a:ext cx="2528887" cy="5111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974C6E-5CBB-A645-B11A-5FF0509B12AC}"/>
              </a:ext>
            </a:extLst>
          </p:cNvPr>
          <p:cNvCxnSpPr/>
          <p:nvPr/>
        </p:nvCxnSpPr>
        <p:spPr>
          <a:xfrm flipV="1">
            <a:off x="4764088" y="4610100"/>
            <a:ext cx="2519362" cy="25400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EBC394A-F5DA-2B46-9112-241E99BFFB04}"/>
              </a:ext>
            </a:extLst>
          </p:cNvPr>
          <p:cNvSpPr/>
          <p:nvPr/>
        </p:nvSpPr>
        <p:spPr>
          <a:xfrm rot="5027913">
            <a:off x="5956301" y="4664076"/>
            <a:ext cx="144463" cy="144463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6E78CEF-63C5-994A-8083-A7D9BC9CA34D}"/>
              </a:ext>
            </a:extLst>
          </p:cNvPr>
          <p:cNvSpPr/>
          <p:nvPr/>
        </p:nvSpPr>
        <p:spPr>
          <a:xfrm rot="5941755">
            <a:off x="5913438" y="4279901"/>
            <a:ext cx="144463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2C4A05D-EB63-434B-908C-711C4DB6FA67}"/>
              </a:ext>
            </a:extLst>
          </p:cNvPr>
          <p:cNvCxnSpPr/>
          <p:nvPr/>
        </p:nvCxnSpPr>
        <p:spPr>
          <a:xfrm>
            <a:off x="3040063" y="4767263"/>
            <a:ext cx="1003300" cy="12541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FB7747-0209-C84E-98B2-0DA58A4EADAB}"/>
              </a:ext>
            </a:extLst>
          </p:cNvPr>
          <p:cNvCxnSpPr/>
          <p:nvPr/>
        </p:nvCxnSpPr>
        <p:spPr>
          <a:xfrm flipV="1">
            <a:off x="2963863" y="4071939"/>
            <a:ext cx="1079500" cy="1238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B35CCF-3C08-CB4F-9C25-BF47C9AA75F0}"/>
              </a:ext>
            </a:extLst>
          </p:cNvPr>
          <p:cNvCxnSpPr/>
          <p:nvPr/>
        </p:nvCxnSpPr>
        <p:spPr>
          <a:xfrm flipV="1">
            <a:off x="4043364" y="4867276"/>
            <a:ext cx="720725" cy="2381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41847CA-06F9-DA49-97E1-D91050F736CD}"/>
              </a:ext>
            </a:extLst>
          </p:cNvPr>
          <p:cNvSpPr txBox="1"/>
          <p:nvPr/>
        </p:nvSpPr>
        <p:spPr>
          <a:xfrm>
            <a:off x="1524000" y="-19050"/>
            <a:ext cx="9144000" cy="95408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chemeClr val="bg1"/>
                </a:solidFill>
              </a:rPr>
              <a:t>Light waves spread out from the </a:t>
            </a:r>
            <a:r>
              <a:rPr lang="en-GB" sz="2800" b="1" dirty="0">
                <a:solidFill>
                  <a:srgbClr val="FFC000"/>
                </a:solidFill>
              </a:rPr>
              <a:t>concave lens</a:t>
            </a:r>
            <a:r>
              <a:rPr lang="en-GB" sz="2800" b="1" dirty="0">
                <a:solidFill>
                  <a:schemeClr val="bg1"/>
                </a:solidFill>
              </a:rPr>
              <a:t> before entering the eye lens.</a:t>
            </a:r>
          </a:p>
        </p:txBody>
      </p:sp>
      <p:sp>
        <p:nvSpPr>
          <p:cNvPr id="60433" name="TextBox 35">
            <a:extLst>
              <a:ext uri="{FF2B5EF4-FFF2-40B4-BE49-F238E27FC236}">
                <a16:creationId xmlns:a16="http://schemas.microsoft.com/office/drawing/2014/main" id="{94C27467-5AA9-A85C-BE77-75C5134CE3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5" y="4071938"/>
            <a:ext cx="2592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Light is focused 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the retina giving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sharp image.</a:t>
            </a:r>
          </a:p>
        </p:txBody>
      </p:sp>
      <p:pic>
        <p:nvPicPr>
          <p:cNvPr id="60434" name="Picture 2" descr="Myopia - Zacks Eye Clinics London">
            <a:extLst>
              <a:ext uri="{FF2B5EF4-FFF2-40B4-BE49-F238E27FC236}">
                <a16:creationId xmlns:a16="http://schemas.microsoft.com/office/drawing/2014/main" id="{23A0D655-6FD3-CFA4-45EF-81EB8CD46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2314" y="960439"/>
            <a:ext cx="3595687" cy="239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1847CA-06F9-DA49-97E1-D91050F736CD}"/>
              </a:ext>
            </a:extLst>
          </p:cNvPr>
          <p:cNvSpPr txBox="1"/>
          <p:nvPr/>
        </p:nvSpPr>
        <p:spPr>
          <a:xfrm>
            <a:off x="1511300" y="1"/>
            <a:ext cx="9144000" cy="95410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prstClr val="white"/>
                </a:solidFill>
              </a:rPr>
              <a:t>If you are </a:t>
            </a:r>
            <a:r>
              <a:rPr lang="en-GB" sz="2800" b="1" dirty="0">
                <a:solidFill>
                  <a:srgbClr val="FFC000"/>
                </a:solidFill>
              </a:rPr>
              <a:t>long sighted </a:t>
            </a:r>
            <a:r>
              <a:rPr lang="en-GB" sz="2800" b="1" dirty="0">
                <a:solidFill>
                  <a:prstClr val="white"/>
                </a:solidFill>
              </a:rPr>
              <a:t>you can’t see close by objects clearly. </a:t>
            </a:r>
          </a:p>
        </p:txBody>
      </p:sp>
      <p:pic>
        <p:nvPicPr>
          <p:cNvPr id="61442" name="Picture 3">
            <a:extLst>
              <a:ext uri="{FF2B5EF4-FFF2-40B4-BE49-F238E27FC236}">
                <a16:creationId xmlns:a16="http://schemas.microsoft.com/office/drawing/2014/main" id="{58C15C1F-256E-D443-E483-74BAC40D52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7" t="13239" r="24013" b="22150"/>
          <a:stretch>
            <a:fillRect/>
          </a:stretch>
        </p:blipFill>
        <p:spPr bwMode="auto">
          <a:xfrm>
            <a:off x="3287713" y="2205039"/>
            <a:ext cx="5256212" cy="476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3" name="TextBox 4">
            <a:extLst>
              <a:ext uri="{FF2B5EF4-FFF2-40B4-BE49-F238E27FC236}">
                <a16:creationId xmlns:a16="http://schemas.microsoft.com/office/drawing/2014/main" id="{0A8ABE5E-A72A-3FA0-BE93-9411E888F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25" y="1172322"/>
            <a:ext cx="4416425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3600" dirty="0">
                <a:solidFill>
                  <a:srgbClr val="00B050"/>
                </a:solidFill>
                <a:latin typeface="Berlin Sans FB Demi" panose="020F0502020204030204" pitchFamily="34" charset="0"/>
              </a:rPr>
              <a:t>Reason: </a:t>
            </a:r>
            <a:r>
              <a:rPr lang="en-GB" altLang="en-US" sz="2800" dirty="0">
                <a:solidFill>
                  <a:srgbClr val="000000"/>
                </a:solidFill>
                <a:latin typeface="Berlin Sans FB Demi" panose="020F0502020204030204" pitchFamily="34" charset="0"/>
              </a:rPr>
              <a:t>Image is behind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800" dirty="0">
                <a:solidFill>
                  <a:srgbClr val="000000"/>
                </a:solidFill>
                <a:latin typeface="Berlin Sans FB Demi" panose="020F0502020204030204" pitchFamily="34" charset="0"/>
              </a:rPr>
              <a:t>the retina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DDBEE0-E6CA-7A45-A9DF-8CFE2960244C}"/>
              </a:ext>
            </a:extLst>
          </p:cNvPr>
          <p:cNvSpPr txBox="1"/>
          <p:nvPr/>
        </p:nvSpPr>
        <p:spPr>
          <a:xfrm>
            <a:off x="455613" y="2393157"/>
            <a:ext cx="3455988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GB" sz="2400" dirty="0">
                <a:solidFill>
                  <a:prstClr val="black"/>
                </a:solidFill>
              </a:rPr>
              <a:t>Eye ball is too short</a:t>
            </a:r>
          </a:p>
          <a:p>
            <a:pPr marL="285750" indent="-285750">
              <a:buFont typeface="Wingdings" panose="05000000000000000000" pitchFamily="2" charset="2"/>
              <a:buChar char="q"/>
              <a:defRPr/>
            </a:pPr>
            <a:r>
              <a:rPr lang="en-GB" sz="2400" dirty="0">
                <a:solidFill>
                  <a:prstClr val="black"/>
                </a:solidFill>
              </a:rPr>
              <a:t>Cornea or lens can’t</a:t>
            </a:r>
          </a:p>
          <a:p>
            <a:pPr>
              <a:defRPr/>
            </a:pPr>
            <a:r>
              <a:rPr lang="en-GB" sz="2400" dirty="0">
                <a:solidFill>
                  <a:prstClr val="black"/>
                </a:solidFill>
              </a:rPr>
              <a:t>Refract the light enough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823EAF-FCE1-5546-98D6-BEDCA10D6AF4}"/>
              </a:ext>
            </a:extLst>
          </p:cNvPr>
          <p:cNvCxnSpPr/>
          <p:nvPr/>
        </p:nvCxnSpPr>
        <p:spPr>
          <a:xfrm>
            <a:off x="1343025" y="4303713"/>
            <a:ext cx="252095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BCD55E-3CFE-EC4E-B5BA-934278CF314C}"/>
              </a:ext>
            </a:extLst>
          </p:cNvPr>
          <p:cNvCxnSpPr/>
          <p:nvPr/>
        </p:nvCxnSpPr>
        <p:spPr>
          <a:xfrm>
            <a:off x="1343025" y="4879975"/>
            <a:ext cx="252095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6EAE90C-A0E4-D143-874A-4722CF5CEFC9}"/>
              </a:ext>
            </a:extLst>
          </p:cNvPr>
          <p:cNvSpPr/>
          <p:nvPr/>
        </p:nvSpPr>
        <p:spPr>
          <a:xfrm rot="5400000">
            <a:off x="2171701" y="4232276"/>
            <a:ext cx="144463" cy="144463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F66D112-18E2-D442-B4BD-A84A28C5E58F}"/>
              </a:ext>
            </a:extLst>
          </p:cNvPr>
          <p:cNvSpPr/>
          <p:nvPr/>
        </p:nvSpPr>
        <p:spPr>
          <a:xfrm rot="5400000">
            <a:off x="2171701" y="4808538"/>
            <a:ext cx="144462" cy="144463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prstClr val="white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CBCB03-4CE3-5749-9B48-C8D950CE661C}"/>
              </a:ext>
            </a:extLst>
          </p:cNvPr>
          <p:cNvCxnSpPr/>
          <p:nvPr/>
        </p:nvCxnSpPr>
        <p:spPr>
          <a:xfrm>
            <a:off x="3863975" y="4303713"/>
            <a:ext cx="787400" cy="317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2B17F68-0EAE-EB48-B53C-FC206E446336}"/>
              </a:ext>
            </a:extLst>
          </p:cNvPr>
          <p:cNvCxnSpPr/>
          <p:nvPr/>
        </p:nvCxnSpPr>
        <p:spPr>
          <a:xfrm>
            <a:off x="4651376" y="4344989"/>
            <a:ext cx="2957513" cy="2825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5D12388-0BDC-1640-B64B-4D9DE7A75644}"/>
              </a:ext>
            </a:extLst>
          </p:cNvPr>
          <p:cNvCxnSpPr/>
          <p:nvPr/>
        </p:nvCxnSpPr>
        <p:spPr>
          <a:xfrm flipV="1">
            <a:off x="4583114" y="4627563"/>
            <a:ext cx="3025775" cy="220662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C4C44012-0947-E04F-80A8-AD2F1212BD97}"/>
              </a:ext>
            </a:extLst>
          </p:cNvPr>
          <p:cNvSpPr/>
          <p:nvPr/>
        </p:nvSpPr>
        <p:spPr>
          <a:xfrm rot="4227090">
            <a:off x="5230020" y="4648995"/>
            <a:ext cx="144463" cy="142875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prstClr val="white"/>
              </a:solidFill>
            </a:endParaRP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F6629C5-3FEC-E646-992A-B4FBC7DEA185}"/>
              </a:ext>
            </a:extLst>
          </p:cNvPr>
          <p:cNvSpPr/>
          <p:nvPr/>
        </p:nvSpPr>
        <p:spPr>
          <a:xfrm rot="5941755">
            <a:off x="5220495" y="4329907"/>
            <a:ext cx="144462" cy="142875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>
              <a:solidFill>
                <a:prstClr val="white"/>
              </a:solidFill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463D1AF-C94B-D141-87FD-42408AB2173B}"/>
              </a:ext>
            </a:extLst>
          </p:cNvPr>
          <p:cNvCxnSpPr/>
          <p:nvPr/>
        </p:nvCxnSpPr>
        <p:spPr>
          <a:xfrm flipV="1">
            <a:off x="3832225" y="4848225"/>
            <a:ext cx="750888" cy="26988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55" name="Picture 4" descr="What are the most common types of eye defects | Easy Optic">
            <a:extLst>
              <a:ext uri="{FF2B5EF4-FFF2-40B4-BE49-F238E27FC236}">
                <a16:creationId xmlns:a16="http://schemas.microsoft.com/office/drawing/2014/main" id="{0C164302-2BC6-CC5A-191C-61573A1F4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0388" y="585789"/>
            <a:ext cx="3695700" cy="277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F4EB1F-739E-4F4F-888C-552387B4D89D}"/>
              </a:ext>
            </a:extLst>
          </p:cNvPr>
          <p:cNvCxnSpPr/>
          <p:nvPr/>
        </p:nvCxnSpPr>
        <p:spPr>
          <a:xfrm flipH="1">
            <a:off x="7642225" y="4097339"/>
            <a:ext cx="1657350" cy="53022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457" name="TextBox 24">
            <a:extLst>
              <a:ext uri="{FF2B5EF4-FFF2-40B4-BE49-F238E27FC236}">
                <a16:creationId xmlns:a16="http://schemas.microsoft.com/office/drawing/2014/main" id="{0060C9FA-71BE-2E57-A51C-FCE1A35B1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2225" y="3452814"/>
            <a:ext cx="25352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Light rays focused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behind the retina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5" name="Picture 2" descr="http://www.schoolphysics.co.uk/age11-14/Light/text/Lenses_/images/1.png">
            <a:extLst>
              <a:ext uri="{FF2B5EF4-FFF2-40B4-BE49-F238E27FC236}">
                <a16:creationId xmlns:a16="http://schemas.microsoft.com/office/drawing/2014/main" id="{F0C7FA15-A36E-8DB4-C22B-45B1EC8ED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75" r="44151" b="25883"/>
          <a:stretch>
            <a:fillRect/>
          </a:stretch>
        </p:blipFill>
        <p:spPr bwMode="auto">
          <a:xfrm>
            <a:off x="2620963" y="3648076"/>
            <a:ext cx="57626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6" name="TextBox 1">
            <a:extLst>
              <a:ext uri="{FF2B5EF4-FFF2-40B4-BE49-F238E27FC236}">
                <a16:creationId xmlns:a16="http://schemas.microsoft.com/office/drawing/2014/main" id="{E5CE6C96-07DB-0970-7BA1-84E0549E2E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7013" y="1684338"/>
            <a:ext cx="3910013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3600">
                <a:solidFill>
                  <a:srgbClr val="00B050"/>
                </a:solidFill>
                <a:latin typeface="Berlin Sans FB Demi" panose="020F0502020204030204" pitchFamily="34" charset="0"/>
              </a:rPr>
              <a:t>Solution: </a:t>
            </a:r>
            <a:r>
              <a:rPr lang="en-GB" altLang="en-US" sz="2800">
                <a:latin typeface="Berlin Sans FB Demi" panose="020F0502020204030204" pitchFamily="34" charset="0"/>
              </a:rPr>
              <a:t>Convex lens</a:t>
            </a:r>
          </a:p>
        </p:txBody>
      </p:sp>
      <p:pic>
        <p:nvPicPr>
          <p:cNvPr id="62467" name="Picture 3">
            <a:extLst>
              <a:ext uri="{FF2B5EF4-FFF2-40B4-BE49-F238E27FC236}">
                <a16:creationId xmlns:a16="http://schemas.microsoft.com/office/drawing/2014/main" id="{385C5974-16D7-AC69-6BFD-5F7C49967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87" t="13239" r="24013" b="22150"/>
          <a:stretch>
            <a:fillRect/>
          </a:stretch>
        </p:blipFill>
        <p:spPr bwMode="auto">
          <a:xfrm>
            <a:off x="3467100" y="2093914"/>
            <a:ext cx="5257800" cy="476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CE5DE4-7454-5B4D-9143-72DFC7E06990}"/>
              </a:ext>
            </a:extLst>
          </p:cNvPr>
          <p:cNvCxnSpPr/>
          <p:nvPr/>
        </p:nvCxnSpPr>
        <p:spPr>
          <a:xfrm>
            <a:off x="1524001" y="4194175"/>
            <a:ext cx="156527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A7B460-5BC9-D748-9BE7-2C5CF6EA10C9}"/>
              </a:ext>
            </a:extLst>
          </p:cNvPr>
          <p:cNvCxnSpPr/>
          <p:nvPr/>
        </p:nvCxnSpPr>
        <p:spPr>
          <a:xfrm flipV="1">
            <a:off x="1524001" y="4765676"/>
            <a:ext cx="1522413" cy="476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1021149F-04A8-C44C-BD27-0131C460D02D}"/>
              </a:ext>
            </a:extLst>
          </p:cNvPr>
          <p:cNvSpPr/>
          <p:nvPr/>
        </p:nvSpPr>
        <p:spPr>
          <a:xfrm rot="5400000">
            <a:off x="2351088" y="4121151"/>
            <a:ext cx="144463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B2663FB4-189D-CB41-876C-DA2F216D4066}"/>
              </a:ext>
            </a:extLst>
          </p:cNvPr>
          <p:cNvSpPr/>
          <p:nvPr/>
        </p:nvSpPr>
        <p:spPr>
          <a:xfrm rot="5400000">
            <a:off x="2351088" y="4697413"/>
            <a:ext cx="144462" cy="144462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9C73C6-B797-2641-B5FA-36C8CB3A98A9}"/>
              </a:ext>
            </a:extLst>
          </p:cNvPr>
          <p:cNvCxnSpPr/>
          <p:nvPr/>
        </p:nvCxnSpPr>
        <p:spPr>
          <a:xfrm>
            <a:off x="4016375" y="4243388"/>
            <a:ext cx="819150" cy="571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BD4E16-C1EB-D542-995F-821E642F945F}"/>
              </a:ext>
            </a:extLst>
          </p:cNvPr>
          <p:cNvCxnSpPr/>
          <p:nvPr/>
        </p:nvCxnSpPr>
        <p:spPr>
          <a:xfrm>
            <a:off x="4768850" y="4300539"/>
            <a:ext cx="2533650" cy="1873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42B759-62C0-954E-B92D-A8CCAE09010E}"/>
              </a:ext>
            </a:extLst>
          </p:cNvPr>
          <p:cNvCxnSpPr/>
          <p:nvPr/>
        </p:nvCxnSpPr>
        <p:spPr>
          <a:xfrm flipV="1">
            <a:off x="4768850" y="4476751"/>
            <a:ext cx="2533650" cy="20637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C2DA3B5-6D38-5442-B680-D7DFEAB6EB04}"/>
              </a:ext>
            </a:extLst>
          </p:cNvPr>
          <p:cNvSpPr/>
          <p:nvPr/>
        </p:nvSpPr>
        <p:spPr>
          <a:xfrm rot="5027913">
            <a:off x="5562601" y="4513263"/>
            <a:ext cx="144462" cy="144463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9D360BD4-502B-3648-BBED-947C942903B3}"/>
              </a:ext>
            </a:extLst>
          </p:cNvPr>
          <p:cNvSpPr/>
          <p:nvPr/>
        </p:nvSpPr>
        <p:spPr>
          <a:xfrm rot="5941755">
            <a:off x="5556251" y="4291013"/>
            <a:ext cx="144462" cy="144463"/>
          </a:xfrm>
          <a:prstGeom prst="triangl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761FA8-1CA4-2941-87D8-F2AECD6A577B}"/>
              </a:ext>
            </a:extLst>
          </p:cNvPr>
          <p:cNvCxnSpPr/>
          <p:nvPr/>
        </p:nvCxnSpPr>
        <p:spPr>
          <a:xfrm flipV="1">
            <a:off x="3040063" y="4737101"/>
            <a:ext cx="976312" cy="30163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4068C26-9670-9C4A-9DCF-6AA8B19E6693}"/>
              </a:ext>
            </a:extLst>
          </p:cNvPr>
          <p:cNvCxnSpPr/>
          <p:nvPr/>
        </p:nvCxnSpPr>
        <p:spPr>
          <a:xfrm>
            <a:off x="3089275" y="4184650"/>
            <a:ext cx="927100" cy="5715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D23D3CF-1ADC-AE46-BD0D-71019C0E704B}"/>
              </a:ext>
            </a:extLst>
          </p:cNvPr>
          <p:cNvCxnSpPr/>
          <p:nvPr/>
        </p:nvCxnSpPr>
        <p:spPr>
          <a:xfrm flipV="1">
            <a:off x="3998913" y="4686301"/>
            <a:ext cx="774700" cy="47625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41847CA-06F9-DA49-97E1-D91050F736CD}"/>
              </a:ext>
            </a:extLst>
          </p:cNvPr>
          <p:cNvSpPr txBox="1"/>
          <p:nvPr/>
        </p:nvSpPr>
        <p:spPr>
          <a:xfrm>
            <a:off x="1524000" y="-19050"/>
            <a:ext cx="9144000" cy="95408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rgbClr val="92D050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GB" sz="2800" b="1" dirty="0">
                <a:solidFill>
                  <a:schemeClr val="bg1"/>
                </a:solidFill>
              </a:rPr>
              <a:t>Light waves are pulled in by the </a:t>
            </a:r>
            <a:r>
              <a:rPr lang="en-GB" sz="2800" b="1" dirty="0">
                <a:solidFill>
                  <a:srgbClr val="FFC000"/>
                </a:solidFill>
              </a:rPr>
              <a:t>convex lens</a:t>
            </a:r>
            <a:r>
              <a:rPr lang="en-GB" sz="2800" b="1" dirty="0">
                <a:solidFill>
                  <a:schemeClr val="bg1"/>
                </a:solidFill>
              </a:rPr>
              <a:t> before entering the eye lens.</a:t>
            </a:r>
          </a:p>
        </p:txBody>
      </p:sp>
      <p:sp>
        <p:nvSpPr>
          <p:cNvPr id="62481" name="TextBox 35">
            <a:extLst>
              <a:ext uri="{FF2B5EF4-FFF2-40B4-BE49-F238E27FC236}">
                <a16:creationId xmlns:a16="http://schemas.microsoft.com/office/drawing/2014/main" id="{1521F3E0-3C3F-12AF-75E5-513634BA8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75" y="4071938"/>
            <a:ext cx="25923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Light is focused 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the retina giving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GB" altLang="en-US" sz="2000">
                <a:latin typeface="Segoe Print" panose="02000800000000000000" pitchFamily="2" charset="0"/>
              </a:rPr>
              <a:t>sharp image.</a:t>
            </a:r>
          </a:p>
        </p:txBody>
      </p:sp>
      <p:pic>
        <p:nvPicPr>
          <p:cNvPr id="62482" name="Picture 2" descr="How To Read 100 Pages A Day. It's much easier than you think. | by Tom  Stevenson | Mind Cafe | Medium">
            <a:extLst>
              <a:ext uri="{FF2B5EF4-FFF2-40B4-BE49-F238E27FC236}">
                <a16:creationId xmlns:a16="http://schemas.microsoft.com/office/drawing/2014/main" id="{72350B90-9D64-FE7A-3686-1176A77CF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965201"/>
            <a:ext cx="3492500" cy="232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713</Words>
  <Application>Microsoft Macintosh PowerPoint</Application>
  <PresentationFormat>Widescreen</PresentationFormat>
  <Paragraphs>113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Berlin Sans FB Demi</vt:lpstr>
      <vt:lpstr>Segoe Print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is light focused on the retina? </vt:lpstr>
      <vt:lpstr>Long sighted              Short sighted</vt:lpstr>
      <vt:lpstr>What does short sighted mean?</vt:lpstr>
      <vt:lpstr>What kind of lens can correct short-sightedness?</vt:lpstr>
      <vt:lpstr>What does long sighted mean</vt:lpstr>
      <vt:lpstr>What kind of lens can correct Long-sight?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Casey</dc:creator>
  <cp:lastModifiedBy>A Casey</cp:lastModifiedBy>
  <cp:revision>2</cp:revision>
  <dcterms:created xsi:type="dcterms:W3CDTF">2026-10-20T06:20:12Z</dcterms:created>
  <dcterms:modified xsi:type="dcterms:W3CDTF">2026-10-20T06:27:02Z</dcterms:modified>
</cp:coreProperties>
</file>