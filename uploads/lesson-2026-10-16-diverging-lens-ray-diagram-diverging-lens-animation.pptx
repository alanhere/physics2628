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36" r:id="rId2"/>
    <p:sldId id="337" r:id="rId3"/>
    <p:sldId id="339" r:id="rId4"/>
    <p:sldId id="340" r:id="rId5"/>
    <p:sldId id="341" r:id="rId6"/>
    <p:sldId id="342" r:id="rId7"/>
    <p:sldId id="349" r:id="rId8"/>
    <p:sldId id="351" r:id="rId9"/>
    <p:sldId id="338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5" d="100"/>
          <a:sy n="115" d="100"/>
        </p:scale>
        <p:origin x="496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05948C-843D-E344-9B8C-8720AF8FFEDE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A7E923-0FA2-0144-935E-017664105E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314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Slide Image Placeholder 1">
            <a:extLst>
              <a:ext uri="{FF2B5EF4-FFF2-40B4-BE49-F238E27FC236}">
                <a16:creationId xmlns:a16="http://schemas.microsoft.com/office/drawing/2014/main" id="{972C980C-19AB-F76B-9CF1-EAA8CC9EAE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6019" name="Notes Placeholder 2">
            <a:extLst>
              <a:ext uri="{FF2B5EF4-FFF2-40B4-BE49-F238E27FC236}">
                <a16:creationId xmlns:a16="http://schemas.microsoft.com/office/drawing/2014/main" id="{0CE70EE1-164A-22AE-D80E-37FB24A13B7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6020" name="Slide Number Placeholder 3">
            <a:extLst>
              <a:ext uri="{FF2B5EF4-FFF2-40B4-BE49-F238E27FC236}">
                <a16:creationId xmlns:a16="http://schemas.microsoft.com/office/drawing/2014/main" id="{06055A29-F38B-8A23-69E5-0C9C1E09CE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23C2BCD-B855-0949-AAF9-9A1FE4258B9D}" type="slidenum">
              <a:rPr lang="en-IE" altLang="en-US" sz="1200"/>
              <a:pPr eaLnBrk="1" hangingPunct="1"/>
              <a:t>1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>
            <a:extLst>
              <a:ext uri="{FF2B5EF4-FFF2-40B4-BE49-F238E27FC236}">
                <a16:creationId xmlns:a16="http://schemas.microsoft.com/office/drawing/2014/main" id="{635BAF69-D722-EB59-6AA4-109660328D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>
            <a:extLst>
              <a:ext uri="{FF2B5EF4-FFF2-40B4-BE49-F238E27FC236}">
                <a16:creationId xmlns:a16="http://schemas.microsoft.com/office/drawing/2014/main" id="{9DFA92BF-5B10-0BDA-075D-31C95B46DB2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7044" name="Slide Number Placeholder 3">
            <a:extLst>
              <a:ext uri="{FF2B5EF4-FFF2-40B4-BE49-F238E27FC236}">
                <a16:creationId xmlns:a16="http://schemas.microsoft.com/office/drawing/2014/main" id="{D8781677-B1B9-F123-B245-E4FFEDE48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1007400A-09FF-0543-9E5A-20C0DFF7FFB4}" type="slidenum">
              <a:rPr lang="en-IE" altLang="en-US" sz="1200"/>
              <a:pPr eaLnBrk="1" hangingPunct="1"/>
              <a:t>2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Slide Image Placeholder 1">
            <a:extLst>
              <a:ext uri="{FF2B5EF4-FFF2-40B4-BE49-F238E27FC236}">
                <a16:creationId xmlns:a16="http://schemas.microsoft.com/office/drawing/2014/main" id="{8E2D19A9-3EA8-73EE-F4A2-28672A0C375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8067" name="Notes Placeholder 2">
            <a:extLst>
              <a:ext uri="{FF2B5EF4-FFF2-40B4-BE49-F238E27FC236}">
                <a16:creationId xmlns:a16="http://schemas.microsoft.com/office/drawing/2014/main" id="{9375E7B1-F5DA-CC77-2E69-B4A742089BA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8068" name="Slide Number Placeholder 3">
            <a:extLst>
              <a:ext uri="{FF2B5EF4-FFF2-40B4-BE49-F238E27FC236}">
                <a16:creationId xmlns:a16="http://schemas.microsoft.com/office/drawing/2014/main" id="{1FF17A7F-19DB-8F9D-AFE2-6F024355EF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05CFD804-6DAA-B643-89DF-87342EB570B5}" type="slidenum">
              <a:rPr lang="en-IE" altLang="en-US" sz="1200"/>
              <a:pPr eaLnBrk="1" hangingPunct="1"/>
              <a:t>3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Slide Image Placeholder 1">
            <a:extLst>
              <a:ext uri="{FF2B5EF4-FFF2-40B4-BE49-F238E27FC236}">
                <a16:creationId xmlns:a16="http://schemas.microsoft.com/office/drawing/2014/main" id="{031F9E1F-AEC2-7F50-8476-5B4228472B1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1" name="Notes Placeholder 2">
            <a:extLst>
              <a:ext uri="{FF2B5EF4-FFF2-40B4-BE49-F238E27FC236}">
                <a16:creationId xmlns:a16="http://schemas.microsoft.com/office/drawing/2014/main" id="{CF11515C-C85C-1C1A-46FC-8ADAB59F698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89092" name="Slide Number Placeholder 3">
            <a:extLst>
              <a:ext uri="{FF2B5EF4-FFF2-40B4-BE49-F238E27FC236}">
                <a16:creationId xmlns:a16="http://schemas.microsoft.com/office/drawing/2014/main" id="{C2EF0C07-24F0-8084-5494-D62FD9BDB9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CA31427-8094-0747-A7AA-265F20B7D918}" type="slidenum">
              <a:rPr lang="en-IE" altLang="en-US" sz="1200"/>
              <a:pPr eaLnBrk="1" hangingPunct="1"/>
              <a:t>4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Slide Image Placeholder 1">
            <a:extLst>
              <a:ext uri="{FF2B5EF4-FFF2-40B4-BE49-F238E27FC236}">
                <a16:creationId xmlns:a16="http://schemas.microsoft.com/office/drawing/2014/main" id="{0513A724-BF78-343C-6542-E2EC2B9D33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0115" name="Notes Placeholder 2">
            <a:extLst>
              <a:ext uri="{FF2B5EF4-FFF2-40B4-BE49-F238E27FC236}">
                <a16:creationId xmlns:a16="http://schemas.microsoft.com/office/drawing/2014/main" id="{66E392FD-E00F-430A-E2FB-2D86744D930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90116" name="Slide Number Placeholder 3">
            <a:extLst>
              <a:ext uri="{FF2B5EF4-FFF2-40B4-BE49-F238E27FC236}">
                <a16:creationId xmlns:a16="http://schemas.microsoft.com/office/drawing/2014/main" id="{AF642554-8854-9CB7-FA53-99DB65B9C6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3419369B-9C36-3749-884A-B49DCFD14C96}" type="slidenum">
              <a:rPr lang="en-IE" altLang="en-US" sz="1200"/>
              <a:pPr eaLnBrk="1" hangingPunct="1"/>
              <a:t>5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>
            <a:extLst>
              <a:ext uri="{FF2B5EF4-FFF2-40B4-BE49-F238E27FC236}">
                <a16:creationId xmlns:a16="http://schemas.microsoft.com/office/drawing/2014/main" id="{5FCFEB17-4301-C6D2-98FF-59B4CD4DE83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>
            <a:extLst>
              <a:ext uri="{FF2B5EF4-FFF2-40B4-BE49-F238E27FC236}">
                <a16:creationId xmlns:a16="http://schemas.microsoft.com/office/drawing/2014/main" id="{52DD89C9-4418-5DF9-B4D8-845DB23F40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91140" name="Slide Number Placeholder 3">
            <a:extLst>
              <a:ext uri="{FF2B5EF4-FFF2-40B4-BE49-F238E27FC236}">
                <a16:creationId xmlns:a16="http://schemas.microsoft.com/office/drawing/2014/main" id="{77562B6E-7FE5-95EF-595D-1B776AF7E7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F9B74A9-0A84-BF42-BBFC-B01B31A4BDE2}" type="slidenum">
              <a:rPr lang="en-IE" altLang="en-US" sz="1200"/>
              <a:pPr eaLnBrk="1" hangingPunct="1"/>
              <a:t>6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Slide Image Placeholder 1">
            <a:extLst>
              <a:ext uri="{FF2B5EF4-FFF2-40B4-BE49-F238E27FC236}">
                <a16:creationId xmlns:a16="http://schemas.microsoft.com/office/drawing/2014/main" id="{B7D83B90-1099-FC10-A374-DFBEF95263A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2163" name="Notes Placeholder 2">
            <a:extLst>
              <a:ext uri="{FF2B5EF4-FFF2-40B4-BE49-F238E27FC236}">
                <a16:creationId xmlns:a16="http://schemas.microsoft.com/office/drawing/2014/main" id="{1C4E8130-C571-413F-653C-3524DF1AA4B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92164" name="Slide Number Placeholder 3">
            <a:extLst>
              <a:ext uri="{FF2B5EF4-FFF2-40B4-BE49-F238E27FC236}">
                <a16:creationId xmlns:a16="http://schemas.microsoft.com/office/drawing/2014/main" id="{4696E034-670C-71CE-9674-C282FBF177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24FC46FA-5551-9745-BFB4-F2BFCE3519F9}" type="slidenum">
              <a:rPr lang="en-IE" altLang="en-US" sz="1200"/>
              <a:pPr eaLnBrk="1" hangingPunct="1"/>
              <a:t>7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>
            <a:extLst>
              <a:ext uri="{FF2B5EF4-FFF2-40B4-BE49-F238E27FC236}">
                <a16:creationId xmlns:a16="http://schemas.microsoft.com/office/drawing/2014/main" id="{E7CB25BE-36F9-2221-B105-6F4D482E4BA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>
            <a:extLst>
              <a:ext uri="{FF2B5EF4-FFF2-40B4-BE49-F238E27FC236}">
                <a16:creationId xmlns:a16="http://schemas.microsoft.com/office/drawing/2014/main" id="{5B0D6E8F-6251-852D-149B-6861004808D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93188" name="Slide Number Placeholder 3">
            <a:extLst>
              <a:ext uri="{FF2B5EF4-FFF2-40B4-BE49-F238E27FC236}">
                <a16:creationId xmlns:a16="http://schemas.microsoft.com/office/drawing/2014/main" id="{0E607E93-17E2-7AB2-C0F1-9CE42A7BB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62275C4C-C418-1D41-8DF2-0D4C0EA9DFCF}" type="slidenum">
              <a:rPr lang="en-IE" altLang="en-US" sz="1200"/>
              <a:pPr eaLnBrk="1" hangingPunct="1"/>
              <a:t>8</a:t>
            </a:fld>
            <a:endParaRPr lang="en-IE" altLang="en-US" sz="12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Slide Image Placeholder 1">
            <a:extLst>
              <a:ext uri="{FF2B5EF4-FFF2-40B4-BE49-F238E27FC236}">
                <a16:creationId xmlns:a16="http://schemas.microsoft.com/office/drawing/2014/main" id="{4120865C-0870-75CB-259A-A27F396C88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4211" name="Notes Placeholder 2">
            <a:extLst>
              <a:ext uri="{FF2B5EF4-FFF2-40B4-BE49-F238E27FC236}">
                <a16:creationId xmlns:a16="http://schemas.microsoft.com/office/drawing/2014/main" id="{1DE80024-C764-A207-B978-96B7E40480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IE" altLang="en-US"/>
          </a:p>
        </p:txBody>
      </p:sp>
      <p:sp>
        <p:nvSpPr>
          <p:cNvPr id="94212" name="Slide Number Placeholder 3">
            <a:extLst>
              <a:ext uri="{FF2B5EF4-FFF2-40B4-BE49-F238E27FC236}">
                <a16:creationId xmlns:a16="http://schemas.microsoft.com/office/drawing/2014/main" id="{751F52BE-4107-3149-F672-0286BF3301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fld id="{8467CE5A-4FB4-414E-96D7-68045CE88550}" type="slidenum">
              <a:rPr lang="en-IE" altLang="en-US" sz="1200"/>
              <a:pPr eaLnBrk="1" hangingPunct="1"/>
              <a:t>9</a:t>
            </a:fld>
            <a:endParaRPr lang="en-IE" alt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51E3-8D46-7A12-507A-D490AEBE99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B373C-C571-8298-D339-39CBD4ECE7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2CF010-8CC7-5D1B-71E3-4F174376C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5D43F-403B-7158-BFFE-B47103CB2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4A0C3-C073-9AD9-A8BB-D2AB13301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69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189C9-B5FE-A0D2-E893-9732F1EA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9D8B7-2FA9-C0E6-9867-470E57E0DC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941F88-8828-CFD6-46A7-7B9D42CB2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6E5FA6-6570-333A-1FC0-5B103972E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45D98E-5E71-5D55-F8A1-0F11A040B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9856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44ED5-D818-E3EC-6259-4EFDA908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99F553-130B-C8BF-84AD-E9E44528A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B037EC-BA30-56DB-2FDF-ED6587232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0A5114-86E5-08E1-6A63-CCFF74F08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CC1C3-1E59-D622-EDFC-3A0E5617B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118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8D45-1CDB-6409-7F39-112DD10D4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8BF03-92C1-DDA1-3BC2-E0854579E2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6B5F52-8731-F510-E124-4D7C69F85D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F32FC-EA2B-222D-A520-FFDE58B2C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3DE20C-8714-1FAE-A794-701224F62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344093-EF72-63DA-ADF5-603F77C8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529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D43E4E-D2D1-3AF0-545C-94C45F8E1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0D93AA-836F-7460-FFEE-739AC6DBB8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650E8F-BD4D-792D-38C4-4D8EE0813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4B5801-F1EB-14F3-C6FC-0BA93DE561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353955-9B5D-90CA-7E87-EF56949147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965116-FE94-C4E8-1E7A-643886486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66D171-E718-0122-3F08-7E37BC1AC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185455-A43F-CA10-7FEB-A3DB05546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3980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70119-9AFE-4E18-A9AE-C95EED743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35153-905E-9FDA-AEAB-93C57506D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BBE7D-982B-B5D2-26F9-775C21A11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DA9D69-534E-ECC2-2F8B-2A8ED9EB2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225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B71D04-61C2-B0C7-B4F9-967291764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8E8C07-1A23-05AA-909B-F0714DCCC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62281-4E22-20D0-E103-F67FC7801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54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118FA-63BD-5EEC-2CBA-E482490FB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31166-7687-15CB-5B9C-33EDBA0C3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77BA4-D3BA-7815-DAA7-9639080F39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DFF653-802D-D011-C8E7-3FF3CF35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443EB-66A6-F1B4-05D9-296F376943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963A0D-73B4-4529-4EF9-B23BD5CBBC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2477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0FA9F-82B1-07DC-C3AE-C474C57DE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FBC08-2022-B67A-E986-29ED5DBE203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B13D6F-528E-3DB4-0F0D-4952DC298A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1009F-CA6D-B1B1-79DC-9F4B79B09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DAFDC-7F07-5E01-9869-58023D5B90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2291F7-34A2-0CAD-48F6-72F8F9500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230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6EC5-38E2-FE5F-DC0B-23BF5913B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18A302-0C62-76E0-51E2-963A72FCA9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6BD10-4956-2EF1-61E9-8CA4B4B1F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2D0D34-0AD6-7DB6-6545-365073BA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8FF5B4-8AF2-571D-1807-E966C056C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0712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694C16-7A07-49E1-FF3C-1B66116BF3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87B361-EC48-819B-96F2-D0EAD5DC65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E1EE4-FEC8-D41B-2CED-D4F6CCF53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3680C-2C04-8327-0FDE-84C44652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98A99-65B6-1541-C3EA-5EC639CD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180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FCFEA0-5CE5-B13F-CD1E-CA691B5A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0C19B-B072-A7B9-88FB-487BFA3CC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DB255-6C22-359E-228D-D0A8DFDCA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CEFBD-29E9-464C-BC81-8647D8CC50AD}" type="datetimeFigureOut">
              <a:rPr lang="en-US" smtClean="0"/>
              <a:t>10/19/26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459CF-80A0-2915-5B0A-28E62AEA9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25659-0593-5627-0F39-6445707FE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65173-692B-5144-9280-22D84CB79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37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hyperlink" Target="file:///C:/Users/Jgreally/Desktop/New%20Physics%202011-2012/Chapter%2005%20-%20Lenses/DivergingLens.mpeg" TargetMode="Externa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oleObject" Target="../embeddings/oleObject1.bin"/><Relationship Id="rId4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>
            <a:extLst>
              <a:ext uri="{FF2B5EF4-FFF2-40B4-BE49-F238E27FC236}">
                <a16:creationId xmlns:a16="http://schemas.microsoft.com/office/drawing/2014/main" id="{0E90D343-210D-8990-B043-B9C0F2146A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124200" y="457200"/>
            <a:ext cx="6019800" cy="914400"/>
          </a:xfrm>
          <a:noFill/>
        </p:spPr>
        <p:txBody>
          <a:bodyPr/>
          <a:lstStyle/>
          <a:p>
            <a:pPr eaLnBrk="1" hangingPunct="1"/>
            <a:r>
              <a:rPr lang="en-GB" altLang="en-US"/>
              <a:t>Diverging Lenses</a:t>
            </a:r>
          </a:p>
        </p:txBody>
      </p:sp>
      <p:sp>
        <p:nvSpPr>
          <p:cNvPr id="91139" name="Text Box 3">
            <a:extLst>
              <a:ext uri="{FF2B5EF4-FFF2-40B4-BE49-F238E27FC236}">
                <a16:creationId xmlns:a16="http://schemas.microsoft.com/office/drawing/2014/main" id="{47E38E83-6084-67BC-1C36-2D77D74586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1981200"/>
            <a:ext cx="7467600" cy="173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600" dirty="0"/>
              <a:t>“Diverging” means “ spreading out”. A diverging lens spreads out parallel rays of light.  </a:t>
            </a:r>
          </a:p>
        </p:txBody>
      </p:sp>
      <p:pic>
        <p:nvPicPr>
          <p:cNvPr id="91140" name="Picture 4" descr="Lenses - Textbook1(lo) rotated">
            <a:extLst>
              <a:ext uri="{FF2B5EF4-FFF2-40B4-BE49-F238E27FC236}">
                <a16:creationId xmlns:a16="http://schemas.microsoft.com/office/drawing/2014/main" id="{D2080479-2036-3E7E-628F-AF25EA578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95" t="4962" r="5263" b="55348"/>
          <a:stretch>
            <a:fillRect/>
          </a:stretch>
        </p:blipFill>
        <p:spPr bwMode="auto">
          <a:xfrm>
            <a:off x="1919288" y="3860801"/>
            <a:ext cx="3657600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1141" name="Picture 5" descr="Spotlight 9 P61 - Conv &amp; Diverg lens (lo)">
            <a:extLst>
              <a:ext uri="{FF2B5EF4-FFF2-40B4-BE49-F238E27FC236}">
                <a16:creationId xmlns:a16="http://schemas.microsoft.com/office/drawing/2014/main" id="{AEAAA75D-37DC-9B56-F132-FD486D6AB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529"/>
          <a:stretch>
            <a:fillRect/>
          </a:stretch>
        </p:blipFill>
        <p:spPr bwMode="auto">
          <a:xfrm>
            <a:off x="6686550" y="3860801"/>
            <a:ext cx="3657600" cy="244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Action Button: Movie 1">
            <a:hlinkClick r:id="rId5" action="ppaction://hlinkfile" highlightClick="1"/>
            <a:extLst>
              <a:ext uri="{FF2B5EF4-FFF2-40B4-BE49-F238E27FC236}">
                <a16:creationId xmlns:a16="http://schemas.microsoft.com/office/drawing/2014/main" id="{BBF22974-998F-3BF3-9AC2-BB4130FCB4FC}"/>
              </a:ext>
            </a:extLst>
          </p:cNvPr>
          <p:cNvSpPr/>
          <p:nvPr/>
        </p:nvSpPr>
        <p:spPr>
          <a:xfrm>
            <a:off x="5735638" y="6092826"/>
            <a:ext cx="806450" cy="576263"/>
          </a:xfrm>
          <a:prstGeom prst="actionButtonMovi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E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1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91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38" grpId="0" autoUpdateAnimBg="0"/>
      <p:bldP spid="91139" grpId="0" autoUpdateAnimBg="0"/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2">
            <a:extLst>
              <a:ext uri="{FF2B5EF4-FFF2-40B4-BE49-F238E27FC236}">
                <a16:creationId xmlns:a16="http://schemas.microsoft.com/office/drawing/2014/main" id="{F8A43E55-DC3D-0882-6FF3-AEE05131E5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5410201"/>
            <a:ext cx="6934200" cy="1190625"/>
          </a:xfrm>
          <a:prstGeom prst="rect">
            <a:avLst/>
          </a:prstGeom>
          <a:solidFill>
            <a:srgbClr val="99FFCC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GB" altLang="en-US" sz="3600">
                <a:solidFill>
                  <a:srgbClr val="010000"/>
                </a:solidFill>
              </a:rPr>
              <a:t>Everything appears smaller when viewed through a diverging lens.</a:t>
            </a:r>
          </a:p>
        </p:txBody>
      </p:sp>
      <p:pic>
        <p:nvPicPr>
          <p:cNvPr id="92163" name="Picture 3" descr="Dice - Both types of Lenses1(Lo)">
            <a:extLst>
              <a:ext uri="{FF2B5EF4-FFF2-40B4-BE49-F238E27FC236}">
                <a16:creationId xmlns:a16="http://schemas.microsoft.com/office/drawing/2014/main" id="{A792DCCD-98CC-361E-E29B-FADE9997AA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2" t="47974" r="3139" b="12048"/>
          <a:stretch>
            <a:fillRect/>
          </a:stretch>
        </p:blipFill>
        <p:spPr bwMode="auto">
          <a:xfrm>
            <a:off x="2135188" y="2354264"/>
            <a:ext cx="3276600" cy="289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64" name="Rectangle 4">
            <a:extLst>
              <a:ext uri="{FF2B5EF4-FFF2-40B4-BE49-F238E27FC236}">
                <a16:creationId xmlns:a16="http://schemas.microsoft.com/office/drawing/2014/main" id="{2AB28203-557C-BE55-354D-E5BC04B375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81000"/>
            <a:ext cx="7772400" cy="1447800"/>
          </a:xfrm>
          <a:solidFill>
            <a:srgbClr val="FFFF99"/>
          </a:solidFill>
        </p:spPr>
        <p:txBody>
          <a:bodyPr/>
          <a:lstStyle/>
          <a:p>
            <a:pPr eaLnBrk="1" hangingPunct="1"/>
            <a:r>
              <a:rPr lang="en-GB" altLang="en-US">
                <a:solidFill>
                  <a:schemeClr val="tx1"/>
                </a:solidFill>
              </a:rPr>
              <a:t>Looking through a Diverging Lens</a:t>
            </a:r>
          </a:p>
        </p:txBody>
      </p:sp>
      <p:pic>
        <p:nvPicPr>
          <p:cNvPr id="37893" name="Picture 5">
            <a:extLst>
              <a:ext uri="{FF2B5EF4-FFF2-40B4-BE49-F238E27FC236}">
                <a16:creationId xmlns:a16="http://schemas.microsoft.com/office/drawing/2014/main" id="{81062A1C-39DB-0B78-0019-15A482CDB4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151" y="2582863"/>
            <a:ext cx="3243263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2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2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9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62" grpId="0" animBg="1" autoUpdateAnimBg="0"/>
      <p:bldP spid="92164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3E5FEE13-A8AF-0159-E539-3DF46FAAA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/>
              <a:t>Important Rays for </a:t>
            </a:r>
            <a:br>
              <a:rPr lang="en-IE" altLang="en-US"/>
            </a:br>
            <a:r>
              <a:rPr lang="en-IE" altLang="en-US"/>
              <a:t>Di</a:t>
            </a:r>
            <a:r>
              <a:rPr lang="en-GB" altLang="en-US"/>
              <a:t>verging Lens</a:t>
            </a:r>
            <a:r>
              <a:rPr lang="en-IE" altLang="en-US"/>
              <a:t>es</a:t>
            </a:r>
            <a:endParaRPr lang="en-GB" altLang="en-US"/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4A52EB96-51ED-B2EE-873F-EA5F45ED83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1200" y="2732088"/>
            <a:ext cx="8001000" cy="3592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3B93FD9-64D9-5843-8E51-8229AB74A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/>
              <a:t>Important Rays for </a:t>
            </a:r>
            <a:br>
              <a:rPr lang="en-IE" altLang="en-US"/>
            </a:br>
            <a:r>
              <a:rPr lang="en-IE" altLang="en-US"/>
              <a:t>Di</a:t>
            </a:r>
            <a:r>
              <a:rPr lang="en-GB" altLang="en-US"/>
              <a:t>verging Lens</a:t>
            </a:r>
            <a:r>
              <a:rPr lang="en-IE" altLang="en-US"/>
              <a:t>es</a:t>
            </a:r>
            <a:endParaRPr lang="en-GB" altLang="en-US"/>
          </a:p>
        </p:txBody>
      </p:sp>
      <p:pic>
        <p:nvPicPr>
          <p:cNvPr id="39939" name="Picture 3">
            <a:extLst>
              <a:ext uri="{FF2B5EF4-FFF2-40B4-BE49-F238E27FC236}">
                <a16:creationId xmlns:a16="http://schemas.microsoft.com/office/drawing/2014/main" id="{2DBE8DF2-A3E3-A662-CB48-690262A22B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2662238"/>
            <a:ext cx="7234238" cy="320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AD23988B-FC57-0FFC-DBF5-8EA9880297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/>
              <a:t>Important Rays for </a:t>
            </a:r>
            <a:br>
              <a:rPr lang="en-IE" altLang="en-US"/>
            </a:br>
            <a:r>
              <a:rPr lang="en-IE" altLang="en-US"/>
              <a:t>Di</a:t>
            </a:r>
            <a:r>
              <a:rPr lang="en-GB" altLang="en-US"/>
              <a:t>verging Lens</a:t>
            </a:r>
            <a:r>
              <a:rPr lang="en-IE" altLang="en-US"/>
              <a:t>es</a:t>
            </a:r>
            <a:endParaRPr lang="en-GB" altLang="en-US"/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id="{14ADE789-6AF5-6E01-C708-3FAB1EF3FC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7414" y="2360614"/>
            <a:ext cx="7748587" cy="343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D0A02E92-65E3-3494-5865-186C6E7E75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IE" altLang="en-US"/>
              <a:t>Important Rays for </a:t>
            </a:r>
            <a:br>
              <a:rPr lang="en-IE" altLang="en-US"/>
            </a:br>
            <a:r>
              <a:rPr lang="en-IE" altLang="en-US"/>
              <a:t>Di</a:t>
            </a:r>
            <a:r>
              <a:rPr lang="en-GB" altLang="en-US"/>
              <a:t>verging Lens</a:t>
            </a:r>
            <a:r>
              <a:rPr lang="en-IE" altLang="en-US"/>
              <a:t>es</a:t>
            </a:r>
            <a:endParaRPr lang="en-GB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A38E138-4897-497C-8FCC-8C820C65A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46064"/>
            <a:ext cx="91440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E" altLang="en-US"/>
          </a:p>
        </p:txBody>
      </p:sp>
      <p:grpSp>
        <p:nvGrpSpPr>
          <p:cNvPr id="43012" name="Group 4">
            <a:extLst>
              <a:ext uri="{FF2B5EF4-FFF2-40B4-BE49-F238E27FC236}">
                <a16:creationId xmlns:a16="http://schemas.microsoft.com/office/drawing/2014/main" id="{77493DC3-3DDE-E54D-8C40-E8FF889C78A4}"/>
              </a:ext>
            </a:extLst>
          </p:cNvPr>
          <p:cNvGrpSpPr>
            <a:grpSpLocks/>
          </p:cNvGrpSpPr>
          <p:nvPr/>
        </p:nvGrpSpPr>
        <p:grpSpPr bwMode="auto">
          <a:xfrm>
            <a:off x="1752600" y="246069"/>
            <a:ext cx="8686800" cy="461963"/>
            <a:chOff x="0" y="2858"/>
            <a:chExt cx="5472" cy="291"/>
          </a:xfrm>
        </p:grpSpPr>
        <p:sp>
          <p:nvSpPr>
            <p:cNvPr id="43014" name="Rectangle 5">
              <a:extLst>
                <a:ext uri="{FF2B5EF4-FFF2-40B4-BE49-F238E27FC236}">
                  <a16:creationId xmlns:a16="http://schemas.microsoft.com/office/drawing/2014/main" id="{5DFFDC7A-F7B4-CE10-ADF3-3E91C496E9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58"/>
              <a:ext cx="54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  <p:sp>
          <p:nvSpPr>
            <p:cNvPr id="43015" name="Rectangle 6">
              <a:extLst>
                <a:ext uri="{FF2B5EF4-FFF2-40B4-BE49-F238E27FC236}">
                  <a16:creationId xmlns:a16="http://schemas.microsoft.com/office/drawing/2014/main" id="{D80BB32F-BB2D-A899-C530-467BAAA85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858"/>
              <a:ext cx="5472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endParaRPr lang="en-IE" altLang="en-US"/>
            </a:p>
          </p:txBody>
        </p:sp>
      </p:grpSp>
      <p:pic>
        <p:nvPicPr>
          <p:cNvPr id="43013" name="Picture 7" descr="http://www.saburchill.com/physics/images5/04010303.jpg">
            <a:extLst>
              <a:ext uri="{FF2B5EF4-FFF2-40B4-BE49-F238E27FC236}">
                <a16:creationId xmlns:a16="http://schemas.microsoft.com/office/drawing/2014/main" id="{FBC1A7E4-314F-25CB-46D8-D6A79C0C5C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2362200"/>
            <a:ext cx="7391400" cy="41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2">
            <a:extLst>
              <a:ext uri="{FF2B5EF4-FFF2-40B4-BE49-F238E27FC236}">
                <a16:creationId xmlns:a16="http://schemas.microsoft.com/office/drawing/2014/main" id="{2BD4758E-647F-3B1C-B3A0-05B32E046B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3733800" cy="1143000"/>
          </a:xfrm>
          <a:noFill/>
        </p:spPr>
        <p:txBody>
          <a:bodyPr/>
          <a:lstStyle/>
          <a:p>
            <a:pPr eaLnBrk="1" hangingPunct="1"/>
            <a:r>
              <a:rPr lang="en-GB" altLang="en-US" sz="3200"/>
              <a:t>Diverging Lens :</a:t>
            </a:r>
            <a:r>
              <a:rPr lang="en-IE" altLang="en-US" sz="3200"/>
              <a:t> </a:t>
            </a:r>
            <a:br>
              <a:rPr lang="en-IE" altLang="en-US" sz="3200"/>
            </a:br>
            <a:r>
              <a:rPr lang="en-GB" altLang="en-US" sz="3200"/>
              <a:t>Only 1 case</a:t>
            </a:r>
          </a:p>
        </p:txBody>
      </p:sp>
      <p:sp>
        <p:nvSpPr>
          <p:cNvPr id="104452" name="Text Box 4">
            <a:extLst>
              <a:ext uri="{FF2B5EF4-FFF2-40B4-BE49-F238E27FC236}">
                <a16:creationId xmlns:a16="http://schemas.microsoft.com/office/drawing/2014/main" id="{8D8D3806-6518-380D-094B-8D4023B2E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783263"/>
            <a:ext cx="8915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/>
              <a:t>No matter where the object O is placed, </a:t>
            </a:r>
          </a:p>
          <a:p>
            <a:pPr eaLnBrk="1" hangingPunct="1"/>
            <a:r>
              <a:rPr lang="en-IE" altLang="en-US" sz="3200" b="1"/>
              <a:t>the image is always </a:t>
            </a:r>
            <a:r>
              <a:rPr lang="en-IE" altLang="en-US" sz="3200" b="1" u="sng"/>
              <a:t>virtual</a:t>
            </a:r>
            <a:r>
              <a:rPr lang="en-IE" altLang="en-US" sz="3200" b="1"/>
              <a:t>, </a:t>
            </a:r>
            <a:r>
              <a:rPr lang="en-IE" altLang="en-US" sz="3200" b="1" u="sng"/>
              <a:t>erect</a:t>
            </a:r>
            <a:r>
              <a:rPr lang="en-IE" altLang="en-US" sz="3200" b="1"/>
              <a:t> and </a:t>
            </a:r>
            <a:r>
              <a:rPr lang="en-IE" altLang="en-US" sz="3200" b="1" u="sng"/>
              <a:t>diminished</a:t>
            </a:r>
            <a:r>
              <a:rPr lang="en-IE" altLang="en-US" sz="3200" b="1"/>
              <a:t>.</a:t>
            </a:r>
          </a:p>
        </p:txBody>
      </p:sp>
      <p:pic>
        <p:nvPicPr>
          <p:cNvPr id="104454" name="Picture 6" descr="Parchment">
            <a:extLst>
              <a:ext uri="{FF2B5EF4-FFF2-40B4-BE49-F238E27FC236}">
                <a16:creationId xmlns:a16="http://schemas.microsoft.com/office/drawing/2014/main" id="{153A64B1-D835-87E3-EF93-2B65E23191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2" r="16037"/>
          <a:stretch>
            <a:fillRect/>
          </a:stretch>
        </p:blipFill>
        <p:spPr bwMode="auto">
          <a:xfrm>
            <a:off x="1828800" y="1371600"/>
            <a:ext cx="8534400" cy="4495800"/>
          </a:xfrm>
          <a:prstGeom prst="rect">
            <a:avLst/>
          </a:prstGeom>
          <a:blipFill dpi="0" rotWithShape="0">
            <a:blip r:embed="rId4"/>
            <a:srcRect l="16982" r="16037"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7">
            <a:extLst>
              <a:ext uri="{FF2B5EF4-FFF2-40B4-BE49-F238E27FC236}">
                <a16:creationId xmlns:a16="http://schemas.microsoft.com/office/drawing/2014/main" id="{D6067E67-484D-482A-C63B-18FA06AAEFE5}"/>
              </a:ext>
            </a:extLst>
          </p:cNvPr>
          <p:cNvGrpSpPr>
            <a:grpSpLocks/>
          </p:cNvGrpSpPr>
          <p:nvPr/>
        </p:nvGrpSpPr>
        <p:grpSpPr bwMode="auto">
          <a:xfrm>
            <a:off x="3886201" y="1524000"/>
            <a:ext cx="601663" cy="2057400"/>
            <a:chOff x="432" y="1267"/>
            <a:chExt cx="444" cy="893"/>
          </a:xfrm>
        </p:grpSpPr>
        <p:sp>
          <p:nvSpPr>
            <p:cNvPr id="44054" name="Line 8">
              <a:extLst>
                <a:ext uri="{FF2B5EF4-FFF2-40B4-BE49-F238E27FC236}">
                  <a16:creationId xmlns:a16="http://schemas.microsoft.com/office/drawing/2014/main" id="{DCD066BF-E6FA-5168-6440-971CAF1BEB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55" name="Text Box 9">
              <a:extLst>
                <a:ext uri="{FF2B5EF4-FFF2-40B4-BE49-F238E27FC236}">
                  <a16:creationId xmlns:a16="http://schemas.microsoft.com/office/drawing/2014/main" id="{B1ED2532-31CF-3A62-8133-A0664FA85C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4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 O</a:t>
              </a:r>
            </a:p>
          </p:txBody>
        </p:sp>
      </p:grpSp>
      <p:grpSp>
        <p:nvGrpSpPr>
          <p:cNvPr id="3" name="Group 33">
            <a:extLst>
              <a:ext uri="{FF2B5EF4-FFF2-40B4-BE49-F238E27FC236}">
                <a16:creationId xmlns:a16="http://schemas.microsoft.com/office/drawing/2014/main" id="{0B87A7E0-0B4E-94D8-27F5-01116E3F2EDD}"/>
              </a:ext>
            </a:extLst>
          </p:cNvPr>
          <p:cNvGrpSpPr>
            <a:grpSpLocks/>
          </p:cNvGrpSpPr>
          <p:nvPr/>
        </p:nvGrpSpPr>
        <p:grpSpPr bwMode="auto">
          <a:xfrm>
            <a:off x="4267201" y="-212725"/>
            <a:ext cx="3776663" cy="3124200"/>
            <a:chOff x="1728" y="-134"/>
            <a:chExt cx="2379" cy="1968"/>
          </a:xfrm>
        </p:grpSpPr>
        <p:grpSp>
          <p:nvGrpSpPr>
            <p:cNvPr id="44050" name="Group 21">
              <a:extLst>
                <a:ext uri="{FF2B5EF4-FFF2-40B4-BE49-F238E27FC236}">
                  <a16:creationId xmlns:a16="http://schemas.microsoft.com/office/drawing/2014/main" id="{A8E62668-71AA-DBED-AC69-4F9D9E56B350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728" y="1381"/>
              <a:ext cx="864" cy="48"/>
              <a:chOff x="672" y="1968"/>
              <a:chExt cx="1680" cy="0"/>
            </a:xfrm>
          </p:grpSpPr>
          <p:sp>
            <p:nvSpPr>
              <p:cNvPr id="44052" name="Line 22">
                <a:extLst>
                  <a:ext uri="{FF2B5EF4-FFF2-40B4-BE49-F238E27FC236}">
                    <a16:creationId xmlns:a16="http://schemas.microsoft.com/office/drawing/2014/main" id="{12412926-6AAD-0D8D-08EA-DEB7FB765E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96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53" name="Line 23">
                <a:extLst>
                  <a:ext uri="{FF2B5EF4-FFF2-40B4-BE49-F238E27FC236}">
                    <a16:creationId xmlns:a16="http://schemas.microsoft.com/office/drawing/2014/main" id="{0ECF0DD8-BE45-E0F1-791A-218386202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968"/>
                <a:ext cx="10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4051" name="Line 24">
              <a:extLst>
                <a:ext uri="{FF2B5EF4-FFF2-40B4-BE49-F238E27FC236}">
                  <a16:creationId xmlns:a16="http://schemas.microsoft.com/office/drawing/2014/main" id="{F614EEEA-17BF-E408-2F04-90A01A56978B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 flipV="1">
              <a:off x="2996" y="-134"/>
              <a:ext cx="1111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26">
            <a:extLst>
              <a:ext uri="{FF2B5EF4-FFF2-40B4-BE49-F238E27FC236}">
                <a16:creationId xmlns:a16="http://schemas.microsoft.com/office/drawing/2014/main" id="{B5FFD385-29E1-FF2B-2ADE-DDAED764A506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09800"/>
            <a:ext cx="4648200" cy="3962400"/>
            <a:chOff x="624" y="1968"/>
            <a:chExt cx="5136" cy="1920"/>
          </a:xfrm>
        </p:grpSpPr>
        <p:sp>
          <p:nvSpPr>
            <p:cNvPr id="44048" name="Line 27">
              <a:extLst>
                <a:ext uri="{FF2B5EF4-FFF2-40B4-BE49-F238E27FC236}">
                  <a16:creationId xmlns:a16="http://schemas.microsoft.com/office/drawing/2014/main" id="{C11CCA07-38D5-41F0-54E8-EF8F1291D9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968"/>
              <a:ext cx="5136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049" name="Line 28">
              <a:extLst>
                <a:ext uri="{FF2B5EF4-FFF2-40B4-BE49-F238E27FC236}">
                  <a16:creationId xmlns:a16="http://schemas.microsoft.com/office/drawing/2014/main" id="{8B844FC2-60C1-2347-087C-A13BCC6450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064"/>
              <a:ext cx="72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477" name="Line 29">
            <a:extLst>
              <a:ext uri="{FF2B5EF4-FFF2-40B4-BE49-F238E27FC236}">
                <a16:creationId xmlns:a16="http://schemas.microsoft.com/office/drawing/2014/main" id="{9DFFE987-324B-D4DD-9AE4-5825F3DEC81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119313"/>
            <a:ext cx="2286000" cy="15240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39">
            <a:extLst>
              <a:ext uri="{FF2B5EF4-FFF2-40B4-BE49-F238E27FC236}">
                <a16:creationId xmlns:a16="http://schemas.microsoft.com/office/drawing/2014/main" id="{618FF774-9C19-B5CD-FC77-F6CE15376117}"/>
              </a:ext>
            </a:extLst>
          </p:cNvPr>
          <p:cNvGrpSpPr>
            <a:grpSpLocks/>
          </p:cNvGrpSpPr>
          <p:nvPr/>
        </p:nvGrpSpPr>
        <p:grpSpPr bwMode="auto">
          <a:xfrm>
            <a:off x="4762500" y="2163764"/>
            <a:ext cx="342900" cy="1417637"/>
            <a:chOff x="2040" y="1363"/>
            <a:chExt cx="216" cy="893"/>
          </a:xfrm>
        </p:grpSpPr>
        <p:sp>
          <p:nvSpPr>
            <p:cNvPr id="44046" name="Text Box 31">
              <a:extLst>
                <a:ext uri="{FF2B5EF4-FFF2-40B4-BE49-F238E27FC236}">
                  <a16:creationId xmlns:a16="http://schemas.microsoft.com/office/drawing/2014/main" id="{7C43FF00-73AE-B839-0357-CB261C6ED6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363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>
                  <a:solidFill>
                    <a:srgbClr val="FF3300"/>
                  </a:solidFill>
                </a:rPr>
                <a:t>I</a:t>
              </a:r>
            </a:p>
          </p:txBody>
        </p:sp>
        <p:sp>
          <p:nvSpPr>
            <p:cNvPr id="44047" name="Line 32">
              <a:extLst>
                <a:ext uri="{FF2B5EF4-FFF2-40B4-BE49-F238E27FC236}">
                  <a16:creationId xmlns:a16="http://schemas.microsoft.com/office/drawing/2014/main" id="{8788CDDB-80C2-00B5-6148-07817BFBD7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680"/>
              <a:ext cx="0" cy="57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prstDash val="sysDot"/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C499C519-3921-8946-56FF-191C59D8DF33}"/>
              </a:ext>
            </a:extLst>
          </p:cNvPr>
          <p:cNvGrpSpPr>
            <a:grpSpLocks/>
          </p:cNvGrpSpPr>
          <p:nvPr/>
        </p:nvGrpSpPr>
        <p:grpSpPr bwMode="auto">
          <a:xfrm>
            <a:off x="3352801" y="3581400"/>
            <a:ext cx="5349875" cy="457200"/>
            <a:chOff x="1152" y="2256"/>
            <a:chExt cx="3370" cy="288"/>
          </a:xfrm>
        </p:grpSpPr>
        <p:sp>
          <p:nvSpPr>
            <p:cNvPr id="44044" name="Text Box 35">
              <a:extLst>
                <a:ext uri="{FF2B5EF4-FFF2-40B4-BE49-F238E27FC236}">
                  <a16:creationId xmlns:a16="http://schemas.microsoft.com/office/drawing/2014/main" id="{C36EF84A-51B2-F441-F97B-0D7EC8A964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5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44045" name="Text Box 37">
              <a:extLst>
                <a:ext uri="{FF2B5EF4-FFF2-40B4-BE49-F238E27FC236}">
                  <a16:creationId xmlns:a16="http://schemas.microsoft.com/office/drawing/2014/main" id="{96089341-60A7-491B-1A30-870FF9F5A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25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</p:grpSp>
      <p:graphicFrame>
        <p:nvGraphicFramePr>
          <p:cNvPr id="104488" name="Object 40">
            <a:extLst>
              <a:ext uri="{FF2B5EF4-FFF2-40B4-BE49-F238E27FC236}">
                <a16:creationId xmlns:a16="http://schemas.microsoft.com/office/drawing/2014/main" id="{D7F64D06-6CDC-FA47-01CB-E04847E363C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991600" y="152400"/>
          <a:ext cx="1600200" cy="6172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342900" imgH="184150" progId="Photoshop.Image.5">
                  <p:embed/>
                </p:oleObj>
              </mc:Choice>
              <mc:Fallback>
                <p:oleObj name="Image" r:id="rId5" imgW="342900" imgH="184150" progId="Photoshop.Image.5">
                  <p:embed/>
                  <p:pic>
                    <p:nvPicPr>
                      <p:cNvPr id="104488" name="Object 40">
                        <a:extLst>
                          <a:ext uri="{FF2B5EF4-FFF2-40B4-BE49-F238E27FC236}">
                            <a16:creationId xmlns:a16="http://schemas.microsoft.com/office/drawing/2014/main" id="{D7F64D06-6CDC-FA47-01CB-E04847E363C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1600" y="152400"/>
                        <a:ext cx="1600200" cy="6172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4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4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04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44" dur="500"/>
                                        <p:tgtEl>
                                          <p:spTgt spid="1044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500"/>
                                        <p:tgtEl>
                                          <p:spTgt spid="104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50" grpId="0" autoUpdateAnimBg="0"/>
      <p:bldP spid="10445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6DA7A4FA-07C6-4DCE-63E0-A7F080CFE0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00200" y="76200"/>
            <a:ext cx="3733800" cy="1143000"/>
          </a:xfrm>
          <a:noFill/>
        </p:spPr>
        <p:txBody>
          <a:bodyPr/>
          <a:lstStyle/>
          <a:p>
            <a:pPr eaLnBrk="1" hangingPunct="1"/>
            <a:r>
              <a:rPr lang="en-GB" altLang="en-US" sz="3200"/>
              <a:t>Diverging Lens :</a:t>
            </a:r>
            <a:r>
              <a:rPr lang="en-IE" altLang="en-US" sz="3200"/>
              <a:t> </a:t>
            </a:r>
            <a:br>
              <a:rPr lang="en-IE" altLang="en-US" sz="3200"/>
            </a:br>
            <a:r>
              <a:rPr lang="en-GB" altLang="en-US" sz="3200"/>
              <a:t>Only 1 case</a:t>
            </a:r>
          </a:p>
        </p:txBody>
      </p:sp>
      <p:sp>
        <p:nvSpPr>
          <p:cNvPr id="106499" name="Text Box 3">
            <a:extLst>
              <a:ext uri="{FF2B5EF4-FFF2-40B4-BE49-F238E27FC236}">
                <a16:creationId xmlns:a16="http://schemas.microsoft.com/office/drawing/2014/main" id="{8270431C-4A77-3B7D-1187-6E3D907724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5783263"/>
            <a:ext cx="8915400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r>
              <a:rPr lang="en-IE" altLang="en-US" sz="3200" b="1"/>
              <a:t>No matter where the object O is placed, </a:t>
            </a:r>
          </a:p>
          <a:p>
            <a:pPr eaLnBrk="1" hangingPunct="1"/>
            <a:r>
              <a:rPr lang="en-IE" altLang="en-US" sz="3200" b="1"/>
              <a:t>the image is always </a:t>
            </a:r>
            <a:r>
              <a:rPr lang="en-IE" altLang="en-US" sz="3200" b="1" u="sng"/>
              <a:t>virtual</a:t>
            </a:r>
            <a:r>
              <a:rPr lang="en-IE" altLang="en-US" sz="3200" b="1"/>
              <a:t>, </a:t>
            </a:r>
            <a:r>
              <a:rPr lang="en-IE" altLang="en-US" sz="3200" b="1" u="sng"/>
              <a:t>erect</a:t>
            </a:r>
            <a:r>
              <a:rPr lang="en-IE" altLang="en-US" sz="3200" b="1"/>
              <a:t> and </a:t>
            </a:r>
            <a:r>
              <a:rPr lang="en-IE" altLang="en-US" sz="3200" b="1" u="sng"/>
              <a:t>diminished</a:t>
            </a:r>
            <a:r>
              <a:rPr lang="en-IE" altLang="en-US" sz="3200" b="1"/>
              <a:t>.</a:t>
            </a:r>
          </a:p>
        </p:txBody>
      </p:sp>
      <p:pic>
        <p:nvPicPr>
          <p:cNvPr id="106500" name="Picture 4" descr="Parchment">
            <a:extLst>
              <a:ext uri="{FF2B5EF4-FFF2-40B4-BE49-F238E27FC236}">
                <a16:creationId xmlns:a16="http://schemas.microsoft.com/office/drawing/2014/main" id="{F46FA303-9346-513C-D81B-E86F7644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82" r="16037"/>
          <a:stretch>
            <a:fillRect/>
          </a:stretch>
        </p:blipFill>
        <p:spPr bwMode="auto">
          <a:xfrm>
            <a:off x="1828800" y="1371600"/>
            <a:ext cx="8534400" cy="4495800"/>
          </a:xfrm>
          <a:prstGeom prst="rect">
            <a:avLst/>
          </a:prstGeom>
          <a:blipFill dpi="0" rotWithShape="0">
            <a:blip r:embed="rId4"/>
            <a:srcRect l="16982" r="16037"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" name="Group 5">
            <a:extLst>
              <a:ext uri="{FF2B5EF4-FFF2-40B4-BE49-F238E27FC236}">
                <a16:creationId xmlns:a16="http://schemas.microsoft.com/office/drawing/2014/main" id="{1C3592EC-80A0-D6C6-B9C5-46A440089FF2}"/>
              </a:ext>
            </a:extLst>
          </p:cNvPr>
          <p:cNvGrpSpPr>
            <a:grpSpLocks/>
          </p:cNvGrpSpPr>
          <p:nvPr/>
        </p:nvGrpSpPr>
        <p:grpSpPr bwMode="auto">
          <a:xfrm>
            <a:off x="3886201" y="1524000"/>
            <a:ext cx="601663" cy="2057400"/>
            <a:chOff x="432" y="1267"/>
            <a:chExt cx="444" cy="893"/>
          </a:xfrm>
        </p:grpSpPr>
        <p:sp>
          <p:nvSpPr>
            <p:cNvPr id="45077" name="Line 6">
              <a:extLst>
                <a:ext uri="{FF2B5EF4-FFF2-40B4-BE49-F238E27FC236}">
                  <a16:creationId xmlns:a16="http://schemas.microsoft.com/office/drawing/2014/main" id="{6A0A6E50-7DAB-4CE0-4E6C-A543A0AC09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" y="1536"/>
              <a:ext cx="0" cy="624"/>
            </a:xfrm>
            <a:prstGeom prst="line">
              <a:avLst/>
            </a:prstGeom>
            <a:noFill/>
            <a:ln w="57150">
              <a:solidFill>
                <a:srgbClr val="000080"/>
              </a:solidFill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8" name="Text Box 7">
              <a:extLst>
                <a:ext uri="{FF2B5EF4-FFF2-40B4-BE49-F238E27FC236}">
                  <a16:creationId xmlns:a16="http://schemas.microsoft.com/office/drawing/2014/main" id="{095C60E0-28B8-23DC-9488-D1F26CDFDA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1267"/>
              <a:ext cx="44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/>
                <a:t> O</a:t>
              </a:r>
            </a:p>
          </p:txBody>
        </p:sp>
      </p:grpSp>
      <p:grpSp>
        <p:nvGrpSpPr>
          <p:cNvPr id="3" name="Group 8">
            <a:extLst>
              <a:ext uri="{FF2B5EF4-FFF2-40B4-BE49-F238E27FC236}">
                <a16:creationId xmlns:a16="http://schemas.microsoft.com/office/drawing/2014/main" id="{38AF1688-4D01-0F02-D928-FF7A57115F24}"/>
              </a:ext>
            </a:extLst>
          </p:cNvPr>
          <p:cNvGrpSpPr>
            <a:grpSpLocks/>
          </p:cNvGrpSpPr>
          <p:nvPr/>
        </p:nvGrpSpPr>
        <p:grpSpPr bwMode="auto">
          <a:xfrm>
            <a:off x="4267201" y="-212725"/>
            <a:ext cx="3776663" cy="3124200"/>
            <a:chOff x="1728" y="-134"/>
            <a:chExt cx="2379" cy="1968"/>
          </a:xfrm>
        </p:grpSpPr>
        <p:grpSp>
          <p:nvGrpSpPr>
            <p:cNvPr id="45073" name="Group 9">
              <a:extLst>
                <a:ext uri="{FF2B5EF4-FFF2-40B4-BE49-F238E27FC236}">
                  <a16:creationId xmlns:a16="http://schemas.microsoft.com/office/drawing/2014/main" id="{002487FD-F691-80C6-76A7-CE8E7A1184CE}"/>
                </a:ext>
              </a:extLst>
            </p:cNvPr>
            <p:cNvGrpSpPr>
              <a:grpSpLocks/>
            </p:cNvGrpSpPr>
            <p:nvPr/>
          </p:nvGrpSpPr>
          <p:grpSpPr bwMode="auto">
            <a:xfrm flipV="1">
              <a:off x="1728" y="1381"/>
              <a:ext cx="864" cy="48"/>
              <a:chOff x="672" y="1968"/>
              <a:chExt cx="1680" cy="0"/>
            </a:xfrm>
          </p:grpSpPr>
          <p:sp>
            <p:nvSpPr>
              <p:cNvPr id="45075" name="Line 10">
                <a:extLst>
                  <a:ext uri="{FF2B5EF4-FFF2-40B4-BE49-F238E27FC236}">
                    <a16:creationId xmlns:a16="http://schemas.microsoft.com/office/drawing/2014/main" id="{932B25D9-3B86-C73C-0727-07AB3974B3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68" y="1968"/>
                <a:ext cx="158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076" name="Line 11">
                <a:extLst>
                  <a:ext uri="{FF2B5EF4-FFF2-40B4-BE49-F238E27FC236}">
                    <a16:creationId xmlns:a16="http://schemas.microsoft.com/office/drawing/2014/main" id="{1627B1D4-DC83-CFAB-B2EF-D6BCA904CF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2" y="1968"/>
                <a:ext cx="100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5074" name="Line 12">
              <a:extLst>
                <a:ext uri="{FF2B5EF4-FFF2-40B4-BE49-F238E27FC236}">
                  <a16:creationId xmlns:a16="http://schemas.microsoft.com/office/drawing/2014/main" id="{A0E3E8F6-232A-B9BB-DDB4-E575E82E7490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803021" flipV="1">
              <a:off x="2996" y="-134"/>
              <a:ext cx="1111" cy="19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3">
            <a:extLst>
              <a:ext uri="{FF2B5EF4-FFF2-40B4-BE49-F238E27FC236}">
                <a16:creationId xmlns:a16="http://schemas.microsoft.com/office/drawing/2014/main" id="{93301E10-14BB-07D7-CEC3-6BE35F4F4FD1}"/>
              </a:ext>
            </a:extLst>
          </p:cNvPr>
          <p:cNvGrpSpPr>
            <a:grpSpLocks/>
          </p:cNvGrpSpPr>
          <p:nvPr/>
        </p:nvGrpSpPr>
        <p:grpSpPr bwMode="auto">
          <a:xfrm>
            <a:off x="4267200" y="2209800"/>
            <a:ext cx="4648200" cy="3962400"/>
            <a:chOff x="624" y="1968"/>
            <a:chExt cx="5136" cy="1920"/>
          </a:xfrm>
        </p:grpSpPr>
        <p:sp>
          <p:nvSpPr>
            <p:cNvPr id="45071" name="Line 14">
              <a:extLst>
                <a:ext uri="{FF2B5EF4-FFF2-40B4-BE49-F238E27FC236}">
                  <a16:creationId xmlns:a16="http://schemas.microsoft.com/office/drawing/2014/main" id="{302DADA0-288F-2AE4-AF20-BE1083163E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968"/>
              <a:ext cx="5136" cy="19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072" name="Line 15">
              <a:extLst>
                <a:ext uri="{FF2B5EF4-FFF2-40B4-BE49-F238E27FC236}">
                  <a16:creationId xmlns:a16="http://schemas.microsoft.com/office/drawing/2014/main" id="{4D142A22-45A8-C723-08D3-E482DE3C9B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2" y="2064"/>
              <a:ext cx="720" cy="28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512" name="Line 16">
            <a:extLst>
              <a:ext uri="{FF2B5EF4-FFF2-40B4-BE49-F238E27FC236}">
                <a16:creationId xmlns:a16="http://schemas.microsoft.com/office/drawing/2014/main" id="{72532237-8BDC-21FE-97FB-BCD59BB360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505200" y="2143126"/>
            <a:ext cx="2305050" cy="1438275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" name="Group 17">
            <a:extLst>
              <a:ext uri="{FF2B5EF4-FFF2-40B4-BE49-F238E27FC236}">
                <a16:creationId xmlns:a16="http://schemas.microsoft.com/office/drawing/2014/main" id="{5B216720-251A-AA30-6D0A-E3D6300AD6ED}"/>
              </a:ext>
            </a:extLst>
          </p:cNvPr>
          <p:cNvGrpSpPr>
            <a:grpSpLocks/>
          </p:cNvGrpSpPr>
          <p:nvPr/>
        </p:nvGrpSpPr>
        <p:grpSpPr bwMode="auto">
          <a:xfrm>
            <a:off x="4762500" y="2163764"/>
            <a:ext cx="342900" cy="1417637"/>
            <a:chOff x="2040" y="1363"/>
            <a:chExt cx="216" cy="893"/>
          </a:xfrm>
        </p:grpSpPr>
        <p:sp>
          <p:nvSpPr>
            <p:cNvPr id="45069" name="Text Box 18">
              <a:extLst>
                <a:ext uri="{FF2B5EF4-FFF2-40B4-BE49-F238E27FC236}">
                  <a16:creationId xmlns:a16="http://schemas.microsoft.com/office/drawing/2014/main" id="{4DBF3A55-D5AB-65CD-C273-CC96D1D288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0" y="1363"/>
              <a:ext cx="21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 sz="3200" b="1">
                  <a:solidFill>
                    <a:srgbClr val="FF3300"/>
                  </a:solidFill>
                </a:rPr>
                <a:t>I</a:t>
              </a:r>
            </a:p>
          </p:txBody>
        </p:sp>
        <p:sp>
          <p:nvSpPr>
            <p:cNvPr id="45070" name="Line 19">
              <a:extLst>
                <a:ext uri="{FF2B5EF4-FFF2-40B4-BE49-F238E27FC236}">
                  <a16:creationId xmlns:a16="http://schemas.microsoft.com/office/drawing/2014/main" id="{34625283-5BE3-5C3D-6550-5C28945FFC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2" y="1680"/>
              <a:ext cx="0" cy="57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prstDash val="sysDot"/>
              <a:round/>
              <a:headEnd/>
              <a:tailEnd type="triangle" w="lg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0">
            <a:extLst>
              <a:ext uri="{FF2B5EF4-FFF2-40B4-BE49-F238E27FC236}">
                <a16:creationId xmlns:a16="http://schemas.microsoft.com/office/drawing/2014/main" id="{F9D954BB-13D3-B4AB-B9C9-D47FC0F43D8A}"/>
              </a:ext>
            </a:extLst>
          </p:cNvPr>
          <p:cNvGrpSpPr>
            <a:grpSpLocks/>
          </p:cNvGrpSpPr>
          <p:nvPr/>
        </p:nvGrpSpPr>
        <p:grpSpPr bwMode="auto">
          <a:xfrm>
            <a:off x="3352801" y="3581400"/>
            <a:ext cx="5349875" cy="457200"/>
            <a:chOff x="1152" y="2256"/>
            <a:chExt cx="3370" cy="288"/>
          </a:xfrm>
        </p:grpSpPr>
        <p:sp>
          <p:nvSpPr>
            <p:cNvPr id="45067" name="Text Box 21">
              <a:extLst>
                <a:ext uri="{FF2B5EF4-FFF2-40B4-BE49-F238E27FC236}">
                  <a16:creationId xmlns:a16="http://schemas.microsoft.com/office/drawing/2014/main" id="{FA3685AE-03EF-7D0C-213C-186387CA60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5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  <p:sp>
          <p:nvSpPr>
            <p:cNvPr id="45068" name="Text Box 22">
              <a:extLst>
                <a:ext uri="{FF2B5EF4-FFF2-40B4-BE49-F238E27FC236}">
                  <a16:creationId xmlns:a16="http://schemas.microsoft.com/office/drawing/2014/main" id="{32EE8653-7346-B6C6-41BF-2AC91F45C7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76" y="2256"/>
              <a:ext cx="34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/>
              <a:r>
                <a:rPr lang="en-GB" altLang="en-US">
                  <a:latin typeface="Arial Rounded MT Bold" panose="020F0704030504030204" pitchFamily="34" charset="77"/>
                </a:rPr>
                <a:t>f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6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10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06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06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" grpId="0" autoUpdateAnimBg="0"/>
      <p:bldP spid="106499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DAD9114A-1116-6302-0889-7CFF4D167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209800" y="333375"/>
            <a:ext cx="7772400" cy="850900"/>
          </a:xfrm>
        </p:spPr>
        <p:txBody>
          <a:bodyPr/>
          <a:lstStyle/>
          <a:p>
            <a:pPr eaLnBrk="1" hangingPunct="1"/>
            <a:r>
              <a:rPr lang="en-GB" altLang="en-US"/>
              <a:t>Uses for the Diverging Lens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0D1A6BE-2462-D9E0-5A99-BCAF042C2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74825" y="4243389"/>
            <a:ext cx="8599488" cy="2281237"/>
          </a:xfrm>
          <a:solidFill>
            <a:srgbClr val="CCFFCC"/>
          </a:solidFill>
        </p:spPr>
        <p:txBody>
          <a:bodyPr/>
          <a:lstStyle/>
          <a:p>
            <a:pPr marL="514350" indent="-514350">
              <a:buFont typeface="Arial Rounded MT Bold" panose="020F0704030504030204" pitchFamily="34" charset="77"/>
              <a:buAutoNum type="arabicPeriod"/>
            </a:pPr>
            <a:r>
              <a:rPr lang="en-IE" altLang="en-US"/>
              <a:t>Since the image is always diminished, a diverging lens gives a wide field of view. It can be used for security as a </a:t>
            </a:r>
            <a:r>
              <a:rPr lang="en-IE" altLang="en-US" b="1"/>
              <a:t>door peep-hole lens </a:t>
            </a:r>
            <a:r>
              <a:rPr lang="en-IE" altLang="en-US"/>
              <a:t>in a house. (This is also called a </a:t>
            </a:r>
            <a:r>
              <a:rPr lang="en-IE" altLang="en-US" b="1"/>
              <a:t>spy glass</a:t>
            </a:r>
            <a:r>
              <a:rPr lang="en-IE" altLang="en-US"/>
              <a:t>).</a:t>
            </a:r>
          </a:p>
          <a:p>
            <a:pPr marL="514350" indent="-514350">
              <a:buFont typeface="Arial Rounded MT Bold" panose="020F0704030504030204" pitchFamily="34" charset="77"/>
              <a:buAutoNum type="arabicPeriod"/>
            </a:pPr>
            <a:r>
              <a:rPr lang="en-GB" altLang="en-US"/>
              <a:t>Spectacles.</a:t>
            </a:r>
          </a:p>
        </p:txBody>
      </p:sp>
      <p:sp>
        <p:nvSpPr>
          <p:cNvPr id="47108" name="AutoShape 6" descr="data:image/jpg;base64,/9j/4AAQSkZJRgABAQAAAQABAAD/2wCEAAkGBhAOEBQSDw8PDw8QEBQPDw0NDQ4MDw0PFBAVFBQQFBIXHCYeFxkjGRISHy8gLycyLiwsFR49ODA2PCYwLDUBCQoKDQwOFA8MFikYFRgpKSkpNTUpKSkuKSkpKSkpKSkpKSkpKSkpKSkpKSkpKSkpKSkpKSkpKSkpKSkpKSkpKf/AABEIAIYAhgMBIgACEQEDEQH/xAAbAAACAwEBAQAAAAAAAAAAAAADBAABAgYFB//EADAQAAICAAQDBwQBBQEAAAAAAAABAgMEESExQYHwBRITUWGxwSJxkdEyQkNScqEH/8QAGQEBAQEBAQEAAAAAAAAAAAAAAQACAwQF/8QAHREBAQADAAMBAQAAAAAAAAAAAAECMUEDESESBP/aAAwDAQACEQMRAD8A5auQLESJU9jF7PgSfX1BKnoM0v6RKtjVUtAyMZufXIxTPUrEyMUS1L18BpyA2FuXXMFORSJakYuZEzFjNSJcAl+wOBq/bkXUFDfkbfEHU9fwblqjVBewCgkzC3NxDV7ELgijNRul6orEoqrcvEP3MdK4L2+BmvYVqft+hiEtDOSgOIZmjcl5VD1NcQ4CQSTAt7hC1EHY9QkQd25qBqs3iNuQOs3fsXUDV+gq2A1PrkGjsVBa1ag0tQ1iBta8jpELEhaZDKFrepdwOoJezPSqD9v0MQegtAPDYzkg7jFTN3A6zXENIEwrYKQQtRBX/wAgsQVy+rr0GbDVZvEbcjFZeI2LqBp6/AeIGpey+Q8BqL2gw1qBJamppDIhbRDKSol79yqv2au+S6lV9fgYjt15i9IaL0M1MXMHDc1cDga4jGY52V2DicY2sPTKxL+U9Iwjpxk9DPZeEV1sYSfdhvOXlBayy9eHM69YyNtak4yWEg1HD9n0OUPGjnkrLcnnJy3yzyy34nbw+H9/bpy8nk/OtvOl/wCa49LNLDza/t14qEp/bJ5HLdo4Oyi1wthKua3hNOL4a+q9T61jb8GsOnPs2hpJNeBFeLX6xccnmvRnhds114qrwpz8RNOWEvlrbRPLPwZS/qg8n67+SO+X80k94uOHnvv6+e1m8RsYho/VPJryfFGsS9DxWfXrYq/XyGhxF6n8B6uJVMXC6/kMW8QUFqM0hJshLCEkqJeyqSsR8l1NVPTkGTAVv3+AuYVM2gISCXMFBaDNIeWM8PPXLvQ7uflm1mdX2fjVVeoPKMZwyq7zSWc0nBZvRZp5fdnGdo4dzr03Wv30G+wu3Kp110YquVku94dbrylYo56RlF5cXprx5L3/AM1lx9PH55fft9PlKUNbbKvAj9UIKFlc6Emu/KyUl3Y/SpLR6tnC29rLuXWrPueJnXnpvLNfbNJ/ke7d7MgqO9Y+0HVBd7u21XqEcv8AZ93L7NnDY3tjx2q6YuNcXn9X8pP/ACl18t+i+pHHGe69GFvfbl5ybNYjYHRDupLyNYlnyL9yfRmg6X1zGaduvMVofXMZoe4ZFVoGL+oJawMXqM0hrNiFTZASUlYj5JQTEfI9CqvkLJ6AqvkJZsFINrKiVJl17m+A1w68jz78AnNSi3CaaanF91p8Hmh9gZ7mcMrjfisl23ficZdDw7cbiLKssvDlbJxy8shavBxr0iuY3BbA7jd8mWXy0TDGaiQJitiq2XidjHWgKn1yGqHuK1cOvMZoe45KKvejF4vXmHxD0YrB6ljpUzIhmTICXQ9SYgzh9y8S/cehdT92GewvVt15jC2CmFmXXuSe/MkFqa4DPX/ANm4YFJ6nOESIG4NFgL3qM2krkExG3IDENdsN2i9PAZq4i1fAYre45KM4jZisNxi/Zisdxx0KZkQzJkL0WqCYozSXiC6FVdfkZjsL1r3YxDYzkYXmar3JYiVbmuAcDJ6h2LzepiESLA3PUJEHeamyqIa3YBELbLQrsAwfv+g9b3Fq5B6+I1Rm96C0dxi96CyGaFMMhWZQlqkvEfJCGehcGMVvQhDORgVhjDvVlkNcBjPrmAm9SEMQpBg7yENTarNbN3vQhDXQBXwGIPchCqgdz0F+JCGoqMmWQgF//9k=">
            <a:extLst>
              <a:ext uri="{FF2B5EF4-FFF2-40B4-BE49-F238E27FC236}">
                <a16:creationId xmlns:a16="http://schemas.microsoft.com/office/drawing/2014/main" id="{7D249283-979C-071A-E6D7-3F88413CA8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0200" y="-622300"/>
            <a:ext cx="12763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E" altLang="en-US"/>
          </a:p>
        </p:txBody>
      </p:sp>
      <p:sp>
        <p:nvSpPr>
          <p:cNvPr id="47109" name="AutoShape 8" descr="data:image/jpg;base64,/9j/4AAQSkZJRgABAQAAAQABAAD/2wCEAAkGBhAOEBQSDw8PDw8QEBQPDw0NDQ4MDw0PFBAVFBQQFBIXHCYeFxkjGRISHy8gLycyLiwsFR49ODA2PCYwLDUBCQoKDQwOFA8MFikYFRgpKSkpNTUpKSkuKSkpKSkpKSkpKSkpKSkpKSkpKSkpKSkpKSkpKSkpKSkpKSkpKSkpKf/AABEIAIYAhgMBIgACEQEDEQH/xAAbAAACAwEBAQAAAAAAAAAAAAADBAABAgYFB//EADAQAAICAAQDBwQBBQEAAAAAAAABAgMEESExQYHwBRITUWGxwSJxkdEyQkNScqEH/8QAGQEBAQEBAQEAAAAAAAAAAAAAAQACAwQF/8QAHREBAQADAAMBAQAAAAAAAAAAAAECMUEDESESBP/aAAwDAQACEQMRAD8A5auQLESJU9jF7PgSfX1BKnoM0v6RKtjVUtAyMZufXIxTPUrEyMUS1L18BpyA2FuXXMFORSJakYuZEzFjNSJcAl+wOBq/bkXUFDfkbfEHU9fwblqjVBewCgkzC3NxDV7ELgijNRul6orEoqrcvEP3MdK4L2+BmvYVqft+hiEtDOSgOIZmjcl5VD1NcQ4CQSTAt7hC1EHY9QkQd25qBqs3iNuQOs3fsXUDV+gq2A1PrkGjsVBa1ag0tQ1iBta8jpELEhaZDKFrepdwOoJezPSqD9v0MQegtAPDYzkg7jFTN3A6zXENIEwrYKQQtRBX/wAgsQVy+rr0GbDVZvEbcjFZeI2LqBp6/AeIGpey+Q8BqL2gw1qBJamppDIhbRDKSol79yqv2au+S6lV9fgYjt15i9IaL0M1MXMHDc1cDga4jGY52V2DicY2sPTKxL+U9Iwjpxk9DPZeEV1sYSfdhvOXlBayy9eHM69YyNtak4yWEg1HD9n0OUPGjnkrLcnnJy3yzyy34nbw+H9/bpy8nk/OtvOl/wCa49LNLDza/t14qEp/bJ5HLdo4Oyi1wthKua3hNOL4a+q9T61jb8GsOnPs2hpJNeBFeLX6xccnmvRnhds114qrwpz8RNOWEvlrbRPLPwZS/qg8n67+SO+X80k94uOHnvv6+e1m8RsYho/VPJryfFGsS9DxWfXrYq/XyGhxF6n8B6uJVMXC6/kMW8QUFqM0hJshLCEkqJeyqSsR8l1NVPTkGTAVv3+AuYVM2gISCXMFBaDNIeWM8PPXLvQ7uflm1mdX2fjVVeoPKMZwyq7zSWc0nBZvRZp5fdnGdo4dzr03Wv30G+wu3Kp110YquVku94dbrylYo56RlF5cXprx5L3/AM1lx9PH55fft9PlKUNbbKvAj9UIKFlc6Emu/KyUl3Y/SpLR6tnC29rLuXWrPueJnXnpvLNfbNJ/ke7d7MgqO9Y+0HVBd7u21XqEcv8AZ93L7NnDY3tjx2q6YuNcXn9X8pP/ACl18t+i+pHHGe69GFvfbl5ybNYjYHRDupLyNYlnyL9yfRmg6X1zGaduvMVofXMZoe4ZFVoGL+oJawMXqM0hrNiFTZASUlYj5JQTEfI9CqvkLJ6AqvkJZsFINrKiVJl17m+A1w68jz78AnNSi3CaaanF91p8Hmh9gZ7mcMrjfisl23ficZdDw7cbiLKssvDlbJxy8shavBxr0iuY3BbA7jd8mWXy0TDGaiQJitiq2XidjHWgKn1yGqHuK1cOvMZoe45KKvejF4vXmHxD0YrB6ljpUzIhmTICXQ9SYgzh9y8S/cehdT92GewvVt15jC2CmFmXXuSe/MkFqa4DPX/ANm4YFJ6nOESIG4NFgL3qM2krkExG3IDENdsN2i9PAZq4i1fAYre45KM4jZisNxi/Zisdxx0KZkQzJkL0WqCYozSXiC6FVdfkZjsL1r3YxDYzkYXmar3JYiVbmuAcDJ6h2LzepiESLA3PUJEHeamyqIa3YBELbLQrsAwfv+g9b3Fq5B6+I1Rm96C0dxi96CyGaFMMhWZQlqkvEfJCGehcGMVvQhDORgVhjDvVlkNcBjPrmAm9SEMQpBg7yENTarNbN3vQhDXQBXwGIPchCqgdz0F+JCGoqMmWQgF//9k=">
            <a:extLst>
              <a:ext uri="{FF2B5EF4-FFF2-40B4-BE49-F238E27FC236}">
                <a16:creationId xmlns:a16="http://schemas.microsoft.com/office/drawing/2014/main" id="{E6F7F3CB-0B6E-1100-6B20-D5D929B3263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52600" y="-469900"/>
            <a:ext cx="1276350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en-IE" altLang="en-US"/>
          </a:p>
        </p:txBody>
      </p:sp>
      <p:pic>
        <p:nvPicPr>
          <p:cNvPr id="32779" name="Picture 11">
            <a:extLst>
              <a:ext uri="{FF2B5EF4-FFF2-40B4-BE49-F238E27FC236}">
                <a16:creationId xmlns:a16="http://schemas.microsoft.com/office/drawing/2014/main" id="{07BAE949-1965-7B2D-40CB-A0BC1F10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825" y="1417638"/>
            <a:ext cx="3773488" cy="2513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11" name="Picture 12">
            <a:extLst>
              <a:ext uri="{FF2B5EF4-FFF2-40B4-BE49-F238E27FC236}">
                <a16:creationId xmlns:a16="http://schemas.microsoft.com/office/drawing/2014/main" id="{204E1043-B494-8A05-71CC-CD7D518BE6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3239" y="1268413"/>
            <a:ext cx="1874837" cy="1223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781" name="Picture 13">
            <a:extLst>
              <a:ext uri="{FF2B5EF4-FFF2-40B4-BE49-F238E27FC236}">
                <a16:creationId xmlns:a16="http://schemas.microsoft.com/office/drawing/2014/main" id="{841CA183-4D90-2A0D-24A1-54ACF7CD2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0239" y="1412875"/>
            <a:ext cx="1817687" cy="273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7113" name="Picture 14">
            <a:extLst>
              <a:ext uri="{FF2B5EF4-FFF2-40B4-BE49-F238E27FC236}">
                <a16:creationId xmlns:a16="http://schemas.microsoft.com/office/drawing/2014/main" id="{104C5A80-A5F3-11EA-3FE1-07181CD98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826" y="2814638"/>
            <a:ext cx="1838325" cy="142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27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2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1000"/>
                                        <p:tgtEl>
                                          <p:spTgt spid="327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</Words>
  <Application>Microsoft Macintosh PowerPoint</Application>
  <PresentationFormat>Widescreen</PresentationFormat>
  <Paragraphs>34</Paragraphs>
  <Slides>9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Arial Rounded MT Bold</vt:lpstr>
      <vt:lpstr>Office Theme</vt:lpstr>
      <vt:lpstr>Image</vt:lpstr>
      <vt:lpstr>Diverging Lenses</vt:lpstr>
      <vt:lpstr>Looking through a Diverging Lens</vt:lpstr>
      <vt:lpstr>Important Rays for  Diverging Lenses</vt:lpstr>
      <vt:lpstr>Important Rays for  Diverging Lenses</vt:lpstr>
      <vt:lpstr>Important Rays for  Diverging Lenses</vt:lpstr>
      <vt:lpstr>Important Rays for  Diverging Lenses</vt:lpstr>
      <vt:lpstr>Diverging Lens :  Only 1 case</vt:lpstr>
      <vt:lpstr>Diverging Lens :  Only 1 case</vt:lpstr>
      <vt:lpstr>Uses for the Diverging Lens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 Casey</dc:creator>
  <cp:lastModifiedBy>A Casey</cp:lastModifiedBy>
  <cp:revision>1</cp:revision>
  <dcterms:created xsi:type="dcterms:W3CDTF">2026-10-19T21:50:42Z</dcterms:created>
  <dcterms:modified xsi:type="dcterms:W3CDTF">2026-10-19T21:51:27Z</dcterms:modified>
</cp:coreProperties>
</file>