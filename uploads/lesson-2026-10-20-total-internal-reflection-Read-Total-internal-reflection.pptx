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256" r:id="rId2"/>
    <p:sldId id="341" r:id="rId3"/>
    <p:sldId id="343" r:id="rId4"/>
    <p:sldId id="345" r:id="rId5"/>
    <p:sldId id="366" r:id="rId6"/>
    <p:sldId id="367" r:id="rId7"/>
    <p:sldId id="428" r:id="rId8"/>
    <p:sldId id="263" r:id="rId9"/>
    <p:sldId id="331" r:id="rId10"/>
    <p:sldId id="424" r:id="rId11"/>
    <p:sldId id="285" r:id="rId12"/>
    <p:sldId id="330" r:id="rId13"/>
    <p:sldId id="432" r:id="rId14"/>
    <p:sldId id="286" r:id="rId15"/>
    <p:sldId id="279" r:id="rId16"/>
    <p:sldId id="379" r:id="rId17"/>
    <p:sldId id="425" r:id="rId18"/>
    <p:sldId id="264" r:id="rId19"/>
    <p:sldId id="426" r:id="rId20"/>
    <p:sldId id="427" r:id="rId21"/>
    <p:sldId id="284" r:id="rId22"/>
    <p:sldId id="381" r:id="rId23"/>
    <p:sldId id="382" r:id="rId24"/>
    <p:sldId id="420" r:id="rId25"/>
    <p:sldId id="283" r:id="rId26"/>
    <p:sldId id="421" r:id="rId27"/>
    <p:sldId id="422" r:id="rId28"/>
    <p:sldId id="412" r:id="rId29"/>
    <p:sldId id="413" r:id="rId30"/>
    <p:sldId id="429" r:id="rId31"/>
    <p:sldId id="414" r:id="rId32"/>
    <p:sldId id="431" r:id="rId33"/>
    <p:sldId id="430" r:id="rId34"/>
    <p:sldId id="423" r:id="rId35"/>
    <p:sldId id="287" r:id="rId36"/>
    <p:sldId id="276" r:id="rId37"/>
    <p:sldId id="299" r:id="rId38"/>
    <p:sldId id="294" r:id="rId39"/>
    <p:sldId id="307" r:id="rId40"/>
    <p:sldId id="260" r:id="rId41"/>
    <p:sldId id="257" r:id="rId42"/>
    <p:sldId id="369" r:id="rId43"/>
    <p:sldId id="306" r:id="rId44"/>
    <p:sldId id="355" r:id="rId45"/>
    <p:sldId id="357" r:id="rId46"/>
    <p:sldId id="358" r:id="rId47"/>
    <p:sldId id="359"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B38535-22E1-1042-8B85-8C2CDF99C23D}" type="datetimeFigureOut">
              <a:rPr lang="en-US" smtClean="0"/>
              <a:t>10/8/26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0EFF29-2DD1-8442-AC54-1FD6298E5E72}" type="slidenum">
              <a:rPr lang="en-US" smtClean="0"/>
              <a:t>‹#›</a:t>
            </a:fld>
            <a:endParaRPr lang="en-US"/>
          </a:p>
        </p:txBody>
      </p:sp>
    </p:spTree>
    <p:extLst>
      <p:ext uri="{BB962C8B-B14F-4D97-AF65-F5344CB8AC3E}">
        <p14:creationId xmlns:p14="http://schemas.microsoft.com/office/powerpoint/2010/main" val="390717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Slide Image Placeholder 1">
            <a:extLst>
              <a:ext uri="{FF2B5EF4-FFF2-40B4-BE49-F238E27FC236}">
                <a16:creationId xmlns:a16="http://schemas.microsoft.com/office/drawing/2014/main" id="{18AAE813-1082-400D-AB4E-E5E93AC0711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7699" name="Notes Placeholder 2">
            <a:extLst>
              <a:ext uri="{FF2B5EF4-FFF2-40B4-BE49-F238E27FC236}">
                <a16:creationId xmlns:a16="http://schemas.microsoft.com/office/drawing/2014/main" id="{71864DC4-B7E5-45E4-A4A5-5B24A2F048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26980" name="Slide Number Placeholder 3">
            <a:extLst>
              <a:ext uri="{FF2B5EF4-FFF2-40B4-BE49-F238E27FC236}">
                <a16:creationId xmlns:a16="http://schemas.microsoft.com/office/drawing/2014/main" id="{8D579263-CEA5-47AB-B368-528B6F575D83}"/>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A20584AB-11A6-4552-B87C-C5367B6D452C}" type="slidenum">
              <a:rPr lang="en-IE" altLang="en-US" sz="1200"/>
              <a:pPr eaLnBrk="1" hangingPunct="1"/>
              <a:t>2</a:t>
            </a:fld>
            <a:endParaRPr lang="en-IE" alt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Slide Image Placeholder 1">
            <a:extLst>
              <a:ext uri="{FF2B5EF4-FFF2-40B4-BE49-F238E27FC236}">
                <a16:creationId xmlns:a16="http://schemas.microsoft.com/office/drawing/2014/main" id="{683DE4A2-7A73-4158-AB64-BD1C8ED1C8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8723" name="Notes Placeholder 2">
            <a:extLst>
              <a:ext uri="{FF2B5EF4-FFF2-40B4-BE49-F238E27FC236}">
                <a16:creationId xmlns:a16="http://schemas.microsoft.com/office/drawing/2014/main" id="{7235AFC5-200C-450C-9C8B-54CA1ED7F4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28004" name="Slide Number Placeholder 3">
            <a:extLst>
              <a:ext uri="{FF2B5EF4-FFF2-40B4-BE49-F238E27FC236}">
                <a16:creationId xmlns:a16="http://schemas.microsoft.com/office/drawing/2014/main" id="{5EC354E9-F9A2-4A16-9DBF-01336DE95205}"/>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8A32B65-F5BF-4F10-AEF5-389AEB9A50C7}" type="slidenum">
              <a:rPr lang="en-IE" altLang="en-US" sz="1200"/>
              <a:pPr eaLnBrk="1" hangingPunct="1"/>
              <a:t>3</a:t>
            </a:fld>
            <a:endParaRPr lang="en-IE" alt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3B5759-ECE1-437E-A396-FFE3F0E6D4B3}"/>
              </a:ext>
            </a:extLst>
          </p:cNvPr>
          <p:cNvSpPr>
            <a:spLocks noGrp="1" noChangeArrowheads="1"/>
          </p:cNvSpPr>
          <p:nvPr>
            <p:ph type="sldNum" sz="quarter" idx="5"/>
          </p:nvPr>
        </p:nvSpPr>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8C7C17F1-9BEB-4B19-81C4-C766A1D183E9}" type="slidenum">
              <a:rPr lang="en-GB" altLang="en-US" sz="1200">
                <a:solidFill>
                  <a:srgbClr val="000000"/>
                </a:solidFill>
              </a:rPr>
              <a:pPr eaLnBrk="1" hangingPunct="1"/>
              <a:t>6</a:t>
            </a:fld>
            <a:endParaRPr lang="en-GB" altLang="en-US" sz="1200">
              <a:solidFill>
                <a:srgbClr val="000000"/>
              </a:solidFill>
            </a:endParaRPr>
          </a:p>
        </p:txBody>
      </p:sp>
      <p:sp>
        <p:nvSpPr>
          <p:cNvPr id="162819" name="Rectangle 2">
            <a:extLst>
              <a:ext uri="{FF2B5EF4-FFF2-40B4-BE49-F238E27FC236}">
                <a16:creationId xmlns:a16="http://schemas.microsoft.com/office/drawing/2014/main" id="{7F4DBF47-1A09-4ADB-B85A-2037F4A3756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2820" name="Rectangle 3">
            <a:extLst>
              <a:ext uri="{FF2B5EF4-FFF2-40B4-BE49-F238E27FC236}">
                <a16:creationId xmlns:a16="http://schemas.microsoft.com/office/drawing/2014/main" id="{E0A0DA48-E196-45A2-B49E-FE4322AF865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GB" altLang="en-US"/>
              <a:t>Newton divided the spectrum into seven named colors: Red, Orange, Yellow, Green, Blue, Indigo, and Violet; or ROYGBIV. He chose seven colors out of a belief, derived from the ancient Greek philosophers, that there was a connection between the colors, the musical notes, the known objects in the solar system, and the days of the week. (http://en.wikipedia.org/wiki/Optical_spectrum)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Slide Image Placeholder 1">
            <a:extLst>
              <a:ext uri="{FF2B5EF4-FFF2-40B4-BE49-F238E27FC236}">
                <a16:creationId xmlns:a16="http://schemas.microsoft.com/office/drawing/2014/main" id="{D431DC1A-C6EC-4926-B2FD-A9CC321C53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43" name="Notes Placeholder 2">
            <a:extLst>
              <a:ext uri="{FF2B5EF4-FFF2-40B4-BE49-F238E27FC236}">
                <a16:creationId xmlns:a16="http://schemas.microsoft.com/office/drawing/2014/main" id="{5EB34CF3-496A-4E83-81F6-D69A615BF9A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29028" name="Slide Number Placeholder 3">
            <a:extLst>
              <a:ext uri="{FF2B5EF4-FFF2-40B4-BE49-F238E27FC236}">
                <a16:creationId xmlns:a16="http://schemas.microsoft.com/office/drawing/2014/main" id="{306EF8A3-E85C-480A-996B-979FBB4D1B32}"/>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98E2B68-1513-4EAD-8CB6-AF50C1155854}" type="slidenum">
              <a:rPr lang="en-IE" altLang="en-US" sz="1200"/>
              <a:pPr eaLnBrk="1" hangingPunct="1"/>
              <a:t>8</a:t>
            </a:fld>
            <a:endParaRPr lang="en-IE" alt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Slide Image Placeholder 1">
            <a:extLst>
              <a:ext uri="{FF2B5EF4-FFF2-40B4-BE49-F238E27FC236}">
                <a16:creationId xmlns:a16="http://schemas.microsoft.com/office/drawing/2014/main" id="{2DE0FB93-14E0-4C16-B4EB-DBC1CFD387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4867" name="Notes Placeholder 2">
            <a:extLst>
              <a:ext uri="{FF2B5EF4-FFF2-40B4-BE49-F238E27FC236}">
                <a16:creationId xmlns:a16="http://schemas.microsoft.com/office/drawing/2014/main" id="{0A0BDCFD-0035-4A16-95FF-11408C7A47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30052" name="Slide Number Placeholder 3">
            <a:extLst>
              <a:ext uri="{FF2B5EF4-FFF2-40B4-BE49-F238E27FC236}">
                <a16:creationId xmlns:a16="http://schemas.microsoft.com/office/drawing/2014/main" id="{8685340C-B118-4C99-910B-EC206D7FC837}"/>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762785C2-24AC-4FCE-AF4A-F7BA9E4B5BBA}" type="slidenum">
              <a:rPr lang="en-IE" altLang="en-US" sz="1200"/>
              <a:pPr eaLnBrk="1" hangingPunct="1"/>
              <a:t>11</a:t>
            </a:fld>
            <a:endParaRPr lang="en-IE" alt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888D2-8E1F-214A-0926-9DDBFD64BE5D}"/>
            </a:ext>
          </a:extLst>
        </p:cNvPr>
        <p:cNvGrpSpPr/>
        <p:nvPr/>
      </p:nvGrpSpPr>
      <p:grpSpPr>
        <a:xfrm>
          <a:off x="0" y="0"/>
          <a:ext cx="0" cy="0"/>
          <a:chOff x="0" y="0"/>
          <a:chExt cx="0" cy="0"/>
        </a:xfrm>
      </p:grpSpPr>
      <p:sp>
        <p:nvSpPr>
          <p:cNvPr id="185346" name="Slide Image Placeholder 1">
            <a:extLst>
              <a:ext uri="{FF2B5EF4-FFF2-40B4-BE49-F238E27FC236}">
                <a16:creationId xmlns:a16="http://schemas.microsoft.com/office/drawing/2014/main" id="{F614DB8C-328D-72F8-188F-0C0BF94D43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a:extLst>
              <a:ext uri="{FF2B5EF4-FFF2-40B4-BE49-F238E27FC236}">
                <a16:creationId xmlns:a16="http://schemas.microsoft.com/office/drawing/2014/main" id="{9CCAAE0B-3F24-CC2C-839D-66E19B15CF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54628" name="Slide Number Placeholder 3">
            <a:extLst>
              <a:ext uri="{FF2B5EF4-FFF2-40B4-BE49-F238E27FC236}">
                <a16:creationId xmlns:a16="http://schemas.microsoft.com/office/drawing/2014/main" id="{323708E8-0F55-E6A7-E08F-307EE7512179}"/>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DA1242C-19CD-4E8B-9CB5-CDAB91A8FBA9}" type="slidenum">
              <a:rPr lang="en-IE" altLang="en-US" sz="1200"/>
              <a:pPr eaLnBrk="1" hangingPunct="1"/>
              <a:t>13</a:t>
            </a:fld>
            <a:endParaRPr lang="en-IE" altLang="en-US" sz="1200"/>
          </a:p>
        </p:txBody>
      </p:sp>
    </p:spTree>
    <p:extLst>
      <p:ext uri="{BB962C8B-B14F-4D97-AF65-F5344CB8AC3E}">
        <p14:creationId xmlns:p14="http://schemas.microsoft.com/office/powerpoint/2010/main" val="32626522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Slide Image Placeholder 1">
            <a:extLst>
              <a:ext uri="{FF2B5EF4-FFF2-40B4-BE49-F238E27FC236}">
                <a16:creationId xmlns:a16="http://schemas.microsoft.com/office/drawing/2014/main" id="{677BFD5F-1DCD-4DE8-BA86-DBEFFB7A103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5891" name="Notes Placeholder 2">
            <a:extLst>
              <a:ext uri="{FF2B5EF4-FFF2-40B4-BE49-F238E27FC236}">
                <a16:creationId xmlns:a16="http://schemas.microsoft.com/office/drawing/2014/main" id="{A020C8A3-90B9-428A-B590-1E86A1F6F9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31076" name="Slide Number Placeholder 3">
            <a:extLst>
              <a:ext uri="{FF2B5EF4-FFF2-40B4-BE49-F238E27FC236}">
                <a16:creationId xmlns:a16="http://schemas.microsoft.com/office/drawing/2014/main" id="{5E40D40F-DF98-4F6A-A102-F8968CF19B00}"/>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F0D3C501-7CCB-452A-8727-7E8189641F77}" type="slidenum">
              <a:rPr lang="en-IE" altLang="en-US" sz="1200"/>
              <a:pPr eaLnBrk="1" hangingPunct="1"/>
              <a:t>14</a:t>
            </a:fld>
            <a:endParaRPr lang="en-IE" alt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a:extLst>
              <a:ext uri="{FF2B5EF4-FFF2-40B4-BE49-F238E27FC236}">
                <a16:creationId xmlns:a16="http://schemas.microsoft.com/office/drawing/2014/main" id="{CC1287BE-77FB-4FAC-B545-DBCB994C80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6915" name="Notes Placeholder 2">
            <a:extLst>
              <a:ext uri="{FF2B5EF4-FFF2-40B4-BE49-F238E27FC236}">
                <a16:creationId xmlns:a16="http://schemas.microsoft.com/office/drawing/2014/main" id="{ACD815E8-AACB-4C15-BA78-59CB8D4951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32100" name="Slide Number Placeholder 3">
            <a:extLst>
              <a:ext uri="{FF2B5EF4-FFF2-40B4-BE49-F238E27FC236}">
                <a16:creationId xmlns:a16="http://schemas.microsoft.com/office/drawing/2014/main" id="{76036646-6753-4AF8-879D-9530DF940210}"/>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E44FA68-6B97-4225-BD2A-DDEC0C85AAEC}" type="slidenum">
              <a:rPr lang="en-IE" altLang="en-US" sz="1200"/>
              <a:pPr eaLnBrk="1" hangingPunct="1"/>
              <a:t>15</a:t>
            </a:fld>
            <a:endParaRPr lang="en-IE" alt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4AE0E37-5F31-4073-8F35-FD795A549926}" type="slidenum">
              <a:rPr lang="en-GB" smtClean="0"/>
              <a:t>16</a:t>
            </a:fld>
            <a:endParaRPr lang="en-GB"/>
          </a:p>
        </p:txBody>
      </p:sp>
    </p:spTree>
    <p:extLst>
      <p:ext uri="{BB962C8B-B14F-4D97-AF65-F5344CB8AC3E}">
        <p14:creationId xmlns:p14="http://schemas.microsoft.com/office/powerpoint/2010/main" val="13927427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Slide Image Placeholder 1">
            <a:extLst>
              <a:ext uri="{FF2B5EF4-FFF2-40B4-BE49-F238E27FC236}">
                <a16:creationId xmlns:a16="http://schemas.microsoft.com/office/drawing/2014/main" id="{2F9B0C87-06A2-4D33-ABB8-9E82544DA7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7939" name="Notes Placeholder 2">
            <a:extLst>
              <a:ext uri="{FF2B5EF4-FFF2-40B4-BE49-F238E27FC236}">
                <a16:creationId xmlns:a16="http://schemas.microsoft.com/office/drawing/2014/main" id="{3A0462DA-0406-47A6-9875-1CD4CFE527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33124" name="Slide Number Placeholder 3">
            <a:extLst>
              <a:ext uri="{FF2B5EF4-FFF2-40B4-BE49-F238E27FC236}">
                <a16:creationId xmlns:a16="http://schemas.microsoft.com/office/drawing/2014/main" id="{46AC99A4-11A0-487D-9D90-642CB154FC71}"/>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BBC67C08-1F3C-4547-A04F-7DDF8BCBF900}" type="slidenum">
              <a:rPr lang="en-IE" altLang="en-US" sz="1200"/>
              <a:pPr eaLnBrk="1" hangingPunct="1"/>
              <a:t>18</a:t>
            </a:fld>
            <a:endParaRPr lang="en-IE" alt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a:extLst>
              <a:ext uri="{FF2B5EF4-FFF2-40B4-BE49-F238E27FC236}">
                <a16:creationId xmlns:a16="http://schemas.microsoft.com/office/drawing/2014/main" id="{C400AAF1-11D9-4DD8-9652-0E662839BE4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083" name="Notes Placeholder 2">
            <a:extLst>
              <a:ext uri="{FF2B5EF4-FFF2-40B4-BE49-F238E27FC236}">
                <a16:creationId xmlns:a16="http://schemas.microsoft.com/office/drawing/2014/main" id="{C26A1FE5-BD6F-4630-A1A8-E8BE0DF44DA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43364" name="Slide Number Placeholder 3">
            <a:extLst>
              <a:ext uri="{FF2B5EF4-FFF2-40B4-BE49-F238E27FC236}">
                <a16:creationId xmlns:a16="http://schemas.microsoft.com/office/drawing/2014/main" id="{90645FCB-5D6D-4D74-90C6-ADF42C9F5397}"/>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E0F2F6E-8260-4CF2-825C-9569AB52AEAC}" type="slidenum">
              <a:rPr lang="en-IE" altLang="en-US" sz="1200"/>
              <a:pPr eaLnBrk="1" hangingPunct="1"/>
              <a:t>36</a:t>
            </a:fld>
            <a:endParaRPr lang="en-IE" alt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a:extLst>
              <a:ext uri="{FF2B5EF4-FFF2-40B4-BE49-F238E27FC236}">
                <a16:creationId xmlns:a16="http://schemas.microsoft.com/office/drawing/2014/main" id="{7B3309C7-8357-4554-8CD9-BDDE9E2E5E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5107" name="Notes Placeholder 2">
            <a:extLst>
              <a:ext uri="{FF2B5EF4-FFF2-40B4-BE49-F238E27FC236}">
                <a16:creationId xmlns:a16="http://schemas.microsoft.com/office/drawing/2014/main" id="{DC4A8CE4-B1C9-4149-A6FD-5C1A501049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44388" name="Slide Number Placeholder 3">
            <a:extLst>
              <a:ext uri="{FF2B5EF4-FFF2-40B4-BE49-F238E27FC236}">
                <a16:creationId xmlns:a16="http://schemas.microsoft.com/office/drawing/2014/main" id="{8D8DDF6D-A8F3-4C36-89E7-9AF49EA75749}"/>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A0684669-6465-4223-BC65-A5A79796628C}" type="slidenum">
              <a:rPr lang="en-IE" altLang="en-US" sz="1200"/>
              <a:pPr eaLnBrk="1" hangingPunct="1"/>
              <a:t>37</a:t>
            </a:fld>
            <a:endParaRPr lang="en-IE" alt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a:extLst>
              <a:ext uri="{FF2B5EF4-FFF2-40B4-BE49-F238E27FC236}">
                <a16:creationId xmlns:a16="http://schemas.microsoft.com/office/drawing/2014/main" id="{5754A7CD-9B03-4020-804D-4A9A001E1FD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8179" name="Notes Placeholder 2">
            <a:extLst>
              <a:ext uri="{FF2B5EF4-FFF2-40B4-BE49-F238E27FC236}">
                <a16:creationId xmlns:a16="http://schemas.microsoft.com/office/drawing/2014/main" id="{6AB1B159-12A8-415D-A7FD-174114C2D3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47460" name="Slide Number Placeholder 3">
            <a:extLst>
              <a:ext uri="{FF2B5EF4-FFF2-40B4-BE49-F238E27FC236}">
                <a16:creationId xmlns:a16="http://schemas.microsoft.com/office/drawing/2014/main" id="{A652F7BD-21B3-4B58-B838-F06A2C8F1F28}"/>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CEC4772-9801-453D-82E8-4B6938540619}" type="slidenum">
              <a:rPr lang="en-IE" altLang="en-US" sz="1200"/>
              <a:pPr eaLnBrk="1" hangingPunct="1"/>
              <a:t>38</a:t>
            </a:fld>
            <a:endParaRPr lang="en-IE" alt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a:extLst>
              <a:ext uri="{FF2B5EF4-FFF2-40B4-BE49-F238E27FC236}">
                <a16:creationId xmlns:a16="http://schemas.microsoft.com/office/drawing/2014/main" id="{5E8D8286-94BD-40D6-9C20-6D31ACF62E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5347" name="Notes Placeholder 2">
            <a:extLst>
              <a:ext uri="{FF2B5EF4-FFF2-40B4-BE49-F238E27FC236}">
                <a16:creationId xmlns:a16="http://schemas.microsoft.com/office/drawing/2014/main" id="{4F7FFAC0-1841-4AC2-BCE1-5F206ABE98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54628" name="Slide Number Placeholder 3">
            <a:extLst>
              <a:ext uri="{FF2B5EF4-FFF2-40B4-BE49-F238E27FC236}">
                <a16:creationId xmlns:a16="http://schemas.microsoft.com/office/drawing/2014/main" id="{E6198911-00EE-489A-AB19-3F66C238F0F5}"/>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DA1242C-19CD-4E8B-9CB5-CDAB91A8FBA9}" type="slidenum">
              <a:rPr lang="en-IE" altLang="en-US" sz="1200"/>
              <a:pPr eaLnBrk="1" hangingPunct="1"/>
              <a:t>39</a:t>
            </a:fld>
            <a:endParaRPr lang="en-IE" alt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a:extLst>
              <a:ext uri="{FF2B5EF4-FFF2-40B4-BE49-F238E27FC236}">
                <a16:creationId xmlns:a16="http://schemas.microsoft.com/office/drawing/2014/main" id="{2ECA23E9-5C9D-4374-8F36-886BDA310C7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6371" name="Notes Placeholder 2">
            <a:extLst>
              <a:ext uri="{FF2B5EF4-FFF2-40B4-BE49-F238E27FC236}">
                <a16:creationId xmlns:a16="http://schemas.microsoft.com/office/drawing/2014/main" id="{63E1AF20-8847-4FDA-91C9-3B3995A724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55652" name="Slide Number Placeholder 3">
            <a:extLst>
              <a:ext uri="{FF2B5EF4-FFF2-40B4-BE49-F238E27FC236}">
                <a16:creationId xmlns:a16="http://schemas.microsoft.com/office/drawing/2014/main" id="{8A648076-92C4-47A6-AE39-3473F59058CA}"/>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544EB10F-59AD-4B56-A2B7-304945DE14AC}" type="slidenum">
              <a:rPr lang="en-IE" altLang="en-US" sz="1200"/>
              <a:pPr eaLnBrk="1" hangingPunct="1"/>
              <a:t>40</a:t>
            </a:fld>
            <a:endParaRPr lang="en-IE" alt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Slide Image Placeholder 1">
            <a:extLst>
              <a:ext uri="{FF2B5EF4-FFF2-40B4-BE49-F238E27FC236}">
                <a16:creationId xmlns:a16="http://schemas.microsoft.com/office/drawing/2014/main" id="{0855EEAD-D27A-4D04-8FD3-B74B9565AC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7395" name="Notes Placeholder 2">
            <a:extLst>
              <a:ext uri="{FF2B5EF4-FFF2-40B4-BE49-F238E27FC236}">
                <a16:creationId xmlns:a16="http://schemas.microsoft.com/office/drawing/2014/main" id="{4C0B34C2-E07C-47D5-8A49-67711451DA1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34148" name="Slide Number Placeholder 3">
            <a:extLst>
              <a:ext uri="{FF2B5EF4-FFF2-40B4-BE49-F238E27FC236}">
                <a16:creationId xmlns:a16="http://schemas.microsoft.com/office/drawing/2014/main" id="{6CC9817D-E867-4C3C-8540-F1B655D4EC1B}"/>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E9DAD7EF-5C07-48D1-B19F-98D404CAF671}" type="slidenum">
              <a:rPr lang="en-IE" altLang="en-US" sz="1200"/>
              <a:pPr eaLnBrk="1" hangingPunct="1"/>
              <a:t>41</a:t>
            </a:fld>
            <a:endParaRPr lang="en-IE" alt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a:extLst>
              <a:ext uri="{FF2B5EF4-FFF2-40B4-BE49-F238E27FC236}">
                <a16:creationId xmlns:a16="http://schemas.microsoft.com/office/drawing/2014/main" id="{16C053DF-CCDA-47DC-A15A-8571E8C6E1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0467" name="Notes Placeholder 2">
            <a:extLst>
              <a:ext uri="{FF2B5EF4-FFF2-40B4-BE49-F238E27FC236}">
                <a16:creationId xmlns:a16="http://schemas.microsoft.com/office/drawing/2014/main" id="{C7C4B4B9-F2D8-4758-95F2-85F7EE47D9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E" altLang="en-US"/>
          </a:p>
        </p:txBody>
      </p:sp>
      <p:sp>
        <p:nvSpPr>
          <p:cNvPr id="137220" name="Slide Number Placeholder 3">
            <a:extLst>
              <a:ext uri="{FF2B5EF4-FFF2-40B4-BE49-F238E27FC236}">
                <a16:creationId xmlns:a16="http://schemas.microsoft.com/office/drawing/2014/main" id="{C9C57CE9-4A08-4E7C-BC5C-5D5262E5A66B}"/>
              </a:ext>
            </a:extLst>
          </p:cNvPr>
          <p:cNvSpPr>
            <a:spLocks noGrp="1"/>
          </p:cNvSpPr>
          <p:nvPr>
            <p:ph type="sldNum" sz="quarter" idx="5"/>
          </p:nvPr>
        </p:nvSpPr>
        <p:spPr bwMode="auto"/>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C964E289-9B41-404A-8CF6-1622F399F80B}" type="slidenum">
              <a:rPr lang="en-IE" altLang="en-US" sz="1200"/>
              <a:pPr eaLnBrk="1" hangingPunct="1"/>
              <a:t>43</a:t>
            </a:fld>
            <a:endParaRPr lang="en-IE"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7034-23D2-8F5D-E1CC-9F72C95FDB2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AE9F3ED5-7423-6C4E-63B8-FA0B7EF02F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8EAD9693-FBDE-7B6D-411F-B629B2BA970D}"/>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5" name="Footer Placeholder 4">
            <a:extLst>
              <a:ext uri="{FF2B5EF4-FFF2-40B4-BE49-F238E27FC236}">
                <a16:creationId xmlns:a16="http://schemas.microsoft.com/office/drawing/2014/main" id="{C4F89F03-2DF2-577F-FFB6-A2DF2E75DC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5FF6DB-18B9-B898-D865-F50F597269CF}"/>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26275673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950BF-254B-5404-E1FE-3DDB8DEEDDB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12C70E1-547A-7F73-9B45-EB882D6197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801CB41-761A-BBEE-813A-6C5A3838991E}"/>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5" name="Footer Placeholder 4">
            <a:extLst>
              <a:ext uri="{FF2B5EF4-FFF2-40B4-BE49-F238E27FC236}">
                <a16:creationId xmlns:a16="http://schemas.microsoft.com/office/drawing/2014/main" id="{7A576AC3-108F-C7EF-5980-755E0348E7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C5EA36-7786-58C8-6204-783D29C9C6AA}"/>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1017106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7D641-809D-E5CB-84B9-04433D6F0F9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603DC3D-A152-B1C2-AAFB-BFF84A9A5EC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53DA242-EC20-5626-6C39-7106D2D42366}"/>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5" name="Footer Placeholder 4">
            <a:extLst>
              <a:ext uri="{FF2B5EF4-FFF2-40B4-BE49-F238E27FC236}">
                <a16:creationId xmlns:a16="http://schemas.microsoft.com/office/drawing/2014/main" id="{517C2794-5534-485B-F6DC-36889DBCE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CBB06-5129-5DFE-F303-BB73C255B8F7}"/>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703212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1DC68-6D08-BAD0-6DEB-CC373722E6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FFDDE36-EA3D-C30D-F4A1-8259D0A17B5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940748A-29D8-5953-6EC3-1C2B3CE0A7E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0A9032-EF96-4B3A-E405-9A7669FA24C1}"/>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6" name="Footer Placeholder 5">
            <a:extLst>
              <a:ext uri="{FF2B5EF4-FFF2-40B4-BE49-F238E27FC236}">
                <a16:creationId xmlns:a16="http://schemas.microsoft.com/office/drawing/2014/main" id="{6837C319-42D1-963F-D3D2-1CF3003253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757F33-052E-6963-A5A4-7A43098A824E}"/>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2865593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30A97-9739-3F05-3D2A-6D1C89A84B9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D200E3C-C0D4-5423-1562-F239141691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AB702A0-ABDE-8571-54FD-E5321076A99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F3767C19-9CEE-C514-96EB-EC769E2043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FB1B723-BE58-0144-4AE9-A14894C0304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6EB38877-3CF0-62E7-5D4E-DD5373AB3034}"/>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8" name="Footer Placeholder 7">
            <a:extLst>
              <a:ext uri="{FF2B5EF4-FFF2-40B4-BE49-F238E27FC236}">
                <a16:creationId xmlns:a16="http://schemas.microsoft.com/office/drawing/2014/main" id="{7AC2C783-7E2C-AFB9-EB1D-DB2C42C44B2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A0930A-1335-B91C-269F-DF4EE65523D5}"/>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2712777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EE85A-3658-F825-A438-257E5900933D}"/>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ADA23DB-D4D5-A884-9B9F-44B8EBEC21D0}"/>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4" name="Footer Placeholder 3">
            <a:extLst>
              <a:ext uri="{FF2B5EF4-FFF2-40B4-BE49-F238E27FC236}">
                <a16:creationId xmlns:a16="http://schemas.microsoft.com/office/drawing/2014/main" id="{B5959370-AEB5-E1C7-D16A-D04BF8DD0CF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11473F-8F01-7D90-0BB9-2479604B49CB}"/>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3934074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D10F09-D0C4-BE2E-3F9B-E036E3B647C2}"/>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3" name="Footer Placeholder 2">
            <a:extLst>
              <a:ext uri="{FF2B5EF4-FFF2-40B4-BE49-F238E27FC236}">
                <a16:creationId xmlns:a16="http://schemas.microsoft.com/office/drawing/2014/main" id="{48ECB3C7-1E9E-6B05-068D-9B72185390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E34287-0840-E4F4-D6E4-F51B00AC59B8}"/>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2600329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C64C6-F72F-DB61-E80C-6BC97BCBCD6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17219E45-9D7C-E26E-D1C0-24A4B02A0D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15448B93-A3D9-848C-CF3A-B88A51ED59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CCC85AC-AEA4-5BE5-B249-F6766EEACD8A}"/>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6" name="Footer Placeholder 5">
            <a:extLst>
              <a:ext uri="{FF2B5EF4-FFF2-40B4-BE49-F238E27FC236}">
                <a16:creationId xmlns:a16="http://schemas.microsoft.com/office/drawing/2014/main" id="{22D7926C-309D-7C1A-BC09-AB6B1F798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9363B-7158-CBE0-88E1-D48799ADF859}"/>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3957804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155FD-2BEF-AB98-2A94-7CA3DF361E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6BCC1B4-8E79-333A-B38A-07A7F4A1B1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33E4AFF-9F81-1B20-8A97-8605B0CF54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1273D3A-2391-D9C3-C883-2D8037857BC2}"/>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6" name="Footer Placeholder 5">
            <a:extLst>
              <a:ext uri="{FF2B5EF4-FFF2-40B4-BE49-F238E27FC236}">
                <a16:creationId xmlns:a16="http://schemas.microsoft.com/office/drawing/2014/main" id="{D5AF59BA-9A7E-DE63-77BE-392BFDC6E1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782BE-65A2-B442-3911-BDEC11D61F62}"/>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16271271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41CD1-C7A7-8264-C0DA-398FC030C6E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72B958F-EA78-5022-0DAB-8415A728D2F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2A66C0-8F04-9240-F64A-6BCF7A520A42}"/>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5" name="Footer Placeholder 4">
            <a:extLst>
              <a:ext uri="{FF2B5EF4-FFF2-40B4-BE49-F238E27FC236}">
                <a16:creationId xmlns:a16="http://schemas.microsoft.com/office/drawing/2014/main" id="{B3F7A682-81A9-00E3-D216-5A7F670A86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3FC102-F013-2B97-91BA-B8595A651502}"/>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52429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BEE798-A25E-DEDA-5C50-5FAB00AD32D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C105540-89D4-72AB-6081-EB6BD4108C9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46B5164-B84F-A7CE-B5DF-6CE43827BB59}"/>
              </a:ext>
            </a:extLst>
          </p:cNvPr>
          <p:cNvSpPr>
            <a:spLocks noGrp="1"/>
          </p:cNvSpPr>
          <p:nvPr>
            <p:ph type="dt" sz="half" idx="10"/>
          </p:nvPr>
        </p:nvSpPr>
        <p:spPr/>
        <p:txBody>
          <a:bodyPr/>
          <a:lstStyle/>
          <a:p>
            <a:fld id="{165DECED-35FC-E147-96E8-BED6AF66C3BA}" type="datetimeFigureOut">
              <a:rPr lang="en-US" smtClean="0"/>
              <a:t>10/8/26</a:t>
            </a:fld>
            <a:endParaRPr lang="en-US"/>
          </a:p>
        </p:txBody>
      </p:sp>
      <p:sp>
        <p:nvSpPr>
          <p:cNvPr id="5" name="Footer Placeholder 4">
            <a:extLst>
              <a:ext uri="{FF2B5EF4-FFF2-40B4-BE49-F238E27FC236}">
                <a16:creationId xmlns:a16="http://schemas.microsoft.com/office/drawing/2014/main" id="{CF92ACA0-A910-92CE-ED3A-7CF97D9187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A3F15D-DEA7-138C-ADDA-07083FEA693D}"/>
              </a:ext>
            </a:extLst>
          </p:cNvPr>
          <p:cNvSpPr>
            <a:spLocks noGrp="1"/>
          </p:cNvSpPr>
          <p:nvPr>
            <p:ph type="sldNum" sz="quarter" idx="12"/>
          </p:nvPr>
        </p:nvSpPr>
        <p:spPr/>
        <p:txBody>
          <a:bodyPr/>
          <a:lstStyle/>
          <a:p>
            <a:fld id="{B1E9EC33-775C-4F4C-9315-BFCEFC41648F}" type="slidenum">
              <a:rPr lang="en-US" smtClean="0"/>
              <a:t>‹#›</a:t>
            </a:fld>
            <a:endParaRPr lang="en-US"/>
          </a:p>
        </p:txBody>
      </p:sp>
    </p:spTree>
    <p:extLst>
      <p:ext uri="{BB962C8B-B14F-4D97-AF65-F5344CB8AC3E}">
        <p14:creationId xmlns:p14="http://schemas.microsoft.com/office/powerpoint/2010/main" val="30586751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3"/>
            <a:ext cx="10972800" cy="1143000"/>
          </a:xfrm>
        </p:spPr>
        <p:txBody>
          <a:bodyPr/>
          <a:lstStyle/>
          <a:p>
            <a:r>
              <a:rPr lang="en-US"/>
              <a:t>Click to edit Master title style</a:t>
            </a:r>
            <a:endParaRPr lang="en-IE"/>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Date Placeholder 5">
            <a:extLst>
              <a:ext uri="{FF2B5EF4-FFF2-40B4-BE49-F238E27FC236}">
                <a16:creationId xmlns:a16="http://schemas.microsoft.com/office/drawing/2014/main" id="{F155C2B7-12C8-4F9E-A5E7-21AABD0E6D1C}"/>
              </a:ext>
            </a:extLst>
          </p:cNvPr>
          <p:cNvSpPr>
            <a:spLocks noGrp="1"/>
          </p:cNvSpPr>
          <p:nvPr>
            <p:ph type="dt" sz="half" idx="10"/>
          </p:nvPr>
        </p:nvSpPr>
        <p:spPr>
          <a:xfrm>
            <a:off x="609600" y="6243638"/>
            <a:ext cx="2844800" cy="457200"/>
          </a:xfrm>
        </p:spPr>
        <p:txBody>
          <a:bodyPr/>
          <a:lstStyle>
            <a:lvl1pPr>
              <a:defRPr/>
            </a:lvl1pPr>
          </a:lstStyle>
          <a:p>
            <a:pPr>
              <a:defRPr/>
            </a:pPr>
            <a:endParaRPr lang="en-US"/>
          </a:p>
        </p:txBody>
      </p:sp>
      <p:sp>
        <p:nvSpPr>
          <p:cNvPr id="7" name="Footer Placeholder 6">
            <a:extLst>
              <a:ext uri="{FF2B5EF4-FFF2-40B4-BE49-F238E27FC236}">
                <a16:creationId xmlns:a16="http://schemas.microsoft.com/office/drawing/2014/main" id="{AE2027A4-EEEB-4C21-84F1-38CA85E47A51}"/>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A14625F5-BBBC-48D9-AA5D-F845BCA02696}"/>
              </a:ext>
            </a:extLst>
          </p:cNvPr>
          <p:cNvSpPr>
            <a:spLocks noGrp="1"/>
          </p:cNvSpPr>
          <p:nvPr>
            <p:ph type="sldNum" sz="quarter" idx="12"/>
          </p:nvPr>
        </p:nvSpPr>
        <p:spPr>
          <a:xfrm>
            <a:off x="8737600" y="6243638"/>
            <a:ext cx="2844800" cy="457200"/>
          </a:xfrm>
        </p:spPr>
        <p:txBody>
          <a:bodyPr/>
          <a:lstStyle>
            <a:lvl1pPr>
              <a:defRPr/>
            </a:lvl1pPr>
          </a:lstStyle>
          <a:p>
            <a:fld id="{1655ADB6-E0B6-4DE6-9BDE-640734554B07}" type="slidenum">
              <a:rPr lang="en-US" altLang="en-US"/>
              <a:pPr/>
              <a:t>‹#›</a:t>
            </a:fld>
            <a:endParaRPr lang="en-US" altLang="en-US"/>
          </a:p>
        </p:txBody>
      </p:sp>
    </p:spTree>
    <p:extLst>
      <p:ext uri="{BB962C8B-B14F-4D97-AF65-F5344CB8AC3E}">
        <p14:creationId xmlns:p14="http://schemas.microsoft.com/office/powerpoint/2010/main" val="3686959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3" name="Date Placeholder 2">
            <a:extLst>
              <a:ext uri="{FF2B5EF4-FFF2-40B4-BE49-F238E27FC236}">
                <a16:creationId xmlns:a16="http://schemas.microsoft.com/office/drawing/2014/main" id="{AA83D2E3-2333-4DD1-AA76-05133558D9D0}"/>
              </a:ext>
            </a:extLst>
          </p:cNvPr>
          <p:cNvSpPr>
            <a:spLocks noGrp="1"/>
          </p:cNvSpPr>
          <p:nvPr>
            <p:ph type="dt" sz="half" idx="10"/>
          </p:nvPr>
        </p:nvSpPr>
        <p:spPr>
          <a:xfrm>
            <a:off x="609600" y="6245225"/>
            <a:ext cx="2844800" cy="476250"/>
          </a:xfrm>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9262EEC7-B3A2-4CE2-A957-470B7224B5EF}"/>
              </a:ext>
            </a:extLst>
          </p:cNvPr>
          <p:cNvSpPr>
            <a:spLocks noGrp="1"/>
          </p:cNvSpPr>
          <p:nvPr>
            <p:ph type="ftr" sz="quarter" idx="11"/>
          </p:nvPr>
        </p:nvSpPr>
        <p:spPr>
          <a:xfrm>
            <a:off x="4165600" y="6245225"/>
            <a:ext cx="3860800" cy="476250"/>
          </a:xfrm>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16C25077-5291-4B55-8100-A00CD30C3610}"/>
              </a:ext>
            </a:extLst>
          </p:cNvPr>
          <p:cNvSpPr>
            <a:spLocks noGrp="1"/>
          </p:cNvSpPr>
          <p:nvPr>
            <p:ph type="sldNum" sz="quarter" idx="12"/>
          </p:nvPr>
        </p:nvSpPr>
        <p:spPr>
          <a:xfrm>
            <a:off x="8737600" y="6245225"/>
            <a:ext cx="2844800" cy="476250"/>
          </a:xfrm>
        </p:spPr>
        <p:txBody>
          <a:bodyPr/>
          <a:lstStyle>
            <a:lvl1pPr>
              <a:defRPr/>
            </a:lvl1pPr>
          </a:lstStyle>
          <a:p>
            <a:fld id="{006C8CA3-DF66-422B-B4E4-12E22F925F0D}" type="slidenum">
              <a:rPr lang="en-US" altLang="en-US"/>
              <a:pPr/>
              <a:t>‹#›</a:t>
            </a:fld>
            <a:endParaRPr lang="en-US" altLang="en-US"/>
          </a:p>
        </p:txBody>
      </p:sp>
    </p:spTree>
    <p:extLst>
      <p:ext uri="{BB962C8B-B14F-4D97-AF65-F5344CB8AC3E}">
        <p14:creationId xmlns:p14="http://schemas.microsoft.com/office/powerpoint/2010/main" val="11909538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Yellow">
    <p:bg>
      <p:bgPr>
        <a:solidFill>
          <a:srgbClr val="FFFFCC"/>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164B-9D98-7779-255A-E9DCAE09C244}"/>
              </a:ext>
            </a:extLst>
          </p:cNvPr>
          <p:cNvSpPr>
            <a:spLocks noGrp="1"/>
          </p:cNvSpPr>
          <p:nvPr>
            <p:ph type="title"/>
          </p:nvPr>
        </p:nvSpPr>
        <p:spPr>
          <a:xfrm>
            <a:off x="355600" y="110128"/>
            <a:ext cx="11565467" cy="705642"/>
          </a:xfrm>
        </p:spPr>
        <p:txBody>
          <a:bodyPr wrap="square">
            <a:spAutoFit/>
          </a:bodyPr>
          <a:lstStyle/>
          <a:p>
            <a:r>
              <a:rPr lang="en-US" dirty="0"/>
              <a:t>Click to edit Master title style</a:t>
            </a:r>
            <a:endParaRPr lang="en-GB" dirty="0"/>
          </a:p>
        </p:txBody>
      </p:sp>
    </p:spTree>
    <p:extLst>
      <p:ext uri="{BB962C8B-B14F-4D97-AF65-F5344CB8AC3E}">
        <p14:creationId xmlns:p14="http://schemas.microsoft.com/office/powerpoint/2010/main" val="4058425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Exerci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5C233-D9BE-E225-F7BE-7698F79F3003}"/>
              </a:ext>
            </a:extLst>
          </p:cNvPr>
          <p:cNvSpPr>
            <a:spLocks noGrp="1"/>
          </p:cNvSpPr>
          <p:nvPr>
            <p:ph type="title" hasCustomPrompt="1"/>
          </p:nvPr>
        </p:nvSpPr>
        <p:spPr>
          <a:xfrm>
            <a:off x="163057" y="0"/>
            <a:ext cx="8810824" cy="461665"/>
          </a:xfrm>
        </p:spPr>
        <p:txBody>
          <a:bodyPr>
            <a:normAutofit/>
          </a:bodyPr>
          <a:lstStyle>
            <a:lvl1pPr>
              <a:defRPr sz="2800" b="0"/>
            </a:lvl1pPr>
          </a:lstStyle>
          <a:p>
            <a:r>
              <a:rPr lang="en-US" dirty="0"/>
              <a:t>Input exercise Number</a:t>
            </a:r>
            <a:endParaRPr lang="en-GB" dirty="0"/>
          </a:p>
        </p:txBody>
      </p:sp>
      <p:sp>
        <p:nvSpPr>
          <p:cNvPr id="7" name="Text Placeholder 6">
            <a:extLst>
              <a:ext uri="{FF2B5EF4-FFF2-40B4-BE49-F238E27FC236}">
                <a16:creationId xmlns:a16="http://schemas.microsoft.com/office/drawing/2014/main" id="{0CED2E70-2916-C899-0337-ABD454C29961}"/>
              </a:ext>
            </a:extLst>
          </p:cNvPr>
          <p:cNvSpPr>
            <a:spLocks noGrp="1"/>
          </p:cNvSpPr>
          <p:nvPr>
            <p:ph type="body" sz="quarter" idx="10" hasCustomPrompt="1"/>
          </p:nvPr>
        </p:nvSpPr>
        <p:spPr>
          <a:xfrm>
            <a:off x="163057" y="461665"/>
            <a:ext cx="11865887" cy="482633"/>
          </a:xfrm>
          <a:solidFill>
            <a:schemeClr val="accent5">
              <a:lumMod val="20000"/>
              <a:lumOff val="80000"/>
            </a:schemeClr>
          </a:solidFill>
        </p:spPr>
        <p:txBody>
          <a:bodyPr wrap="square">
            <a:spAutoFit/>
          </a:bodyPr>
          <a:lstStyle>
            <a:lvl1pPr marL="0" indent="0">
              <a:buNone/>
              <a:defRPr/>
            </a:lvl1pPr>
          </a:lstStyle>
          <a:p>
            <a:pPr lvl="0"/>
            <a:r>
              <a:rPr lang="en-US" dirty="0"/>
              <a:t>Click to edit question</a:t>
            </a:r>
            <a:endParaRPr lang="en-GB" dirty="0"/>
          </a:p>
        </p:txBody>
      </p:sp>
    </p:spTree>
    <p:extLst>
      <p:ext uri="{BB962C8B-B14F-4D97-AF65-F5344CB8AC3E}">
        <p14:creationId xmlns:p14="http://schemas.microsoft.com/office/powerpoint/2010/main" val="656934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D46B2-2F30-E45F-C00D-29748AE0C70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0E6E9C4-9E4E-E090-BFD9-CC8142DA556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7B11704-55C1-FB8A-582B-2D21A70C38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65DECED-35FC-E147-96E8-BED6AF66C3BA}" type="datetimeFigureOut">
              <a:rPr lang="en-US" smtClean="0"/>
              <a:t>10/8/26</a:t>
            </a:fld>
            <a:endParaRPr lang="en-US"/>
          </a:p>
        </p:txBody>
      </p:sp>
      <p:sp>
        <p:nvSpPr>
          <p:cNvPr id="5" name="Footer Placeholder 4">
            <a:extLst>
              <a:ext uri="{FF2B5EF4-FFF2-40B4-BE49-F238E27FC236}">
                <a16:creationId xmlns:a16="http://schemas.microsoft.com/office/drawing/2014/main" id="{2863680A-39B6-69F5-A664-DD02D170C1B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AD9465-F8CA-891D-7AC7-C35B4DA7F1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E9EC33-775C-4F4C-9315-BFCEFC41648F}" type="slidenum">
              <a:rPr lang="en-US" smtClean="0"/>
              <a:t>‹#›</a:t>
            </a:fld>
            <a:endParaRPr lang="en-US"/>
          </a:p>
        </p:txBody>
      </p:sp>
    </p:spTree>
    <p:extLst>
      <p:ext uri="{BB962C8B-B14F-4D97-AF65-F5344CB8AC3E}">
        <p14:creationId xmlns:p14="http://schemas.microsoft.com/office/powerpoint/2010/main" val="20066163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hyperlink" Target="Prisms.exe" TargetMode="Externa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12.pn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commons.wikimedia.org/wiki/File:ALSEP_AS14-67-9386.jpg" TargetMode="External"/><Relationship Id="rId2" Type="http://schemas.openxmlformats.org/officeDocument/2006/relationships/image" Target="../media/image21.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3.jpeg"/></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42.jpeg"/></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oleObject" Target="../embeddings/oleObject1.bin"/><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image" Target="../media/image47.jpeg"/><Relationship Id="rId1" Type="http://schemas.openxmlformats.org/officeDocument/2006/relationships/slideLayout" Target="../slideLayouts/slideLayout6.xml"/><Relationship Id="rId4" Type="http://schemas.openxmlformats.org/officeDocument/2006/relationships/image" Target="../media/image48.png"/></Relationships>
</file>

<file path=ppt/slides/_rels/slide45.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50.gif"/><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51.gi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5" name="Picture 14" descr="A honeycomb glass surface">
            <a:extLst>
              <a:ext uri="{FF2B5EF4-FFF2-40B4-BE49-F238E27FC236}">
                <a16:creationId xmlns:a16="http://schemas.microsoft.com/office/drawing/2014/main" id="{6DCFE2D8-AAD4-9446-ACAF-95CD15E8E50C}"/>
              </a:ext>
            </a:extLst>
          </p:cNvPr>
          <p:cNvPicPr>
            <a:picLocks noChangeAspect="1"/>
          </p:cNvPicPr>
          <p:nvPr/>
        </p:nvPicPr>
        <p:blipFill>
          <a:blip r:embed="rId2"/>
          <a:srcRect t="12335" b="3396"/>
          <a:stretch>
            <a:fillRect/>
          </a:stretch>
        </p:blipFill>
        <p:spPr>
          <a:xfrm>
            <a:off x="20" y="10"/>
            <a:ext cx="12191980" cy="6857990"/>
          </a:xfrm>
          <a:prstGeom prst="rect">
            <a:avLst/>
          </a:prstGeom>
        </p:spPr>
      </p:pic>
      <p:sp useBgFill="1">
        <p:nvSpPr>
          <p:cNvPr id="16" name="Rectangle 15">
            <a:extLst>
              <a:ext uri="{FF2B5EF4-FFF2-40B4-BE49-F238E27FC236}">
                <a16:creationId xmlns:a16="http://schemas.microsoft.com/office/drawing/2014/main" id="{8870DEF6-46A2-D4F8-8BE6-91165D93EC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83934" y="1860919"/>
            <a:ext cx="4975280" cy="3108645"/>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4456C8-E206-9237-CDED-0149223F0585}"/>
              </a:ext>
            </a:extLst>
          </p:cNvPr>
          <p:cNvSpPr>
            <a:spLocks noGrp="1"/>
          </p:cNvSpPr>
          <p:nvPr>
            <p:ph type="ctrTitle"/>
          </p:nvPr>
        </p:nvSpPr>
        <p:spPr>
          <a:xfrm>
            <a:off x="2090528" y="2299176"/>
            <a:ext cx="4131368" cy="1571164"/>
          </a:xfrm>
        </p:spPr>
        <p:txBody>
          <a:bodyPr anchor="t">
            <a:normAutofit/>
          </a:bodyPr>
          <a:lstStyle/>
          <a:p>
            <a:pPr algn="l"/>
            <a:r>
              <a:rPr lang="en-US" sz="3600"/>
              <a:t>Total Internal Reflection</a:t>
            </a:r>
          </a:p>
        </p:txBody>
      </p:sp>
      <p:sp>
        <p:nvSpPr>
          <p:cNvPr id="3" name="Subtitle 2">
            <a:extLst>
              <a:ext uri="{FF2B5EF4-FFF2-40B4-BE49-F238E27FC236}">
                <a16:creationId xmlns:a16="http://schemas.microsoft.com/office/drawing/2014/main" id="{19A105E1-6665-010B-7692-1F21DDCC0F30}"/>
              </a:ext>
            </a:extLst>
          </p:cNvPr>
          <p:cNvSpPr>
            <a:spLocks noGrp="1"/>
          </p:cNvSpPr>
          <p:nvPr>
            <p:ph type="subTitle" idx="1"/>
          </p:nvPr>
        </p:nvSpPr>
        <p:spPr>
          <a:xfrm>
            <a:off x="2090529" y="4199213"/>
            <a:ext cx="4191938" cy="598548"/>
          </a:xfrm>
        </p:spPr>
        <p:txBody>
          <a:bodyPr anchor="ctr">
            <a:normAutofit/>
          </a:bodyPr>
          <a:lstStyle/>
          <a:p>
            <a:pPr algn="l"/>
            <a:endParaRPr lang="en-US" sz="1800"/>
          </a:p>
        </p:txBody>
      </p:sp>
      <p:cxnSp>
        <p:nvCxnSpPr>
          <p:cNvPr id="17" name="Straight Connector 16">
            <a:extLst>
              <a:ext uri="{FF2B5EF4-FFF2-40B4-BE49-F238E27FC236}">
                <a16:creationId xmlns:a16="http://schemas.microsoft.com/office/drawing/2014/main" id="{522632D6-DED9-FDEC-FD9F-09FF0A4544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3170" y="403477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4797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EEF3867A-488C-4897-8892-195E0FDBB042}"/>
              </a:ext>
            </a:extLst>
          </p:cNvPr>
          <p:cNvSpPr>
            <a:spLocks noGrp="1" noChangeArrowheads="1"/>
          </p:cNvSpPr>
          <p:nvPr>
            <p:ph type="title"/>
          </p:nvPr>
        </p:nvSpPr>
        <p:spPr>
          <a:xfrm>
            <a:off x="1828800" y="152400"/>
            <a:ext cx="8153400" cy="1143000"/>
          </a:xfrm>
        </p:spPr>
        <p:txBody>
          <a:bodyPr/>
          <a:lstStyle/>
          <a:p>
            <a:pPr eaLnBrk="1" hangingPunct="1"/>
            <a:r>
              <a:rPr lang="en-GB" altLang="en-US" b="1">
                <a:latin typeface="Times New Roman" panose="02020603050405020304" pitchFamily="18" charset="0"/>
              </a:rPr>
              <a:t>Snell’s Window</a:t>
            </a:r>
          </a:p>
        </p:txBody>
      </p:sp>
      <p:sp>
        <p:nvSpPr>
          <p:cNvPr id="60419" name="Rectangle 3">
            <a:extLst>
              <a:ext uri="{FF2B5EF4-FFF2-40B4-BE49-F238E27FC236}">
                <a16:creationId xmlns:a16="http://schemas.microsoft.com/office/drawing/2014/main" id="{E2B6C8C4-33A6-4B6D-A9E3-2D8D59DDBC96}"/>
              </a:ext>
            </a:extLst>
          </p:cNvPr>
          <p:cNvSpPr>
            <a:spLocks noGrp="1" noChangeArrowheads="1"/>
          </p:cNvSpPr>
          <p:nvPr>
            <p:ph type="body" idx="1"/>
          </p:nvPr>
        </p:nvSpPr>
        <p:spPr>
          <a:xfrm>
            <a:off x="6629400" y="1143000"/>
            <a:ext cx="3810000" cy="5410200"/>
          </a:xfrm>
          <a:ln>
            <a:solidFill>
              <a:srgbClr val="FF0000"/>
            </a:solidFill>
            <a:miter lim="800000"/>
            <a:headEnd/>
            <a:tailEnd/>
          </a:ln>
        </p:spPr>
        <p:txBody>
          <a:bodyPr/>
          <a:lstStyle/>
          <a:p>
            <a:pPr eaLnBrk="1" hangingPunct="1">
              <a:lnSpc>
                <a:spcPct val="90000"/>
              </a:lnSpc>
            </a:pPr>
            <a:r>
              <a:rPr lang="en-GB" altLang="en-US" dirty="0"/>
              <a:t>Light passing from water to air can only emerge through a cone with a circle of radius </a:t>
            </a:r>
            <a:r>
              <a:rPr lang="en-GB" altLang="en-US" i="1" dirty="0"/>
              <a:t>r</a:t>
            </a:r>
            <a:r>
              <a:rPr lang="en-GB" altLang="en-US" dirty="0"/>
              <a:t> at the surface.</a:t>
            </a:r>
          </a:p>
          <a:p>
            <a:pPr eaLnBrk="1" hangingPunct="1">
              <a:lnSpc>
                <a:spcPct val="90000"/>
              </a:lnSpc>
            </a:pPr>
            <a:r>
              <a:rPr lang="en-GB" altLang="en-US" dirty="0"/>
              <a:t>All other rays outside of this cone cannot escape into the air due to total internal reflection.  </a:t>
            </a:r>
          </a:p>
        </p:txBody>
      </p:sp>
      <p:sp>
        <p:nvSpPr>
          <p:cNvPr id="60420" name="Text Box 5">
            <a:extLst>
              <a:ext uri="{FF2B5EF4-FFF2-40B4-BE49-F238E27FC236}">
                <a16:creationId xmlns:a16="http://schemas.microsoft.com/office/drawing/2014/main" id="{25BF354E-4487-47D3-AEB2-3F08E477DC5A}"/>
              </a:ext>
            </a:extLst>
          </p:cNvPr>
          <p:cNvSpPr txBox="1">
            <a:spLocks noChangeArrowheads="1"/>
          </p:cNvSpPr>
          <p:nvPr/>
        </p:nvSpPr>
        <p:spPr bwMode="auto">
          <a:xfrm>
            <a:off x="1736726" y="4149726"/>
            <a:ext cx="4816475" cy="2554545"/>
          </a:xfrm>
          <a:prstGeom prst="rect">
            <a:avLst/>
          </a:prstGeom>
          <a:noFill/>
          <a:ln>
            <a:noFill/>
          </a:ln>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GB" altLang="en-US" sz="3200" dirty="0">
                <a:ln w="0"/>
                <a:effectLst>
                  <a:outerShdw blurRad="38100" dist="19050" dir="2700000" algn="tl" rotWithShape="0">
                    <a:schemeClr val="dk1">
                      <a:alpha val="40000"/>
                    </a:schemeClr>
                  </a:outerShdw>
                </a:effectLst>
              </a:rPr>
              <a:t>If you are underwater and looking </a:t>
            </a:r>
            <a:r>
              <a:rPr lang="en-GB" altLang="en-US" sz="3200" dirty="0" err="1">
                <a:ln w="0"/>
                <a:effectLst>
                  <a:outerShdw blurRad="38100" dist="19050" dir="2700000" algn="tl" rotWithShape="0">
                    <a:schemeClr val="dk1">
                      <a:alpha val="40000"/>
                    </a:schemeClr>
                  </a:outerShdw>
                </a:effectLst>
              </a:rPr>
              <a:t>upwards,light</a:t>
            </a:r>
            <a:r>
              <a:rPr lang="en-GB" altLang="en-US" sz="3200" dirty="0">
                <a:ln w="0"/>
                <a:effectLst>
                  <a:outerShdw blurRad="38100" dist="19050" dir="2700000" algn="tl" rotWithShape="0">
                    <a:schemeClr val="dk1">
                      <a:alpha val="40000"/>
                    </a:schemeClr>
                  </a:outerShdw>
                </a:effectLst>
              </a:rPr>
              <a:t> from outside can only enter the water through a circle divers call Snell’s Window.</a:t>
            </a:r>
          </a:p>
        </p:txBody>
      </p:sp>
      <p:pic>
        <p:nvPicPr>
          <p:cNvPr id="6" name="Picture 5">
            <a:extLst>
              <a:ext uri="{FF2B5EF4-FFF2-40B4-BE49-F238E27FC236}">
                <a16:creationId xmlns:a16="http://schemas.microsoft.com/office/drawing/2014/main" id="{A18D876B-A407-4959-98F5-E35C3770763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63750" y="1125539"/>
            <a:ext cx="4256088" cy="282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2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C9E6C1E8-F537-4003-AFA8-18186C5A7218}"/>
              </a:ext>
            </a:extLst>
          </p:cNvPr>
          <p:cNvSpPr>
            <a:spLocks noGrp="1" noChangeArrowheads="1"/>
          </p:cNvSpPr>
          <p:nvPr>
            <p:ph type="title"/>
          </p:nvPr>
        </p:nvSpPr>
        <p:spPr>
          <a:xfrm>
            <a:off x="1828800" y="152401"/>
            <a:ext cx="8153400" cy="900113"/>
          </a:xfrm>
        </p:spPr>
        <p:txBody>
          <a:bodyPr/>
          <a:lstStyle/>
          <a:p>
            <a:pPr eaLnBrk="1" hangingPunct="1"/>
            <a:r>
              <a:rPr lang="en-GB" altLang="en-US" b="1">
                <a:latin typeface="Times New Roman" panose="02020603050405020304" pitchFamily="18" charset="0"/>
              </a:rPr>
              <a:t>Snell’s Window</a:t>
            </a:r>
          </a:p>
        </p:txBody>
      </p:sp>
      <p:pic>
        <p:nvPicPr>
          <p:cNvPr id="3" name="Picture 2">
            <a:extLst>
              <a:ext uri="{FF2B5EF4-FFF2-40B4-BE49-F238E27FC236}">
                <a16:creationId xmlns:a16="http://schemas.microsoft.com/office/drawing/2014/main" id="{F6130FED-7DE1-414D-879B-01C7D18FDAD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31951" y="1016000"/>
            <a:ext cx="3743325" cy="280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2">
            <a:extLst>
              <a:ext uri="{FF2B5EF4-FFF2-40B4-BE49-F238E27FC236}">
                <a16:creationId xmlns:a16="http://schemas.microsoft.com/office/drawing/2014/main" id="{C8ECF6FC-A823-4119-A244-A0B68C7E181F}"/>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003926" y="3644901"/>
            <a:ext cx="46640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3">
            <a:extLst>
              <a:ext uri="{FF2B5EF4-FFF2-40B4-BE49-F238E27FC236}">
                <a16:creationId xmlns:a16="http://schemas.microsoft.com/office/drawing/2014/main" id="{611B5ED3-DFDE-4B07-B777-B57FC5E2EA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3389" y="4044951"/>
            <a:ext cx="3671887" cy="2403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par>
                          <p:cTn id="10" fill="hold" nodeType="afterGroup">
                            <p:stCondLst>
                              <p:cond delay="500"/>
                            </p:stCondLst>
                            <p:childTnLst>
                              <p:par>
                                <p:cTn id="11" presetID="16" presetClass="entr" presetSubtype="21" fill="hold" nodeType="after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barn(inVertical)">
                                      <p:cBhvr>
                                        <p:cTn id="1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a:extLst>
              <a:ext uri="{FF2B5EF4-FFF2-40B4-BE49-F238E27FC236}">
                <a16:creationId xmlns:a16="http://schemas.microsoft.com/office/drawing/2014/main" id="{E899909A-6FF6-42BB-BAF7-23CC6194A045}"/>
              </a:ext>
            </a:extLst>
          </p:cNvPr>
          <p:cNvSpPr>
            <a:spLocks noGrp="1"/>
          </p:cNvSpPr>
          <p:nvPr>
            <p:ph type="title"/>
          </p:nvPr>
        </p:nvSpPr>
        <p:spPr>
          <a:xfrm>
            <a:off x="2063750" y="620713"/>
            <a:ext cx="8153400" cy="1143000"/>
          </a:xfrm>
        </p:spPr>
        <p:txBody>
          <a:bodyPr/>
          <a:lstStyle/>
          <a:p>
            <a:r>
              <a:rPr lang="en-IE" altLang="en-US"/>
              <a:t>Prisms</a:t>
            </a:r>
          </a:p>
        </p:txBody>
      </p:sp>
      <p:sp>
        <p:nvSpPr>
          <p:cNvPr id="3" name="TextBox 2">
            <a:hlinkClick r:id="rId2" action="ppaction://hlinkfile"/>
            <a:extLst>
              <a:ext uri="{FF2B5EF4-FFF2-40B4-BE49-F238E27FC236}">
                <a16:creationId xmlns:a16="http://schemas.microsoft.com/office/drawing/2014/main" id="{C794CF07-40D1-43E3-898E-D29EB8BA8C2D}"/>
              </a:ext>
            </a:extLst>
          </p:cNvPr>
          <p:cNvSpPr txBox="1"/>
          <p:nvPr/>
        </p:nvSpPr>
        <p:spPr>
          <a:xfrm>
            <a:off x="2640013" y="3284539"/>
            <a:ext cx="7275512" cy="1323975"/>
          </a:xfrm>
          <a:prstGeom prst="rect">
            <a:avLst/>
          </a:prstGeom>
          <a:solidFill>
            <a:schemeClr val="accent1">
              <a:lumMod val="20000"/>
              <a:lumOff val="80000"/>
            </a:schemeClr>
          </a:solidFill>
        </p:spPr>
        <p:txBody>
          <a:bodyPr wrap="none">
            <a:spAutoFit/>
          </a:bodyPr>
          <a:lstStyle/>
          <a:p>
            <a:pPr>
              <a:defRPr/>
            </a:pPr>
            <a:r>
              <a:rPr lang="en-IE" sz="4000" dirty="0">
                <a:cs typeface="Arial" charset="0"/>
              </a:rPr>
              <a:t>PHET.COLORADO.EDU</a:t>
            </a:r>
          </a:p>
          <a:p>
            <a:pPr>
              <a:defRPr/>
            </a:pPr>
            <a:r>
              <a:rPr lang="en-IE" sz="4000" b="1" u="sng" dirty="0">
                <a:cs typeface="Arial" charset="0"/>
              </a:rPr>
              <a:t>Prism </a:t>
            </a:r>
            <a:r>
              <a:rPr lang="en-IE" sz="4000" dirty="0">
                <a:cs typeface="Arial" charset="0"/>
              </a:rPr>
              <a:t>Simulation using </a:t>
            </a:r>
            <a:r>
              <a:rPr lang="en-IE" sz="4000" b="1" dirty="0">
                <a:cs typeface="Arial" charset="0"/>
              </a:rPr>
              <a:t>red</a:t>
            </a:r>
            <a:r>
              <a:rPr lang="en-IE" sz="4000" dirty="0">
                <a:cs typeface="Arial" charset="0"/>
              </a:rPr>
              <a:t> </a:t>
            </a:r>
            <a:r>
              <a:rPr lang="en-IE" sz="4000" b="1" dirty="0">
                <a:cs typeface="Arial" charset="0"/>
              </a:rPr>
              <a:t>light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7">
            <a:extLst>
              <a:ext uri="{FF2B5EF4-FFF2-40B4-BE49-F238E27FC236}">
                <a16:creationId xmlns:a16="http://schemas.microsoft.com/office/drawing/2014/main" id="{90BD9665-E3EA-4C73-A561-2BA85A858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63" name="Rectangle 2">
            <a:extLst>
              <a:ext uri="{FF2B5EF4-FFF2-40B4-BE49-F238E27FC236}">
                <a16:creationId xmlns:a16="http://schemas.microsoft.com/office/drawing/2014/main" id="{5CD1ED19-68DD-4B22-AD84-7855E9A54737}"/>
              </a:ext>
            </a:extLst>
          </p:cNvPr>
          <p:cNvSpPr>
            <a:spLocks noGrp="1" noChangeArrowheads="1"/>
          </p:cNvSpPr>
          <p:nvPr>
            <p:ph type="ctrTitle"/>
          </p:nvPr>
        </p:nvSpPr>
        <p:spPr>
          <a:xfrm>
            <a:off x="3065721" y="850604"/>
            <a:ext cx="4572000" cy="533400"/>
          </a:xfrm>
        </p:spPr>
        <p:txBody>
          <a:bodyPr>
            <a:normAutofit fontScale="90000"/>
          </a:bodyPr>
          <a:lstStyle/>
          <a:p>
            <a:pPr eaLnBrk="1" hangingPunct="1"/>
            <a:r>
              <a:rPr lang="en-GB" altLang="en-US" dirty="0"/>
              <a:t>rainbow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586" name="Picture 28">
            <a:extLst>
              <a:ext uri="{FF2B5EF4-FFF2-40B4-BE49-F238E27FC236}">
                <a16:creationId xmlns:a16="http://schemas.microsoft.com/office/drawing/2014/main" id="{5ADEA128-5907-4290-83DB-87638F3BA5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587" name="Rectangle 2">
            <a:extLst>
              <a:ext uri="{FF2B5EF4-FFF2-40B4-BE49-F238E27FC236}">
                <a16:creationId xmlns:a16="http://schemas.microsoft.com/office/drawing/2014/main" id="{B6287B4C-8389-41DC-8524-F48E0F0523C9}"/>
              </a:ext>
            </a:extLst>
          </p:cNvPr>
          <p:cNvSpPr>
            <a:spLocks noGrp="1" noChangeArrowheads="1"/>
          </p:cNvSpPr>
          <p:nvPr>
            <p:ph type="ctrTitle"/>
          </p:nvPr>
        </p:nvSpPr>
        <p:spPr>
          <a:xfrm>
            <a:off x="2098158" y="1297172"/>
            <a:ext cx="4572000" cy="533400"/>
          </a:xfrm>
        </p:spPr>
        <p:txBody>
          <a:bodyPr>
            <a:normAutofit fontScale="90000"/>
          </a:bodyPr>
          <a:lstStyle/>
          <a:p>
            <a:pPr eaLnBrk="1" hangingPunct="1"/>
            <a:r>
              <a:rPr lang="en-GB" altLang="en-US" dirty="0"/>
              <a:t>7 colours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C5937-0D05-4540-ABE6-600B03748F17}"/>
            </a:ext>
          </a:extLst>
        </p:cNvPr>
        <p:cNvGrpSpPr/>
        <p:nvPr/>
      </p:nvGrpSpPr>
      <p:grpSpPr>
        <a:xfrm>
          <a:off x="0" y="0"/>
          <a:ext cx="0" cy="0"/>
          <a:chOff x="0" y="0"/>
          <a:chExt cx="0" cy="0"/>
        </a:xfrm>
      </p:grpSpPr>
      <p:sp>
        <p:nvSpPr>
          <p:cNvPr id="109570" name="Rectangle 2">
            <a:extLst>
              <a:ext uri="{FF2B5EF4-FFF2-40B4-BE49-F238E27FC236}">
                <a16:creationId xmlns:a16="http://schemas.microsoft.com/office/drawing/2014/main" id="{5F4DD8FB-EC7F-339B-7D4B-0DA5FB354AE7}"/>
              </a:ext>
            </a:extLst>
          </p:cNvPr>
          <p:cNvSpPr>
            <a:spLocks noGrp="1" noChangeArrowheads="1"/>
          </p:cNvSpPr>
          <p:nvPr>
            <p:ph type="title"/>
          </p:nvPr>
        </p:nvSpPr>
        <p:spPr>
          <a:xfrm>
            <a:off x="1981200" y="-228600"/>
            <a:ext cx="8229600" cy="1143000"/>
          </a:xfrm>
        </p:spPr>
        <p:txBody>
          <a:bodyPr/>
          <a:lstStyle/>
          <a:p>
            <a:r>
              <a:rPr lang="en-IE" altLang="en-US">
                <a:solidFill>
                  <a:srgbClr val="FF6600"/>
                </a:solidFill>
              </a:rPr>
              <a:t>Uses of prisms</a:t>
            </a:r>
            <a:endParaRPr lang="en-GB" altLang="en-US">
              <a:solidFill>
                <a:srgbClr val="FF6600"/>
              </a:solidFill>
            </a:endParaRPr>
          </a:p>
        </p:txBody>
      </p:sp>
      <p:pic>
        <p:nvPicPr>
          <p:cNvPr id="109571" name="Picture 5" descr="galilean.jpg (26290 bytes)">
            <a:extLst>
              <a:ext uri="{FF2B5EF4-FFF2-40B4-BE49-F238E27FC236}">
                <a16:creationId xmlns:a16="http://schemas.microsoft.com/office/drawing/2014/main" id="{7F974129-A552-928F-6DA4-077A19D07757}"/>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847850" y="2133600"/>
            <a:ext cx="3816350" cy="30368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2" name="Picture 8" descr="binocular.jpg (31467 bytes)">
            <a:extLst>
              <a:ext uri="{FF2B5EF4-FFF2-40B4-BE49-F238E27FC236}">
                <a16:creationId xmlns:a16="http://schemas.microsoft.com/office/drawing/2014/main" id="{5A4C3C76-580F-45D6-850E-76A6CB4F836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808663" y="2133600"/>
            <a:ext cx="4608512" cy="30607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029167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6632"/>
                                        </p:tgtEl>
                                        <p:attrNameLst>
                                          <p:attrName>style.visibility</p:attrName>
                                        </p:attrNameLst>
                                      </p:cBhvr>
                                      <p:to>
                                        <p:strVal val="visible"/>
                                      </p:to>
                                    </p:set>
                                    <p:anim calcmode="lin" valueType="num">
                                      <p:cBhvr>
                                        <p:cTn id="7" dur="1000" fill="hold"/>
                                        <p:tgtEl>
                                          <p:spTgt spid="26632"/>
                                        </p:tgtEl>
                                        <p:attrNameLst>
                                          <p:attrName>ppt_w</p:attrName>
                                        </p:attrNameLst>
                                      </p:cBhvr>
                                      <p:tavLst>
                                        <p:tav tm="0">
                                          <p:val>
                                            <p:strVal val="#ppt_w*0.70"/>
                                          </p:val>
                                        </p:tav>
                                        <p:tav tm="100000">
                                          <p:val>
                                            <p:strVal val="#ppt_w"/>
                                          </p:val>
                                        </p:tav>
                                      </p:tavLst>
                                    </p:anim>
                                    <p:anim calcmode="lin" valueType="num">
                                      <p:cBhvr>
                                        <p:cTn id="8" dur="1000" fill="hold"/>
                                        <p:tgtEl>
                                          <p:spTgt spid="26632"/>
                                        </p:tgtEl>
                                        <p:attrNameLst>
                                          <p:attrName>ppt_h</p:attrName>
                                        </p:attrNameLst>
                                      </p:cBhvr>
                                      <p:tavLst>
                                        <p:tav tm="0">
                                          <p:val>
                                            <p:strVal val="#ppt_h"/>
                                          </p:val>
                                        </p:tav>
                                        <p:tav tm="100000">
                                          <p:val>
                                            <p:strVal val="#ppt_h"/>
                                          </p:val>
                                        </p:tav>
                                      </p:tavLst>
                                    </p:anim>
                                    <p:animEffect transition="in" filter="fade">
                                      <p:cBhvr>
                                        <p:cTn id="9" dur="1000"/>
                                        <p:tgtEl>
                                          <p:spTgt spid="26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6">
            <a:extLst>
              <a:ext uri="{FF2B5EF4-FFF2-40B4-BE49-F238E27FC236}">
                <a16:creationId xmlns:a16="http://schemas.microsoft.com/office/drawing/2014/main" id="{A250BB34-32C8-451C-81A7-6371A095B523}"/>
              </a:ext>
            </a:extLst>
          </p:cNvPr>
          <p:cNvSpPr>
            <a:spLocks noGrp="1" noChangeArrowheads="1"/>
          </p:cNvSpPr>
          <p:nvPr>
            <p:ph type="title"/>
          </p:nvPr>
        </p:nvSpPr>
        <p:spPr>
          <a:xfrm>
            <a:off x="2209800" y="304800"/>
            <a:ext cx="7772400" cy="1143000"/>
          </a:xfrm>
        </p:spPr>
        <p:txBody>
          <a:bodyPr>
            <a:normAutofit fontScale="90000"/>
          </a:bodyPr>
          <a:lstStyle/>
          <a:p>
            <a:pPr eaLnBrk="1" hangingPunct="1"/>
            <a:r>
              <a:rPr lang="en-GB" altLang="en-US"/>
              <a:t>Using T.I.R. in a prism to deviate light through 90</a:t>
            </a:r>
            <a:r>
              <a:rPr lang="en-GB" altLang="en-US">
                <a:sym typeface="Symbol" panose="05050102010706020507" pitchFamily="18" charset="2"/>
              </a:rPr>
              <a:t></a:t>
            </a:r>
          </a:p>
        </p:txBody>
      </p:sp>
      <p:pic>
        <p:nvPicPr>
          <p:cNvPr id="68611" name="Picture 7" descr="C:\WINDOWS\Desktop\Physics      O'Regan\O'Regan Chapter 04 - Refraction\TIR - Prism Ray Diagram1.JPG">
            <a:extLst>
              <a:ext uri="{FF2B5EF4-FFF2-40B4-BE49-F238E27FC236}">
                <a16:creationId xmlns:a16="http://schemas.microsoft.com/office/drawing/2014/main" id="{DDACF0FE-8A2B-4985-A8CF-F23FCC3D4C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4727576"/>
            <a:ext cx="266700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2" name="Picture 8" descr="C:\WINDOWS\Desktop\Physics 1      O'Regan\O'Regan Chapter 04 - Refraction\Prism TIR90 1.JPG">
            <a:extLst>
              <a:ext uri="{FF2B5EF4-FFF2-40B4-BE49-F238E27FC236}">
                <a16:creationId xmlns:a16="http://schemas.microsoft.com/office/drawing/2014/main" id="{B946533D-FAFA-4FFE-9280-FA06CBDC30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0" y="1905000"/>
            <a:ext cx="427355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3" name="Picture 9">
            <a:extLst>
              <a:ext uri="{FF2B5EF4-FFF2-40B4-BE49-F238E27FC236}">
                <a16:creationId xmlns:a16="http://schemas.microsoft.com/office/drawing/2014/main" id="{39662683-9701-473C-9340-AB60592763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91400" y="1600200"/>
            <a:ext cx="2647950" cy="283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a:extLst>
              <a:ext uri="{FF2B5EF4-FFF2-40B4-BE49-F238E27FC236}">
                <a16:creationId xmlns:a16="http://schemas.microsoft.com/office/drawing/2014/main" id="{D4BF1145-6082-4C6F-B86A-2C54348E7172}"/>
              </a:ext>
            </a:extLst>
          </p:cNvPr>
          <p:cNvSpPr>
            <a:spLocks noGrp="1"/>
          </p:cNvSpPr>
          <p:nvPr>
            <p:ph type="sldNum" sz="quarter" idx="12"/>
          </p:nvPr>
        </p:nvSpPr>
        <p:spPr>
          <a:xfrm>
            <a:off x="2209800" y="6248400"/>
            <a:ext cx="1905000" cy="457200"/>
          </a:xfrm>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eaLnBrk="1" hangingPunct="1"/>
            <a:fld id="{468B3D7C-4A0F-43A1-BA5C-8D5278BA8D77}" type="slidenum">
              <a:rPr lang="en-GB" altLang="en-US" sz="1400"/>
              <a:pPr algn="l" eaLnBrk="1" hangingPunct="1"/>
              <a:t>9</a:t>
            </a:fld>
            <a:endParaRPr lang="en-GB" altLang="en-US" sz="1400"/>
          </a:p>
        </p:txBody>
      </p:sp>
      <p:pic>
        <p:nvPicPr>
          <p:cNvPr id="16387" name="Picture 3" descr="prism7">
            <a:extLst>
              <a:ext uri="{FF2B5EF4-FFF2-40B4-BE49-F238E27FC236}">
                <a16:creationId xmlns:a16="http://schemas.microsoft.com/office/drawing/2014/main" id="{AB2ED527-3FE0-43CE-A686-1F95862A8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1"/>
            <a:ext cx="4046538"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Line 4">
            <a:extLst>
              <a:ext uri="{FF2B5EF4-FFF2-40B4-BE49-F238E27FC236}">
                <a16:creationId xmlns:a16="http://schemas.microsoft.com/office/drawing/2014/main" id="{1B27C2C1-639D-47C9-8BD0-17FE14786434}"/>
              </a:ext>
            </a:extLst>
          </p:cNvPr>
          <p:cNvSpPr>
            <a:spLocks noChangeShapeType="1"/>
          </p:cNvSpPr>
          <p:nvPr/>
        </p:nvSpPr>
        <p:spPr bwMode="auto">
          <a:xfrm>
            <a:off x="3657600" y="3429000"/>
            <a:ext cx="5791200" cy="0"/>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IE"/>
          </a:p>
        </p:txBody>
      </p:sp>
      <p:sp>
        <p:nvSpPr>
          <p:cNvPr id="16389" name="Line 5">
            <a:extLst>
              <a:ext uri="{FF2B5EF4-FFF2-40B4-BE49-F238E27FC236}">
                <a16:creationId xmlns:a16="http://schemas.microsoft.com/office/drawing/2014/main" id="{4338839F-4AC7-4CE9-B5E0-9BAA9AD4AB19}"/>
              </a:ext>
            </a:extLst>
          </p:cNvPr>
          <p:cNvSpPr>
            <a:spLocks noChangeShapeType="1"/>
          </p:cNvSpPr>
          <p:nvPr/>
        </p:nvSpPr>
        <p:spPr bwMode="auto">
          <a:xfrm>
            <a:off x="3657600" y="3429000"/>
            <a:ext cx="0" cy="3200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grpSp>
        <p:nvGrpSpPr>
          <p:cNvPr id="2" name="Group 25">
            <a:extLst>
              <a:ext uri="{FF2B5EF4-FFF2-40B4-BE49-F238E27FC236}">
                <a16:creationId xmlns:a16="http://schemas.microsoft.com/office/drawing/2014/main" id="{AC92F1D7-FA7B-4167-B021-5BFA20BE365E}"/>
              </a:ext>
            </a:extLst>
          </p:cNvPr>
          <p:cNvGrpSpPr>
            <a:grpSpLocks/>
          </p:cNvGrpSpPr>
          <p:nvPr/>
        </p:nvGrpSpPr>
        <p:grpSpPr bwMode="auto">
          <a:xfrm>
            <a:off x="2590800" y="2514600"/>
            <a:ext cx="2286000" cy="1981200"/>
            <a:chOff x="672" y="1584"/>
            <a:chExt cx="1440" cy="1248"/>
          </a:xfrm>
        </p:grpSpPr>
        <p:sp>
          <p:nvSpPr>
            <p:cNvPr id="69652" name="Line 6">
              <a:extLst>
                <a:ext uri="{FF2B5EF4-FFF2-40B4-BE49-F238E27FC236}">
                  <a16:creationId xmlns:a16="http://schemas.microsoft.com/office/drawing/2014/main" id="{C02E44B2-6F2B-485F-9ED7-06E9AAD4B067}"/>
                </a:ext>
              </a:extLst>
            </p:cNvPr>
            <p:cNvSpPr>
              <a:spLocks noChangeShapeType="1"/>
            </p:cNvSpPr>
            <p:nvPr/>
          </p:nvSpPr>
          <p:spPr bwMode="auto">
            <a:xfrm flipH="1" flipV="1">
              <a:off x="672" y="1584"/>
              <a:ext cx="1248" cy="110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69653" name="Text Box 8">
              <a:extLst>
                <a:ext uri="{FF2B5EF4-FFF2-40B4-BE49-F238E27FC236}">
                  <a16:creationId xmlns:a16="http://schemas.microsoft.com/office/drawing/2014/main" id="{36C68957-0077-4CEF-8F62-E9C3BDCDB6E4}"/>
                </a:ext>
              </a:extLst>
            </p:cNvPr>
            <p:cNvSpPr txBox="1">
              <a:spLocks noChangeArrowheads="1"/>
            </p:cNvSpPr>
            <p:nvPr/>
          </p:nvSpPr>
          <p:spPr bwMode="auto">
            <a:xfrm>
              <a:off x="1728" y="216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45</a:t>
              </a:r>
              <a:r>
                <a:rPr lang="en-IE" altLang="en-US" baseline="30000"/>
                <a:t>0</a:t>
              </a:r>
              <a:endParaRPr lang="en-GB" altLang="en-US"/>
            </a:p>
          </p:txBody>
        </p:sp>
        <p:sp>
          <p:nvSpPr>
            <p:cNvPr id="69654" name="Text Box 9">
              <a:extLst>
                <a:ext uri="{FF2B5EF4-FFF2-40B4-BE49-F238E27FC236}">
                  <a16:creationId xmlns:a16="http://schemas.microsoft.com/office/drawing/2014/main" id="{069EF6C7-8A04-4F23-9374-E34B2609A18F}"/>
                </a:ext>
              </a:extLst>
            </p:cNvPr>
            <p:cNvSpPr txBox="1">
              <a:spLocks noChangeArrowheads="1"/>
            </p:cNvSpPr>
            <p:nvPr/>
          </p:nvSpPr>
          <p:spPr bwMode="auto">
            <a:xfrm>
              <a:off x="1392" y="25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45</a:t>
              </a:r>
              <a:r>
                <a:rPr lang="en-IE" altLang="en-US" baseline="30000"/>
                <a:t>0</a:t>
              </a:r>
              <a:endParaRPr lang="en-GB" altLang="en-US"/>
            </a:p>
          </p:txBody>
        </p:sp>
      </p:grpSp>
      <p:sp>
        <p:nvSpPr>
          <p:cNvPr id="16395" name="Text Box 11">
            <a:extLst>
              <a:ext uri="{FF2B5EF4-FFF2-40B4-BE49-F238E27FC236}">
                <a16:creationId xmlns:a16="http://schemas.microsoft.com/office/drawing/2014/main" id="{4178ED03-557D-4FEA-BBEC-14E5F94B4805}"/>
              </a:ext>
            </a:extLst>
          </p:cNvPr>
          <p:cNvSpPr txBox="1">
            <a:spLocks noChangeArrowheads="1"/>
          </p:cNvSpPr>
          <p:nvPr/>
        </p:nvSpPr>
        <p:spPr bwMode="auto">
          <a:xfrm>
            <a:off x="1524000" y="152401"/>
            <a:ext cx="3276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dirty="0">
                <a:solidFill>
                  <a:schemeClr val="bg1"/>
                </a:solidFill>
              </a:rPr>
              <a:t>Critical angle of glass in prism 41.9</a:t>
            </a:r>
            <a:r>
              <a:rPr lang="en-IE" altLang="en-US" baseline="40000" dirty="0">
                <a:solidFill>
                  <a:schemeClr val="bg1"/>
                </a:solidFill>
              </a:rPr>
              <a:t>o</a:t>
            </a:r>
            <a:r>
              <a:rPr lang="en-IE" altLang="en-US" baseline="30000" dirty="0">
                <a:solidFill>
                  <a:schemeClr val="bg1"/>
                </a:solidFill>
              </a:rPr>
              <a:t> </a:t>
            </a:r>
            <a:r>
              <a:rPr lang="en-IE" altLang="en-US" dirty="0">
                <a:solidFill>
                  <a:schemeClr val="bg1"/>
                </a:solidFill>
              </a:rPr>
              <a:t> (</a:t>
            </a:r>
            <a:r>
              <a:rPr lang="en-IE" altLang="en-US" dirty="0" err="1">
                <a:solidFill>
                  <a:schemeClr val="bg1"/>
                </a:solidFill>
              </a:rPr>
              <a:t>approx</a:t>
            </a:r>
            <a:r>
              <a:rPr lang="en-IE" altLang="en-US" dirty="0">
                <a:solidFill>
                  <a:schemeClr val="bg1"/>
                </a:solidFill>
              </a:rPr>
              <a:t>)</a:t>
            </a:r>
            <a:endParaRPr lang="en-GB" altLang="en-US" dirty="0">
              <a:solidFill>
                <a:schemeClr val="bg1"/>
              </a:solidFill>
            </a:endParaRPr>
          </a:p>
        </p:txBody>
      </p:sp>
      <p:sp>
        <p:nvSpPr>
          <p:cNvPr id="16397" name="Text Box 13">
            <a:extLst>
              <a:ext uri="{FF2B5EF4-FFF2-40B4-BE49-F238E27FC236}">
                <a16:creationId xmlns:a16="http://schemas.microsoft.com/office/drawing/2014/main" id="{C1C51B68-A26D-412C-97DF-75F0CE1135DC}"/>
              </a:ext>
            </a:extLst>
          </p:cNvPr>
          <p:cNvSpPr txBox="1">
            <a:spLocks noChangeArrowheads="1"/>
          </p:cNvSpPr>
          <p:nvPr/>
        </p:nvSpPr>
        <p:spPr bwMode="auto">
          <a:xfrm>
            <a:off x="5867400" y="3048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a:solidFill>
                  <a:schemeClr val="bg1"/>
                </a:solidFill>
              </a:rPr>
              <a:t> Light from air to glass at 90</a:t>
            </a:r>
            <a:r>
              <a:rPr lang="en-IE" altLang="en-US" baseline="30000">
                <a:solidFill>
                  <a:schemeClr val="bg1"/>
                </a:solidFill>
              </a:rPr>
              <a:t>o</a:t>
            </a:r>
            <a:endParaRPr lang="en-IE" altLang="en-US">
              <a:solidFill>
                <a:schemeClr val="bg1"/>
              </a:solidFill>
            </a:endParaRPr>
          </a:p>
        </p:txBody>
      </p:sp>
      <p:sp>
        <p:nvSpPr>
          <p:cNvPr id="16398" name="Text Box 14">
            <a:extLst>
              <a:ext uri="{FF2B5EF4-FFF2-40B4-BE49-F238E27FC236}">
                <a16:creationId xmlns:a16="http://schemas.microsoft.com/office/drawing/2014/main" id="{7DDC9DAB-A76D-4200-B24B-553D1D70A60C}"/>
              </a:ext>
            </a:extLst>
          </p:cNvPr>
          <p:cNvSpPr txBox="1">
            <a:spLocks noChangeArrowheads="1"/>
          </p:cNvSpPr>
          <p:nvPr/>
        </p:nvSpPr>
        <p:spPr bwMode="auto">
          <a:xfrm>
            <a:off x="5867400" y="94615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a:solidFill>
                  <a:schemeClr val="bg1"/>
                </a:solidFill>
              </a:rPr>
              <a:t>No Refraction</a:t>
            </a:r>
            <a:endParaRPr lang="en-GB" altLang="en-US">
              <a:solidFill>
                <a:schemeClr val="bg1"/>
              </a:solidFill>
            </a:endParaRPr>
          </a:p>
        </p:txBody>
      </p:sp>
      <p:grpSp>
        <p:nvGrpSpPr>
          <p:cNvPr id="3" name="Group 15">
            <a:extLst>
              <a:ext uri="{FF2B5EF4-FFF2-40B4-BE49-F238E27FC236}">
                <a16:creationId xmlns:a16="http://schemas.microsoft.com/office/drawing/2014/main" id="{14E59F10-8585-4247-9B5E-151730016DD6}"/>
              </a:ext>
            </a:extLst>
          </p:cNvPr>
          <p:cNvGrpSpPr>
            <a:grpSpLocks/>
          </p:cNvGrpSpPr>
          <p:nvPr/>
        </p:nvGrpSpPr>
        <p:grpSpPr bwMode="auto">
          <a:xfrm>
            <a:off x="5638800" y="3429000"/>
            <a:ext cx="304800" cy="304800"/>
            <a:chOff x="1680" y="1536"/>
            <a:chExt cx="192" cy="192"/>
          </a:xfrm>
        </p:grpSpPr>
        <p:sp>
          <p:nvSpPr>
            <p:cNvPr id="69650" name="Line 16">
              <a:extLst>
                <a:ext uri="{FF2B5EF4-FFF2-40B4-BE49-F238E27FC236}">
                  <a16:creationId xmlns:a16="http://schemas.microsoft.com/office/drawing/2014/main" id="{E5D66707-BDB9-4CE4-A2F3-CA2572707144}"/>
                </a:ext>
              </a:extLst>
            </p:cNvPr>
            <p:cNvSpPr>
              <a:spLocks noChangeShapeType="1"/>
            </p:cNvSpPr>
            <p:nvPr/>
          </p:nvSpPr>
          <p:spPr bwMode="auto">
            <a:xfrm>
              <a:off x="1872" y="1536"/>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69651" name="Line 17">
              <a:extLst>
                <a:ext uri="{FF2B5EF4-FFF2-40B4-BE49-F238E27FC236}">
                  <a16:creationId xmlns:a16="http://schemas.microsoft.com/office/drawing/2014/main" id="{7F76FF80-E3E7-44A7-98A2-A2D132B59DCE}"/>
                </a:ext>
              </a:extLst>
            </p:cNvPr>
            <p:cNvSpPr>
              <a:spLocks noChangeShapeType="1"/>
            </p:cNvSpPr>
            <p:nvPr/>
          </p:nvSpPr>
          <p:spPr bwMode="auto">
            <a:xfrm flipH="1">
              <a:off x="1680" y="172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grpSp>
      <p:grpSp>
        <p:nvGrpSpPr>
          <p:cNvPr id="4" name="Group 18">
            <a:extLst>
              <a:ext uri="{FF2B5EF4-FFF2-40B4-BE49-F238E27FC236}">
                <a16:creationId xmlns:a16="http://schemas.microsoft.com/office/drawing/2014/main" id="{CA201AD8-84D9-4E8C-92F8-C2293D0DE753}"/>
              </a:ext>
            </a:extLst>
          </p:cNvPr>
          <p:cNvGrpSpPr>
            <a:grpSpLocks/>
          </p:cNvGrpSpPr>
          <p:nvPr/>
        </p:nvGrpSpPr>
        <p:grpSpPr bwMode="auto">
          <a:xfrm>
            <a:off x="3657600" y="5486400"/>
            <a:ext cx="304800" cy="304800"/>
            <a:chOff x="1680" y="1536"/>
            <a:chExt cx="192" cy="192"/>
          </a:xfrm>
        </p:grpSpPr>
        <p:sp>
          <p:nvSpPr>
            <p:cNvPr id="69648" name="Line 19">
              <a:extLst>
                <a:ext uri="{FF2B5EF4-FFF2-40B4-BE49-F238E27FC236}">
                  <a16:creationId xmlns:a16="http://schemas.microsoft.com/office/drawing/2014/main" id="{7C2DD751-E2CF-48BE-A82C-A4FA021C92E3}"/>
                </a:ext>
              </a:extLst>
            </p:cNvPr>
            <p:cNvSpPr>
              <a:spLocks noChangeShapeType="1"/>
            </p:cNvSpPr>
            <p:nvPr/>
          </p:nvSpPr>
          <p:spPr bwMode="auto">
            <a:xfrm>
              <a:off x="1872" y="1536"/>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69649" name="Line 20">
              <a:extLst>
                <a:ext uri="{FF2B5EF4-FFF2-40B4-BE49-F238E27FC236}">
                  <a16:creationId xmlns:a16="http://schemas.microsoft.com/office/drawing/2014/main" id="{37D73188-AE9F-4524-B7D5-95FBDA45BA9B}"/>
                </a:ext>
              </a:extLst>
            </p:cNvPr>
            <p:cNvSpPr>
              <a:spLocks noChangeShapeType="1"/>
            </p:cNvSpPr>
            <p:nvPr/>
          </p:nvSpPr>
          <p:spPr bwMode="auto">
            <a:xfrm flipH="1">
              <a:off x="1680" y="172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grpSp>
      <p:sp>
        <p:nvSpPr>
          <p:cNvPr id="16405" name="Text Box 21">
            <a:extLst>
              <a:ext uri="{FF2B5EF4-FFF2-40B4-BE49-F238E27FC236}">
                <a16:creationId xmlns:a16="http://schemas.microsoft.com/office/drawing/2014/main" id="{F366A2AB-0A76-4880-9697-6FA4DB11888A}"/>
              </a:ext>
            </a:extLst>
          </p:cNvPr>
          <p:cNvSpPr txBox="1">
            <a:spLocks noChangeArrowheads="1"/>
          </p:cNvSpPr>
          <p:nvPr/>
        </p:nvSpPr>
        <p:spPr bwMode="auto">
          <a:xfrm>
            <a:off x="5943600" y="1632098"/>
            <a:ext cx="4114800" cy="1569660"/>
          </a:xfrm>
          <a:prstGeom prst="rect">
            <a:avLst/>
          </a:prstGeom>
          <a:noFill/>
          <a:ln>
            <a:noFill/>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r" eaLnBrk="0" fontAlgn="base" hangingPunct="0">
              <a:spcBef>
                <a:spcPct val="0"/>
              </a:spcBef>
              <a:spcAft>
                <a:spcPct val="0"/>
              </a:spcAft>
              <a:defRPr sz="2400">
                <a:solidFill>
                  <a:schemeClr val="tx1"/>
                </a:solidFill>
                <a:latin typeface="Times New Roman" pitchFamily="18" charset="0"/>
              </a:defRPr>
            </a:lvl6pPr>
            <a:lvl7pPr marL="2971800" indent="-228600" algn="r" eaLnBrk="0" fontAlgn="base" hangingPunct="0">
              <a:spcBef>
                <a:spcPct val="0"/>
              </a:spcBef>
              <a:spcAft>
                <a:spcPct val="0"/>
              </a:spcAft>
              <a:defRPr sz="2400">
                <a:solidFill>
                  <a:schemeClr val="tx1"/>
                </a:solidFill>
                <a:latin typeface="Times New Roman" pitchFamily="18" charset="0"/>
              </a:defRPr>
            </a:lvl7pPr>
            <a:lvl8pPr marL="3429000" indent="-228600" algn="r" eaLnBrk="0" fontAlgn="base" hangingPunct="0">
              <a:spcBef>
                <a:spcPct val="0"/>
              </a:spcBef>
              <a:spcAft>
                <a:spcPct val="0"/>
              </a:spcAft>
              <a:defRPr sz="2400">
                <a:solidFill>
                  <a:schemeClr val="tx1"/>
                </a:solidFill>
                <a:latin typeface="Times New Roman" pitchFamily="18" charset="0"/>
              </a:defRPr>
            </a:lvl8pPr>
            <a:lvl9pPr marL="3886200" indent="-228600" algn="r"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buFont typeface="Wingdings" pitchFamily="2" charset="2"/>
              <a:buChar char="Ø"/>
              <a:defRPr/>
            </a:pPr>
            <a:r>
              <a:rPr lang="en-IE" dirty="0"/>
              <a:t> </a:t>
            </a:r>
            <a:r>
              <a:rPr lang="en-IE" dirty="0">
                <a:solidFill>
                  <a:srgbClr val="990000"/>
                </a:solidFill>
              </a:rPr>
              <a:t>Light attempting to go from glass to air but angle of incidence greater than critical angle. </a:t>
            </a:r>
            <a:endParaRPr lang="en-GB" dirty="0">
              <a:solidFill>
                <a:srgbClr val="990000"/>
              </a:solidFill>
            </a:endParaRPr>
          </a:p>
        </p:txBody>
      </p:sp>
      <p:sp>
        <p:nvSpPr>
          <p:cNvPr id="16406" name="Text Box 22">
            <a:extLst>
              <a:ext uri="{FF2B5EF4-FFF2-40B4-BE49-F238E27FC236}">
                <a16:creationId xmlns:a16="http://schemas.microsoft.com/office/drawing/2014/main" id="{B29706FC-00B1-4E68-BEF3-E076B55BFF14}"/>
              </a:ext>
            </a:extLst>
          </p:cNvPr>
          <p:cNvSpPr txBox="1">
            <a:spLocks noChangeArrowheads="1"/>
          </p:cNvSpPr>
          <p:nvPr/>
        </p:nvSpPr>
        <p:spPr bwMode="auto">
          <a:xfrm>
            <a:off x="5791200" y="3733801"/>
            <a:ext cx="4495800" cy="523875"/>
          </a:xfrm>
          <a:prstGeom prst="rect">
            <a:avLst/>
          </a:prstGeom>
          <a:noFill/>
          <a:ln>
            <a:noFill/>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r" eaLnBrk="0" fontAlgn="base" hangingPunct="0">
              <a:spcBef>
                <a:spcPct val="0"/>
              </a:spcBef>
              <a:spcAft>
                <a:spcPct val="0"/>
              </a:spcAft>
              <a:defRPr sz="2400">
                <a:solidFill>
                  <a:schemeClr val="tx1"/>
                </a:solidFill>
                <a:latin typeface="Times New Roman" pitchFamily="18" charset="0"/>
              </a:defRPr>
            </a:lvl6pPr>
            <a:lvl7pPr marL="2971800" indent="-228600" algn="r" eaLnBrk="0" fontAlgn="base" hangingPunct="0">
              <a:spcBef>
                <a:spcPct val="0"/>
              </a:spcBef>
              <a:spcAft>
                <a:spcPct val="0"/>
              </a:spcAft>
              <a:defRPr sz="2400">
                <a:solidFill>
                  <a:schemeClr val="tx1"/>
                </a:solidFill>
                <a:latin typeface="Times New Roman" pitchFamily="18" charset="0"/>
              </a:defRPr>
            </a:lvl7pPr>
            <a:lvl8pPr marL="3429000" indent="-228600" algn="r" eaLnBrk="0" fontAlgn="base" hangingPunct="0">
              <a:spcBef>
                <a:spcPct val="0"/>
              </a:spcBef>
              <a:spcAft>
                <a:spcPct val="0"/>
              </a:spcAft>
              <a:defRPr sz="2400">
                <a:solidFill>
                  <a:schemeClr val="tx1"/>
                </a:solidFill>
                <a:latin typeface="Times New Roman" pitchFamily="18" charset="0"/>
              </a:defRPr>
            </a:lvl8pPr>
            <a:lvl9pPr marL="3886200" indent="-228600" algn="r"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buFont typeface="Wingdings" pitchFamily="2" charset="2"/>
              <a:buChar char="Ø"/>
              <a:defRPr/>
            </a:pPr>
            <a:r>
              <a:rPr lang="en-IE" sz="2800" b="1" i="1" dirty="0"/>
              <a:t>Total Internal Reflection</a:t>
            </a:r>
            <a:endParaRPr lang="en-GB" sz="2800" b="1" i="1" dirty="0"/>
          </a:p>
        </p:txBody>
      </p:sp>
      <p:sp>
        <p:nvSpPr>
          <p:cNvPr id="16407" name="Text Box 23">
            <a:extLst>
              <a:ext uri="{FF2B5EF4-FFF2-40B4-BE49-F238E27FC236}">
                <a16:creationId xmlns:a16="http://schemas.microsoft.com/office/drawing/2014/main" id="{641F4897-71BF-4263-B81A-064D6EFBD27D}"/>
              </a:ext>
            </a:extLst>
          </p:cNvPr>
          <p:cNvSpPr txBox="1">
            <a:spLocks noChangeArrowheads="1"/>
          </p:cNvSpPr>
          <p:nvPr/>
        </p:nvSpPr>
        <p:spPr bwMode="auto">
          <a:xfrm>
            <a:off x="6172200" y="4916488"/>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a:solidFill>
                  <a:schemeClr val="bg1"/>
                </a:solidFill>
              </a:rPr>
              <a:t> Light from glass to air at 90</a:t>
            </a:r>
            <a:r>
              <a:rPr lang="en-IE" altLang="en-US" baseline="40000">
                <a:solidFill>
                  <a:schemeClr val="bg1"/>
                </a:solidFill>
              </a:rPr>
              <a:t>o</a:t>
            </a:r>
            <a:endParaRPr lang="en-IE" altLang="en-US">
              <a:solidFill>
                <a:schemeClr val="bg1"/>
              </a:solidFill>
            </a:endParaRPr>
          </a:p>
        </p:txBody>
      </p:sp>
      <p:sp>
        <p:nvSpPr>
          <p:cNvPr id="16408" name="Text Box 24">
            <a:extLst>
              <a:ext uri="{FF2B5EF4-FFF2-40B4-BE49-F238E27FC236}">
                <a16:creationId xmlns:a16="http://schemas.microsoft.com/office/drawing/2014/main" id="{45F59902-0E50-460D-BBE0-BE5A37742CFD}"/>
              </a:ext>
            </a:extLst>
          </p:cNvPr>
          <p:cNvSpPr txBox="1">
            <a:spLocks noChangeArrowheads="1"/>
          </p:cNvSpPr>
          <p:nvPr/>
        </p:nvSpPr>
        <p:spPr bwMode="auto">
          <a:xfrm>
            <a:off x="6248400" y="5419725"/>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a:solidFill>
                  <a:schemeClr val="bg1"/>
                </a:solidFill>
              </a:rPr>
              <a:t>No Refraction</a:t>
            </a:r>
            <a:endParaRPr lang="en-GB" altLang="en-US">
              <a:solidFill>
                <a:schemeClr val="bg1"/>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wipe(up)">
                                      <p:cBhvr>
                                        <p:cTn id="7" dur="500"/>
                                        <p:tgtEl>
                                          <p:spTgt spid="16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6395"/>
                                        </p:tgtEl>
                                        <p:attrNameLst>
                                          <p:attrName>style.visibility</p:attrName>
                                        </p:attrNameLst>
                                      </p:cBhvr>
                                      <p:to>
                                        <p:strVal val="visible"/>
                                      </p:to>
                                    </p:set>
                                    <p:animEffect transition="in" filter="strips(downRight)">
                                      <p:cBhvr>
                                        <p:cTn id="12" dur="300"/>
                                        <p:tgtEl>
                                          <p:spTgt spid="16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wipe(right)">
                                      <p:cBhvr>
                                        <p:cTn id="17" dur="500"/>
                                        <p:tgtEl>
                                          <p:spTgt spid="16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grpId="0" nodeType="clickEffect">
                                  <p:stCondLst>
                                    <p:cond delay="0"/>
                                  </p:stCondLst>
                                  <p:iterate type="wd">
                                    <p:tmPct val="100000"/>
                                  </p:iterate>
                                  <p:childTnLst>
                                    <p:set>
                                      <p:cBhvr>
                                        <p:cTn id="21" dur="1" fill="hold">
                                          <p:stCondLst>
                                            <p:cond delay="0"/>
                                          </p:stCondLst>
                                        </p:cTn>
                                        <p:tgtEl>
                                          <p:spTgt spid="16397"/>
                                        </p:tgtEl>
                                        <p:attrNameLst>
                                          <p:attrName>style.visibility</p:attrName>
                                        </p:attrNameLst>
                                      </p:cBhvr>
                                      <p:to>
                                        <p:strVal val="visible"/>
                                      </p:to>
                                    </p:set>
                                    <p:animEffect transition="in" filter="barn(inHorizontal)">
                                      <p:cBhvr>
                                        <p:cTn id="22" dur="300"/>
                                        <p:tgtEl>
                                          <p:spTgt spid="163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grpId="0" nodeType="clickEffect">
                                  <p:stCondLst>
                                    <p:cond delay="0"/>
                                  </p:stCondLst>
                                  <p:iterate type="wd">
                                    <p:tmPct val="100000"/>
                                  </p:iterate>
                                  <p:childTnLst>
                                    <p:set>
                                      <p:cBhvr>
                                        <p:cTn id="31" dur="1" fill="hold">
                                          <p:stCondLst>
                                            <p:cond delay="0"/>
                                          </p:stCondLst>
                                        </p:cTn>
                                        <p:tgtEl>
                                          <p:spTgt spid="16398"/>
                                        </p:tgtEl>
                                        <p:attrNameLst>
                                          <p:attrName>style.visibility</p:attrName>
                                        </p:attrNameLst>
                                      </p:cBhvr>
                                      <p:to>
                                        <p:strVal val="visible"/>
                                      </p:to>
                                    </p:set>
                                    <p:animEffect transition="in" filter="barn(inHorizontal)">
                                      <p:cBhvr>
                                        <p:cTn id="32" dur="300"/>
                                        <p:tgtEl>
                                          <p:spTgt spid="163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up)">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iterate type="wd">
                                    <p:tmPct val="100000"/>
                                  </p:iterate>
                                  <p:childTnLst>
                                    <p:set>
                                      <p:cBhvr>
                                        <p:cTn id="41" dur="1" fill="hold">
                                          <p:stCondLst>
                                            <p:cond delay="0"/>
                                          </p:stCondLst>
                                        </p:cTn>
                                        <p:tgtEl>
                                          <p:spTgt spid="16405"/>
                                        </p:tgtEl>
                                        <p:attrNameLst>
                                          <p:attrName>style.visibility</p:attrName>
                                        </p:attrNameLst>
                                      </p:cBhvr>
                                      <p:to>
                                        <p:strVal val="visible"/>
                                      </p:to>
                                    </p:set>
                                    <p:animEffect transition="in" filter="strips(downRight)">
                                      <p:cBhvr>
                                        <p:cTn id="42" dur="300"/>
                                        <p:tgtEl>
                                          <p:spTgt spid="1640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6389"/>
                                        </p:tgtEl>
                                        <p:attrNameLst>
                                          <p:attrName>style.visibility</p:attrName>
                                        </p:attrNameLst>
                                      </p:cBhvr>
                                      <p:to>
                                        <p:strVal val="visible"/>
                                      </p:to>
                                    </p:set>
                                    <p:animEffect transition="in" filter="wipe(up)">
                                      <p:cBhvr>
                                        <p:cTn id="47" dur="500"/>
                                        <p:tgtEl>
                                          <p:spTgt spid="163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26" fill="hold" grpId="0" nodeType="clickEffect">
                                  <p:stCondLst>
                                    <p:cond delay="0"/>
                                  </p:stCondLst>
                                  <p:iterate type="wd">
                                    <p:tmPct val="100000"/>
                                  </p:iterate>
                                  <p:childTnLst>
                                    <p:set>
                                      <p:cBhvr>
                                        <p:cTn id="51" dur="1" fill="hold">
                                          <p:stCondLst>
                                            <p:cond delay="0"/>
                                          </p:stCondLst>
                                        </p:cTn>
                                        <p:tgtEl>
                                          <p:spTgt spid="16406"/>
                                        </p:tgtEl>
                                        <p:attrNameLst>
                                          <p:attrName>style.visibility</p:attrName>
                                        </p:attrNameLst>
                                      </p:cBhvr>
                                      <p:to>
                                        <p:strVal val="visible"/>
                                      </p:to>
                                    </p:set>
                                    <p:animEffect transition="in" filter="barn(inHorizontal)">
                                      <p:cBhvr>
                                        <p:cTn id="52" dur="300"/>
                                        <p:tgtEl>
                                          <p:spTgt spid="1640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6" fill="hold" grpId="0" nodeType="clickEffect">
                                  <p:stCondLst>
                                    <p:cond delay="0"/>
                                  </p:stCondLst>
                                  <p:iterate type="wd">
                                    <p:tmPct val="100000"/>
                                  </p:iterate>
                                  <p:childTnLst>
                                    <p:set>
                                      <p:cBhvr>
                                        <p:cTn id="56" dur="1" fill="hold">
                                          <p:stCondLst>
                                            <p:cond delay="0"/>
                                          </p:stCondLst>
                                        </p:cTn>
                                        <p:tgtEl>
                                          <p:spTgt spid="16407"/>
                                        </p:tgtEl>
                                        <p:attrNameLst>
                                          <p:attrName>style.visibility</p:attrName>
                                        </p:attrNameLst>
                                      </p:cBhvr>
                                      <p:to>
                                        <p:strVal val="visible"/>
                                      </p:to>
                                    </p:set>
                                    <p:animEffect transition="in" filter="barn(inHorizontal)">
                                      <p:cBhvr>
                                        <p:cTn id="57" dur="300"/>
                                        <p:tgtEl>
                                          <p:spTgt spid="164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up)">
                                      <p:cBhvr>
                                        <p:cTn id="62" dur="500"/>
                                        <p:tgtEl>
                                          <p:spTgt spid="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26" fill="hold" grpId="0" nodeType="clickEffect">
                                  <p:stCondLst>
                                    <p:cond delay="0"/>
                                  </p:stCondLst>
                                  <p:iterate type="wd">
                                    <p:tmPct val="100000"/>
                                  </p:iterate>
                                  <p:childTnLst>
                                    <p:set>
                                      <p:cBhvr>
                                        <p:cTn id="66" dur="1" fill="hold">
                                          <p:stCondLst>
                                            <p:cond delay="0"/>
                                          </p:stCondLst>
                                        </p:cTn>
                                        <p:tgtEl>
                                          <p:spTgt spid="16408"/>
                                        </p:tgtEl>
                                        <p:attrNameLst>
                                          <p:attrName>style.visibility</p:attrName>
                                        </p:attrNameLst>
                                      </p:cBhvr>
                                      <p:to>
                                        <p:strVal val="visible"/>
                                      </p:to>
                                    </p:set>
                                    <p:animEffect transition="in" filter="barn(inHorizontal)">
                                      <p:cBhvr>
                                        <p:cTn id="67" dur="300"/>
                                        <p:tgtEl>
                                          <p:spTgt spid="16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5" grpId="0" autoUpdateAnimBg="0"/>
      <p:bldP spid="16397" grpId="0" autoUpdateAnimBg="0"/>
      <p:bldP spid="16398" grpId="0" autoUpdateAnimBg="0"/>
      <p:bldP spid="16405" grpId="0" animBg="1" autoUpdateAnimBg="0"/>
      <p:bldP spid="16406" grpId="0" autoUpdateAnimBg="0"/>
      <p:bldP spid="16407" grpId="0" autoUpdateAnimBg="0"/>
      <p:bldP spid="16408"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a:extLst>
              <a:ext uri="{FF2B5EF4-FFF2-40B4-BE49-F238E27FC236}">
                <a16:creationId xmlns:a16="http://schemas.microsoft.com/office/drawing/2014/main" id="{D4BF1145-6082-4C6F-B86A-2C54348E7172}"/>
              </a:ext>
            </a:extLst>
          </p:cNvPr>
          <p:cNvSpPr>
            <a:spLocks noGrp="1"/>
          </p:cNvSpPr>
          <p:nvPr>
            <p:ph type="sldNum" sz="quarter" idx="12"/>
          </p:nvPr>
        </p:nvSpPr>
        <p:spPr>
          <a:xfrm>
            <a:off x="2209800" y="6248400"/>
            <a:ext cx="1905000" cy="457200"/>
          </a:xfrm>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eaLnBrk="1" hangingPunct="1"/>
            <a:fld id="{468B3D7C-4A0F-43A1-BA5C-8D5278BA8D77}" type="slidenum">
              <a:rPr lang="en-GB" altLang="en-US" sz="1400"/>
              <a:pPr algn="l" eaLnBrk="1" hangingPunct="1"/>
              <a:t>10</a:t>
            </a:fld>
            <a:endParaRPr lang="en-GB" altLang="en-US" sz="1400"/>
          </a:p>
        </p:txBody>
      </p:sp>
      <p:pic>
        <p:nvPicPr>
          <p:cNvPr id="16387" name="Picture 3" descr="prism7">
            <a:extLst>
              <a:ext uri="{FF2B5EF4-FFF2-40B4-BE49-F238E27FC236}">
                <a16:creationId xmlns:a16="http://schemas.microsoft.com/office/drawing/2014/main" id="{AB2ED527-3FE0-43CE-A686-1F95862A8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371601"/>
            <a:ext cx="4046538"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Line 4">
            <a:extLst>
              <a:ext uri="{FF2B5EF4-FFF2-40B4-BE49-F238E27FC236}">
                <a16:creationId xmlns:a16="http://schemas.microsoft.com/office/drawing/2014/main" id="{1B27C2C1-639D-47C9-8BD0-17FE14786434}"/>
              </a:ext>
            </a:extLst>
          </p:cNvPr>
          <p:cNvSpPr>
            <a:spLocks noChangeShapeType="1"/>
          </p:cNvSpPr>
          <p:nvPr/>
        </p:nvSpPr>
        <p:spPr bwMode="auto">
          <a:xfrm>
            <a:off x="3657600" y="3429000"/>
            <a:ext cx="5791200" cy="0"/>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IE"/>
          </a:p>
        </p:txBody>
      </p:sp>
      <p:sp>
        <p:nvSpPr>
          <p:cNvPr id="16389" name="Line 5">
            <a:extLst>
              <a:ext uri="{FF2B5EF4-FFF2-40B4-BE49-F238E27FC236}">
                <a16:creationId xmlns:a16="http://schemas.microsoft.com/office/drawing/2014/main" id="{4338839F-4AC7-4CE9-B5E0-9BAA9AD4AB19}"/>
              </a:ext>
            </a:extLst>
          </p:cNvPr>
          <p:cNvSpPr>
            <a:spLocks noChangeShapeType="1"/>
          </p:cNvSpPr>
          <p:nvPr/>
        </p:nvSpPr>
        <p:spPr bwMode="auto">
          <a:xfrm>
            <a:off x="3657600" y="3429000"/>
            <a:ext cx="0" cy="3200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grpSp>
        <p:nvGrpSpPr>
          <p:cNvPr id="2" name="Group 25">
            <a:extLst>
              <a:ext uri="{FF2B5EF4-FFF2-40B4-BE49-F238E27FC236}">
                <a16:creationId xmlns:a16="http://schemas.microsoft.com/office/drawing/2014/main" id="{AC92F1D7-FA7B-4167-B021-5BFA20BE365E}"/>
              </a:ext>
            </a:extLst>
          </p:cNvPr>
          <p:cNvGrpSpPr>
            <a:grpSpLocks/>
          </p:cNvGrpSpPr>
          <p:nvPr/>
        </p:nvGrpSpPr>
        <p:grpSpPr bwMode="auto">
          <a:xfrm>
            <a:off x="2590800" y="2514600"/>
            <a:ext cx="2286000" cy="1981200"/>
            <a:chOff x="672" y="1584"/>
            <a:chExt cx="1440" cy="1248"/>
          </a:xfrm>
        </p:grpSpPr>
        <p:sp>
          <p:nvSpPr>
            <p:cNvPr id="69652" name="Line 6">
              <a:extLst>
                <a:ext uri="{FF2B5EF4-FFF2-40B4-BE49-F238E27FC236}">
                  <a16:creationId xmlns:a16="http://schemas.microsoft.com/office/drawing/2014/main" id="{C02E44B2-6F2B-485F-9ED7-06E9AAD4B067}"/>
                </a:ext>
              </a:extLst>
            </p:cNvPr>
            <p:cNvSpPr>
              <a:spLocks noChangeShapeType="1"/>
            </p:cNvSpPr>
            <p:nvPr/>
          </p:nvSpPr>
          <p:spPr bwMode="auto">
            <a:xfrm flipH="1" flipV="1">
              <a:off x="672" y="1584"/>
              <a:ext cx="1248" cy="1104"/>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69653" name="Text Box 8">
              <a:extLst>
                <a:ext uri="{FF2B5EF4-FFF2-40B4-BE49-F238E27FC236}">
                  <a16:creationId xmlns:a16="http://schemas.microsoft.com/office/drawing/2014/main" id="{36C68957-0077-4CEF-8F62-E9C3BDCDB6E4}"/>
                </a:ext>
              </a:extLst>
            </p:cNvPr>
            <p:cNvSpPr txBox="1">
              <a:spLocks noChangeArrowheads="1"/>
            </p:cNvSpPr>
            <p:nvPr/>
          </p:nvSpPr>
          <p:spPr bwMode="auto">
            <a:xfrm>
              <a:off x="1728" y="216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45</a:t>
              </a:r>
              <a:r>
                <a:rPr lang="en-IE" altLang="en-US" baseline="30000"/>
                <a:t>0</a:t>
              </a:r>
              <a:endParaRPr lang="en-GB" altLang="en-US"/>
            </a:p>
          </p:txBody>
        </p:sp>
        <p:sp>
          <p:nvSpPr>
            <p:cNvPr id="69654" name="Text Box 9">
              <a:extLst>
                <a:ext uri="{FF2B5EF4-FFF2-40B4-BE49-F238E27FC236}">
                  <a16:creationId xmlns:a16="http://schemas.microsoft.com/office/drawing/2014/main" id="{069EF6C7-8A04-4F23-9374-E34B2609A18F}"/>
                </a:ext>
              </a:extLst>
            </p:cNvPr>
            <p:cNvSpPr txBox="1">
              <a:spLocks noChangeArrowheads="1"/>
            </p:cNvSpPr>
            <p:nvPr/>
          </p:nvSpPr>
          <p:spPr bwMode="auto">
            <a:xfrm>
              <a:off x="1392" y="254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45</a:t>
              </a:r>
              <a:r>
                <a:rPr lang="en-IE" altLang="en-US" baseline="30000"/>
                <a:t>0</a:t>
              </a:r>
              <a:endParaRPr lang="en-GB" altLang="en-US"/>
            </a:p>
          </p:txBody>
        </p:sp>
      </p:grpSp>
      <p:sp>
        <p:nvSpPr>
          <p:cNvPr id="16395" name="Text Box 11">
            <a:extLst>
              <a:ext uri="{FF2B5EF4-FFF2-40B4-BE49-F238E27FC236}">
                <a16:creationId xmlns:a16="http://schemas.microsoft.com/office/drawing/2014/main" id="{4178ED03-557D-4FEA-BBEC-14E5F94B4805}"/>
              </a:ext>
            </a:extLst>
          </p:cNvPr>
          <p:cNvSpPr txBox="1">
            <a:spLocks noChangeArrowheads="1"/>
          </p:cNvSpPr>
          <p:nvPr/>
        </p:nvSpPr>
        <p:spPr bwMode="auto">
          <a:xfrm>
            <a:off x="1524000" y="152401"/>
            <a:ext cx="3276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dirty="0">
                <a:solidFill>
                  <a:srgbClr val="0070C0"/>
                </a:solidFill>
              </a:rPr>
              <a:t>Critical angle of glass in prism 41.9</a:t>
            </a:r>
            <a:r>
              <a:rPr lang="en-IE" altLang="en-US" baseline="40000" dirty="0">
                <a:solidFill>
                  <a:srgbClr val="0070C0"/>
                </a:solidFill>
              </a:rPr>
              <a:t>o</a:t>
            </a:r>
            <a:r>
              <a:rPr lang="en-IE" altLang="en-US" baseline="30000" dirty="0">
                <a:solidFill>
                  <a:srgbClr val="0070C0"/>
                </a:solidFill>
              </a:rPr>
              <a:t> </a:t>
            </a:r>
            <a:r>
              <a:rPr lang="en-IE" altLang="en-US" dirty="0">
                <a:solidFill>
                  <a:srgbClr val="0070C0"/>
                </a:solidFill>
              </a:rPr>
              <a:t> (</a:t>
            </a:r>
            <a:r>
              <a:rPr lang="en-IE" altLang="en-US" dirty="0" err="1">
                <a:solidFill>
                  <a:srgbClr val="0070C0"/>
                </a:solidFill>
              </a:rPr>
              <a:t>approx</a:t>
            </a:r>
            <a:r>
              <a:rPr lang="en-IE" altLang="en-US" dirty="0">
                <a:solidFill>
                  <a:srgbClr val="0070C0"/>
                </a:solidFill>
              </a:rPr>
              <a:t>)</a:t>
            </a:r>
            <a:endParaRPr lang="en-GB" altLang="en-US" dirty="0">
              <a:solidFill>
                <a:srgbClr val="0070C0"/>
              </a:solidFill>
            </a:endParaRPr>
          </a:p>
        </p:txBody>
      </p:sp>
      <p:sp>
        <p:nvSpPr>
          <p:cNvPr id="16397" name="Text Box 13">
            <a:extLst>
              <a:ext uri="{FF2B5EF4-FFF2-40B4-BE49-F238E27FC236}">
                <a16:creationId xmlns:a16="http://schemas.microsoft.com/office/drawing/2014/main" id="{C1C51B68-A26D-412C-97DF-75F0CE1135DC}"/>
              </a:ext>
            </a:extLst>
          </p:cNvPr>
          <p:cNvSpPr txBox="1">
            <a:spLocks noChangeArrowheads="1"/>
          </p:cNvSpPr>
          <p:nvPr/>
        </p:nvSpPr>
        <p:spPr bwMode="auto">
          <a:xfrm>
            <a:off x="5867400" y="3048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dirty="0">
                <a:solidFill>
                  <a:srgbClr val="0070C0"/>
                </a:solidFill>
              </a:rPr>
              <a:t> Light from air to glass at 90</a:t>
            </a:r>
            <a:r>
              <a:rPr lang="en-IE" altLang="en-US" baseline="30000" dirty="0">
                <a:solidFill>
                  <a:srgbClr val="0070C0"/>
                </a:solidFill>
              </a:rPr>
              <a:t>o</a:t>
            </a:r>
            <a:endParaRPr lang="en-IE" altLang="en-US" dirty="0">
              <a:solidFill>
                <a:srgbClr val="0070C0"/>
              </a:solidFill>
            </a:endParaRPr>
          </a:p>
        </p:txBody>
      </p:sp>
      <p:sp>
        <p:nvSpPr>
          <p:cNvPr id="16398" name="Text Box 14">
            <a:extLst>
              <a:ext uri="{FF2B5EF4-FFF2-40B4-BE49-F238E27FC236}">
                <a16:creationId xmlns:a16="http://schemas.microsoft.com/office/drawing/2014/main" id="{7DDC9DAB-A76D-4200-B24B-553D1D70A60C}"/>
              </a:ext>
            </a:extLst>
          </p:cNvPr>
          <p:cNvSpPr txBox="1">
            <a:spLocks noChangeArrowheads="1"/>
          </p:cNvSpPr>
          <p:nvPr/>
        </p:nvSpPr>
        <p:spPr bwMode="auto">
          <a:xfrm>
            <a:off x="5867400" y="94615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dirty="0">
                <a:solidFill>
                  <a:srgbClr val="0070C0"/>
                </a:solidFill>
              </a:rPr>
              <a:t>No Refraction</a:t>
            </a:r>
            <a:endParaRPr lang="en-GB" altLang="en-US" dirty="0">
              <a:solidFill>
                <a:srgbClr val="0070C0"/>
              </a:solidFill>
            </a:endParaRPr>
          </a:p>
        </p:txBody>
      </p:sp>
      <p:grpSp>
        <p:nvGrpSpPr>
          <p:cNvPr id="3" name="Group 15">
            <a:extLst>
              <a:ext uri="{FF2B5EF4-FFF2-40B4-BE49-F238E27FC236}">
                <a16:creationId xmlns:a16="http://schemas.microsoft.com/office/drawing/2014/main" id="{14E59F10-8585-4247-9B5E-151730016DD6}"/>
              </a:ext>
            </a:extLst>
          </p:cNvPr>
          <p:cNvGrpSpPr>
            <a:grpSpLocks/>
          </p:cNvGrpSpPr>
          <p:nvPr/>
        </p:nvGrpSpPr>
        <p:grpSpPr bwMode="auto">
          <a:xfrm>
            <a:off x="5638800" y="3429000"/>
            <a:ext cx="304800" cy="304800"/>
            <a:chOff x="1680" y="1536"/>
            <a:chExt cx="192" cy="192"/>
          </a:xfrm>
        </p:grpSpPr>
        <p:sp>
          <p:nvSpPr>
            <p:cNvPr id="69650" name="Line 16">
              <a:extLst>
                <a:ext uri="{FF2B5EF4-FFF2-40B4-BE49-F238E27FC236}">
                  <a16:creationId xmlns:a16="http://schemas.microsoft.com/office/drawing/2014/main" id="{E5D66707-BDB9-4CE4-A2F3-CA2572707144}"/>
                </a:ext>
              </a:extLst>
            </p:cNvPr>
            <p:cNvSpPr>
              <a:spLocks noChangeShapeType="1"/>
            </p:cNvSpPr>
            <p:nvPr/>
          </p:nvSpPr>
          <p:spPr bwMode="auto">
            <a:xfrm>
              <a:off x="1872" y="1536"/>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69651" name="Line 17">
              <a:extLst>
                <a:ext uri="{FF2B5EF4-FFF2-40B4-BE49-F238E27FC236}">
                  <a16:creationId xmlns:a16="http://schemas.microsoft.com/office/drawing/2014/main" id="{7F76FF80-E3E7-44A7-98A2-A2D132B59DCE}"/>
                </a:ext>
              </a:extLst>
            </p:cNvPr>
            <p:cNvSpPr>
              <a:spLocks noChangeShapeType="1"/>
            </p:cNvSpPr>
            <p:nvPr/>
          </p:nvSpPr>
          <p:spPr bwMode="auto">
            <a:xfrm flipH="1">
              <a:off x="1680" y="172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grpSp>
      <p:grpSp>
        <p:nvGrpSpPr>
          <p:cNvPr id="4" name="Group 18">
            <a:extLst>
              <a:ext uri="{FF2B5EF4-FFF2-40B4-BE49-F238E27FC236}">
                <a16:creationId xmlns:a16="http://schemas.microsoft.com/office/drawing/2014/main" id="{CA201AD8-84D9-4E8C-92F8-C2293D0DE753}"/>
              </a:ext>
            </a:extLst>
          </p:cNvPr>
          <p:cNvGrpSpPr>
            <a:grpSpLocks/>
          </p:cNvGrpSpPr>
          <p:nvPr/>
        </p:nvGrpSpPr>
        <p:grpSpPr bwMode="auto">
          <a:xfrm>
            <a:off x="3657600" y="5486400"/>
            <a:ext cx="304800" cy="304800"/>
            <a:chOff x="1680" y="1536"/>
            <a:chExt cx="192" cy="192"/>
          </a:xfrm>
        </p:grpSpPr>
        <p:sp>
          <p:nvSpPr>
            <p:cNvPr id="69648" name="Line 19">
              <a:extLst>
                <a:ext uri="{FF2B5EF4-FFF2-40B4-BE49-F238E27FC236}">
                  <a16:creationId xmlns:a16="http://schemas.microsoft.com/office/drawing/2014/main" id="{7C2DD751-E2CF-48BE-A82C-A4FA021C92E3}"/>
                </a:ext>
              </a:extLst>
            </p:cNvPr>
            <p:cNvSpPr>
              <a:spLocks noChangeShapeType="1"/>
            </p:cNvSpPr>
            <p:nvPr/>
          </p:nvSpPr>
          <p:spPr bwMode="auto">
            <a:xfrm>
              <a:off x="1872" y="1536"/>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69649" name="Line 20">
              <a:extLst>
                <a:ext uri="{FF2B5EF4-FFF2-40B4-BE49-F238E27FC236}">
                  <a16:creationId xmlns:a16="http://schemas.microsoft.com/office/drawing/2014/main" id="{37D73188-AE9F-4524-B7D5-95FBDA45BA9B}"/>
                </a:ext>
              </a:extLst>
            </p:cNvPr>
            <p:cNvSpPr>
              <a:spLocks noChangeShapeType="1"/>
            </p:cNvSpPr>
            <p:nvPr/>
          </p:nvSpPr>
          <p:spPr bwMode="auto">
            <a:xfrm flipH="1">
              <a:off x="1680" y="172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grpSp>
      <p:sp>
        <p:nvSpPr>
          <p:cNvPr id="16405" name="Text Box 21">
            <a:extLst>
              <a:ext uri="{FF2B5EF4-FFF2-40B4-BE49-F238E27FC236}">
                <a16:creationId xmlns:a16="http://schemas.microsoft.com/office/drawing/2014/main" id="{F366A2AB-0A76-4880-9697-6FA4DB11888A}"/>
              </a:ext>
            </a:extLst>
          </p:cNvPr>
          <p:cNvSpPr txBox="1">
            <a:spLocks noChangeArrowheads="1"/>
          </p:cNvSpPr>
          <p:nvPr/>
        </p:nvSpPr>
        <p:spPr bwMode="auto">
          <a:xfrm>
            <a:off x="5943600" y="1600200"/>
            <a:ext cx="4114800" cy="1569660"/>
          </a:xfrm>
          <a:prstGeom prst="rect">
            <a:avLst/>
          </a:prstGeom>
          <a:noFill/>
          <a:ln>
            <a:noFill/>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r" eaLnBrk="0" fontAlgn="base" hangingPunct="0">
              <a:spcBef>
                <a:spcPct val="0"/>
              </a:spcBef>
              <a:spcAft>
                <a:spcPct val="0"/>
              </a:spcAft>
              <a:defRPr sz="2400">
                <a:solidFill>
                  <a:schemeClr val="tx1"/>
                </a:solidFill>
                <a:latin typeface="Times New Roman" pitchFamily="18" charset="0"/>
              </a:defRPr>
            </a:lvl6pPr>
            <a:lvl7pPr marL="2971800" indent="-228600" algn="r" eaLnBrk="0" fontAlgn="base" hangingPunct="0">
              <a:spcBef>
                <a:spcPct val="0"/>
              </a:spcBef>
              <a:spcAft>
                <a:spcPct val="0"/>
              </a:spcAft>
              <a:defRPr sz="2400">
                <a:solidFill>
                  <a:schemeClr val="tx1"/>
                </a:solidFill>
                <a:latin typeface="Times New Roman" pitchFamily="18" charset="0"/>
              </a:defRPr>
            </a:lvl7pPr>
            <a:lvl8pPr marL="3429000" indent="-228600" algn="r" eaLnBrk="0" fontAlgn="base" hangingPunct="0">
              <a:spcBef>
                <a:spcPct val="0"/>
              </a:spcBef>
              <a:spcAft>
                <a:spcPct val="0"/>
              </a:spcAft>
              <a:defRPr sz="2400">
                <a:solidFill>
                  <a:schemeClr val="tx1"/>
                </a:solidFill>
                <a:latin typeface="Times New Roman" pitchFamily="18" charset="0"/>
              </a:defRPr>
            </a:lvl8pPr>
            <a:lvl9pPr marL="3886200" indent="-228600" algn="r"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buFont typeface="Wingdings" pitchFamily="2" charset="2"/>
              <a:buChar char="Ø"/>
              <a:defRPr/>
            </a:pPr>
            <a:r>
              <a:rPr lang="en-IE" dirty="0"/>
              <a:t> </a:t>
            </a:r>
            <a:r>
              <a:rPr lang="en-IE" dirty="0">
                <a:solidFill>
                  <a:srgbClr val="990000"/>
                </a:solidFill>
              </a:rPr>
              <a:t>Light attempting to go from glass to air but angle of incidence greater than critical angle. </a:t>
            </a:r>
            <a:endParaRPr lang="en-GB" dirty="0">
              <a:solidFill>
                <a:srgbClr val="990000"/>
              </a:solidFill>
            </a:endParaRPr>
          </a:p>
        </p:txBody>
      </p:sp>
      <p:sp>
        <p:nvSpPr>
          <p:cNvPr id="16406" name="Text Box 22">
            <a:extLst>
              <a:ext uri="{FF2B5EF4-FFF2-40B4-BE49-F238E27FC236}">
                <a16:creationId xmlns:a16="http://schemas.microsoft.com/office/drawing/2014/main" id="{B29706FC-00B1-4E68-BEF3-E076B55BFF14}"/>
              </a:ext>
            </a:extLst>
          </p:cNvPr>
          <p:cNvSpPr txBox="1">
            <a:spLocks noChangeArrowheads="1"/>
          </p:cNvSpPr>
          <p:nvPr/>
        </p:nvSpPr>
        <p:spPr bwMode="auto">
          <a:xfrm>
            <a:off x="5791200" y="3733801"/>
            <a:ext cx="4495800" cy="523875"/>
          </a:xfrm>
          <a:prstGeom prst="rect">
            <a:avLst/>
          </a:prstGeom>
          <a:noFill/>
          <a:ln>
            <a:noFill/>
          </a:ln>
        </p:spPr>
        <p:txBody>
          <a:bodyPr>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algn="r" eaLnBrk="0" fontAlgn="base" hangingPunct="0">
              <a:spcBef>
                <a:spcPct val="0"/>
              </a:spcBef>
              <a:spcAft>
                <a:spcPct val="0"/>
              </a:spcAft>
              <a:defRPr sz="2400">
                <a:solidFill>
                  <a:schemeClr val="tx1"/>
                </a:solidFill>
                <a:latin typeface="Times New Roman" pitchFamily="18" charset="0"/>
              </a:defRPr>
            </a:lvl6pPr>
            <a:lvl7pPr marL="2971800" indent="-228600" algn="r" eaLnBrk="0" fontAlgn="base" hangingPunct="0">
              <a:spcBef>
                <a:spcPct val="0"/>
              </a:spcBef>
              <a:spcAft>
                <a:spcPct val="0"/>
              </a:spcAft>
              <a:defRPr sz="2400">
                <a:solidFill>
                  <a:schemeClr val="tx1"/>
                </a:solidFill>
                <a:latin typeface="Times New Roman" pitchFamily="18" charset="0"/>
              </a:defRPr>
            </a:lvl7pPr>
            <a:lvl8pPr marL="3429000" indent="-228600" algn="r" eaLnBrk="0" fontAlgn="base" hangingPunct="0">
              <a:spcBef>
                <a:spcPct val="0"/>
              </a:spcBef>
              <a:spcAft>
                <a:spcPct val="0"/>
              </a:spcAft>
              <a:defRPr sz="2400">
                <a:solidFill>
                  <a:schemeClr val="tx1"/>
                </a:solidFill>
                <a:latin typeface="Times New Roman" pitchFamily="18" charset="0"/>
              </a:defRPr>
            </a:lvl8pPr>
            <a:lvl9pPr marL="3886200" indent="-228600" algn="r" eaLnBrk="0" fontAlgn="base" hangingPunct="0">
              <a:spcBef>
                <a:spcPct val="0"/>
              </a:spcBef>
              <a:spcAft>
                <a:spcPct val="0"/>
              </a:spcAft>
              <a:defRPr sz="2400">
                <a:solidFill>
                  <a:schemeClr val="tx1"/>
                </a:solidFill>
                <a:latin typeface="Times New Roman" pitchFamily="18" charset="0"/>
              </a:defRPr>
            </a:lvl9pPr>
          </a:lstStyle>
          <a:p>
            <a:pPr eaLnBrk="1" hangingPunct="1">
              <a:spcBef>
                <a:spcPct val="50000"/>
              </a:spcBef>
              <a:buFont typeface="Wingdings" pitchFamily="2" charset="2"/>
              <a:buChar char="Ø"/>
              <a:defRPr/>
            </a:pPr>
            <a:r>
              <a:rPr lang="en-IE" sz="2800" b="1" i="1" dirty="0">
                <a:solidFill>
                  <a:srgbClr val="0070C0"/>
                </a:solidFill>
              </a:rPr>
              <a:t>Total Internal Reflection</a:t>
            </a:r>
            <a:endParaRPr lang="en-GB" sz="2800" b="1" i="1" dirty="0">
              <a:solidFill>
                <a:srgbClr val="0070C0"/>
              </a:solidFill>
            </a:endParaRPr>
          </a:p>
        </p:txBody>
      </p:sp>
      <p:sp>
        <p:nvSpPr>
          <p:cNvPr id="16407" name="Text Box 23">
            <a:extLst>
              <a:ext uri="{FF2B5EF4-FFF2-40B4-BE49-F238E27FC236}">
                <a16:creationId xmlns:a16="http://schemas.microsoft.com/office/drawing/2014/main" id="{641F4897-71BF-4263-B81A-064D6EFBD27D}"/>
              </a:ext>
            </a:extLst>
          </p:cNvPr>
          <p:cNvSpPr txBox="1">
            <a:spLocks noChangeArrowheads="1"/>
          </p:cNvSpPr>
          <p:nvPr/>
        </p:nvSpPr>
        <p:spPr bwMode="auto">
          <a:xfrm>
            <a:off x="6172200" y="4916488"/>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dirty="0">
                <a:solidFill>
                  <a:schemeClr val="bg1"/>
                </a:solidFill>
              </a:rPr>
              <a:t> Light from glass to air at 90</a:t>
            </a:r>
            <a:r>
              <a:rPr lang="en-IE" altLang="en-US" baseline="40000" dirty="0">
                <a:solidFill>
                  <a:schemeClr val="bg1"/>
                </a:solidFill>
              </a:rPr>
              <a:t>o</a:t>
            </a:r>
            <a:endParaRPr lang="en-IE" altLang="en-US" dirty="0">
              <a:solidFill>
                <a:schemeClr val="bg1"/>
              </a:solidFill>
            </a:endParaRPr>
          </a:p>
        </p:txBody>
      </p:sp>
      <p:sp>
        <p:nvSpPr>
          <p:cNvPr id="16408" name="Text Box 24">
            <a:extLst>
              <a:ext uri="{FF2B5EF4-FFF2-40B4-BE49-F238E27FC236}">
                <a16:creationId xmlns:a16="http://schemas.microsoft.com/office/drawing/2014/main" id="{45F59902-0E50-460D-BBE0-BE5A37742CFD}"/>
              </a:ext>
            </a:extLst>
          </p:cNvPr>
          <p:cNvSpPr txBox="1">
            <a:spLocks noChangeArrowheads="1"/>
          </p:cNvSpPr>
          <p:nvPr/>
        </p:nvSpPr>
        <p:spPr bwMode="auto">
          <a:xfrm>
            <a:off x="6248400" y="5419725"/>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dirty="0">
                <a:solidFill>
                  <a:srgbClr val="0070C0"/>
                </a:solidFill>
              </a:rPr>
              <a:t>No Refraction</a:t>
            </a:r>
            <a:endParaRPr lang="en-GB" altLang="en-US" dirty="0">
              <a:solidFill>
                <a:srgbClr val="0070C0"/>
              </a:solidFill>
            </a:endParaRPr>
          </a:p>
        </p:txBody>
      </p:sp>
    </p:spTree>
    <p:extLst>
      <p:ext uri="{BB962C8B-B14F-4D97-AF65-F5344CB8AC3E}">
        <p14:creationId xmlns:p14="http://schemas.microsoft.com/office/powerpoint/2010/main" val="232978178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wipe(up)">
                                      <p:cBhvr>
                                        <p:cTn id="7" dur="500"/>
                                        <p:tgtEl>
                                          <p:spTgt spid="16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6" fill="hold" grpId="0" nodeType="clickEffect">
                                  <p:stCondLst>
                                    <p:cond delay="0"/>
                                  </p:stCondLst>
                                  <p:iterate type="wd">
                                    <p:tmPct val="100000"/>
                                  </p:iterate>
                                  <p:childTnLst>
                                    <p:set>
                                      <p:cBhvr>
                                        <p:cTn id="11" dur="1" fill="hold">
                                          <p:stCondLst>
                                            <p:cond delay="0"/>
                                          </p:stCondLst>
                                        </p:cTn>
                                        <p:tgtEl>
                                          <p:spTgt spid="16395"/>
                                        </p:tgtEl>
                                        <p:attrNameLst>
                                          <p:attrName>style.visibility</p:attrName>
                                        </p:attrNameLst>
                                      </p:cBhvr>
                                      <p:to>
                                        <p:strVal val="visible"/>
                                      </p:to>
                                    </p:set>
                                    <p:animEffect transition="in" filter="strips(downRight)">
                                      <p:cBhvr>
                                        <p:cTn id="12" dur="300"/>
                                        <p:tgtEl>
                                          <p:spTgt spid="163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wipe(right)">
                                      <p:cBhvr>
                                        <p:cTn id="17" dur="500"/>
                                        <p:tgtEl>
                                          <p:spTgt spid="163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6" fill="hold" grpId="0" nodeType="clickEffect">
                                  <p:stCondLst>
                                    <p:cond delay="0"/>
                                  </p:stCondLst>
                                  <p:iterate type="wd">
                                    <p:tmPct val="100000"/>
                                  </p:iterate>
                                  <p:childTnLst>
                                    <p:set>
                                      <p:cBhvr>
                                        <p:cTn id="21" dur="1" fill="hold">
                                          <p:stCondLst>
                                            <p:cond delay="0"/>
                                          </p:stCondLst>
                                        </p:cTn>
                                        <p:tgtEl>
                                          <p:spTgt spid="16397"/>
                                        </p:tgtEl>
                                        <p:attrNameLst>
                                          <p:attrName>style.visibility</p:attrName>
                                        </p:attrNameLst>
                                      </p:cBhvr>
                                      <p:to>
                                        <p:strVal val="visible"/>
                                      </p:to>
                                    </p:set>
                                    <p:animEffect transition="in" filter="barn(inHorizontal)">
                                      <p:cBhvr>
                                        <p:cTn id="22" dur="300"/>
                                        <p:tgtEl>
                                          <p:spTgt spid="163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grpId="0" nodeType="clickEffect">
                                  <p:stCondLst>
                                    <p:cond delay="0"/>
                                  </p:stCondLst>
                                  <p:iterate type="wd">
                                    <p:tmPct val="100000"/>
                                  </p:iterate>
                                  <p:childTnLst>
                                    <p:set>
                                      <p:cBhvr>
                                        <p:cTn id="31" dur="1" fill="hold">
                                          <p:stCondLst>
                                            <p:cond delay="0"/>
                                          </p:stCondLst>
                                        </p:cTn>
                                        <p:tgtEl>
                                          <p:spTgt spid="16398"/>
                                        </p:tgtEl>
                                        <p:attrNameLst>
                                          <p:attrName>style.visibility</p:attrName>
                                        </p:attrNameLst>
                                      </p:cBhvr>
                                      <p:to>
                                        <p:strVal val="visible"/>
                                      </p:to>
                                    </p:set>
                                    <p:animEffect transition="in" filter="barn(inHorizontal)">
                                      <p:cBhvr>
                                        <p:cTn id="32" dur="300"/>
                                        <p:tgtEl>
                                          <p:spTgt spid="163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up)">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8" presetClass="entr" presetSubtype="6" fill="hold" grpId="0" nodeType="clickEffect">
                                  <p:stCondLst>
                                    <p:cond delay="0"/>
                                  </p:stCondLst>
                                  <p:iterate type="wd">
                                    <p:tmPct val="100000"/>
                                  </p:iterate>
                                  <p:childTnLst>
                                    <p:set>
                                      <p:cBhvr>
                                        <p:cTn id="41" dur="1" fill="hold">
                                          <p:stCondLst>
                                            <p:cond delay="0"/>
                                          </p:stCondLst>
                                        </p:cTn>
                                        <p:tgtEl>
                                          <p:spTgt spid="16405"/>
                                        </p:tgtEl>
                                        <p:attrNameLst>
                                          <p:attrName>style.visibility</p:attrName>
                                        </p:attrNameLst>
                                      </p:cBhvr>
                                      <p:to>
                                        <p:strVal val="visible"/>
                                      </p:to>
                                    </p:set>
                                    <p:animEffect transition="in" filter="strips(downRight)">
                                      <p:cBhvr>
                                        <p:cTn id="42" dur="300"/>
                                        <p:tgtEl>
                                          <p:spTgt spid="1640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6389"/>
                                        </p:tgtEl>
                                        <p:attrNameLst>
                                          <p:attrName>style.visibility</p:attrName>
                                        </p:attrNameLst>
                                      </p:cBhvr>
                                      <p:to>
                                        <p:strVal val="visible"/>
                                      </p:to>
                                    </p:set>
                                    <p:animEffect transition="in" filter="wipe(up)">
                                      <p:cBhvr>
                                        <p:cTn id="47" dur="500"/>
                                        <p:tgtEl>
                                          <p:spTgt spid="163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26" fill="hold" grpId="0" nodeType="clickEffect">
                                  <p:stCondLst>
                                    <p:cond delay="0"/>
                                  </p:stCondLst>
                                  <p:iterate type="wd">
                                    <p:tmPct val="100000"/>
                                  </p:iterate>
                                  <p:childTnLst>
                                    <p:set>
                                      <p:cBhvr>
                                        <p:cTn id="51" dur="1" fill="hold">
                                          <p:stCondLst>
                                            <p:cond delay="0"/>
                                          </p:stCondLst>
                                        </p:cTn>
                                        <p:tgtEl>
                                          <p:spTgt spid="16406"/>
                                        </p:tgtEl>
                                        <p:attrNameLst>
                                          <p:attrName>style.visibility</p:attrName>
                                        </p:attrNameLst>
                                      </p:cBhvr>
                                      <p:to>
                                        <p:strVal val="visible"/>
                                      </p:to>
                                    </p:set>
                                    <p:animEffect transition="in" filter="barn(inHorizontal)">
                                      <p:cBhvr>
                                        <p:cTn id="52" dur="300"/>
                                        <p:tgtEl>
                                          <p:spTgt spid="1640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6" presetClass="entr" presetSubtype="26" fill="hold" grpId="0" nodeType="clickEffect">
                                  <p:stCondLst>
                                    <p:cond delay="0"/>
                                  </p:stCondLst>
                                  <p:iterate type="wd">
                                    <p:tmPct val="100000"/>
                                  </p:iterate>
                                  <p:childTnLst>
                                    <p:set>
                                      <p:cBhvr>
                                        <p:cTn id="56" dur="1" fill="hold">
                                          <p:stCondLst>
                                            <p:cond delay="0"/>
                                          </p:stCondLst>
                                        </p:cTn>
                                        <p:tgtEl>
                                          <p:spTgt spid="16407"/>
                                        </p:tgtEl>
                                        <p:attrNameLst>
                                          <p:attrName>style.visibility</p:attrName>
                                        </p:attrNameLst>
                                      </p:cBhvr>
                                      <p:to>
                                        <p:strVal val="visible"/>
                                      </p:to>
                                    </p:set>
                                    <p:animEffect transition="in" filter="barn(inHorizontal)">
                                      <p:cBhvr>
                                        <p:cTn id="57" dur="300"/>
                                        <p:tgtEl>
                                          <p:spTgt spid="1640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nodeType="clickEffect">
                                  <p:stCondLst>
                                    <p:cond delay="0"/>
                                  </p:stCondLst>
                                  <p:childTnLst>
                                    <p:set>
                                      <p:cBhvr>
                                        <p:cTn id="61" dur="1" fill="hold">
                                          <p:stCondLst>
                                            <p:cond delay="0"/>
                                          </p:stCondLst>
                                        </p:cTn>
                                        <p:tgtEl>
                                          <p:spTgt spid="4"/>
                                        </p:tgtEl>
                                        <p:attrNameLst>
                                          <p:attrName>style.visibility</p:attrName>
                                        </p:attrNameLst>
                                      </p:cBhvr>
                                      <p:to>
                                        <p:strVal val="visible"/>
                                      </p:to>
                                    </p:set>
                                    <p:animEffect transition="in" filter="wipe(up)">
                                      <p:cBhvr>
                                        <p:cTn id="62" dur="500"/>
                                        <p:tgtEl>
                                          <p:spTgt spid="4"/>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26" fill="hold" grpId="0" nodeType="clickEffect">
                                  <p:stCondLst>
                                    <p:cond delay="0"/>
                                  </p:stCondLst>
                                  <p:iterate type="wd">
                                    <p:tmPct val="100000"/>
                                  </p:iterate>
                                  <p:childTnLst>
                                    <p:set>
                                      <p:cBhvr>
                                        <p:cTn id="66" dur="1" fill="hold">
                                          <p:stCondLst>
                                            <p:cond delay="0"/>
                                          </p:stCondLst>
                                        </p:cTn>
                                        <p:tgtEl>
                                          <p:spTgt spid="16408"/>
                                        </p:tgtEl>
                                        <p:attrNameLst>
                                          <p:attrName>style.visibility</p:attrName>
                                        </p:attrNameLst>
                                      </p:cBhvr>
                                      <p:to>
                                        <p:strVal val="visible"/>
                                      </p:to>
                                    </p:set>
                                    <p:animEffect transition="in" filter="barn(inHorizontal)">
                                      <p:cBhvr>
                                        <p:cTn id="67" dur="300"/>
                                        <p:tgtEl>
                                          <p:spTgt spid="16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5" grpId="0" autoUpdateAnimBg="0"/>
      <p:bldP spid="16397" grpId="0" autoUpdateAnimBg="0"/>
      <p:bldP spid="16398" grpId="0" autoUpdateAnimBg="0"/>
      <p:bldP spid="16405" grpId="0" animBg="1" autoUpdateAnimBg="0"/>
      <p:bldP spid="16406" grpId="0" autoUpdateAnimBg="0"/>
      <p:bldP spid="16407" grpId="0" autoUpdateAnimBg="0"/>
      <p:bldP spid="1640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717EF6B9-7F4E-4E65-A352-C42EC8B6E06F}"/>
              </a:ext>
            </a:extLst>
          </p:cNvPr>
          <p:cNvSpPr>
            <a:spLocks noGrp="1" noChangeArrowheads="1"/>
          </p:cNvSpPr>
          <p:nvPr>
            <p:ph type="title"/>
          </p:nvPr>
        </p:nvSpPr>
        <p:spPr>
          <a:xfrm>
            <a:off x="2209800" y="381000"/>
            <a:ext cx="7772400" cy="1143000"/>
          </a:xfrm>
        </p:spPr>
        <p:txBody>
          <a:bodyPr>
            <a:normAutofit fontScale="90000"/>
          </a:bodyPr>
          <a:lstStyle/>
          <a:p>
            <a:pPr eaLnBrk="1" hangingPunct="1"/>
            <a:r>
              <a:rPr lang="en-GB" altLang="en-US"/>
              <a:t>Using T.I.R. in a prism to deviate light through 180</a:t>
            </a:r>
            <a:r>
              <a:rPr lang="en-GB" altLang="en-US">
                <a:sym typeface="Symbol" panose="05050102010706020507" pitchFamily="18" charset="2"/>
              </a:rPr>
              <a:t></a:t>
            </a:r>
          </a:p>
        </p:txBody>
      </p:sp>
      <p:pic>
        <p:nvPicPr>
          <p:cNvPr id="70659" name="Picture 5" descr="C:\WINDOWS\Desktop\Physics 1      O'Regan\O'Regan Chapter 04 - Refraction\Prism TIR180 1.JPG">
            <a:extLst>
              <a:ext uri="{FF2B5EF4-FFF2-40B4-BE49-F238E27FC236}">
                <a16:creationId xmlns:a16="http://schemas.microsoft.com/office/drawing/2014/main" id="{94A21DD9-57B7-416C-B69A-D1DEBE40B8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057401"/>
            <a:ext cx="4648200" cy="373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0" name="Picture 7">
            <a:extLst>
              <a:ext uri="{FF2B5EF4-FFF2-40B4-BE49-F238E27FC236}">
                <a16:creationId xmlns:a16="http://schemas.microsoft.com/office/drawing/2014/main" id="{DD803D53-8027-42C4-8AFA-E30958B3E0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286001"/>
            <a:ext cx="3276600" cy="315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a:extLst>
              <a:ext uri="{FF2B5EF4-FFF2-40B4-BE49-F238E27FC236}">
                <a16:creationId xmlns:a16="http://schemas.microsoft.com/office/drawing/2014/main" id="{57088873-B1BF-40A7-B58A-396995777C5E}"/>
              </a:ext>
            </a:extLst>
          </p:cNvPr>
          <p:cNvSpPr>
            <a:spLocks noGrp="1"/>
          </p:cNvSpPr>
          <p:nvPr>
            <p:ph type="sldNum" sz="quarter" idx="12"/>
          </p:nvPr>
        </p:nvSpPr>
        <p:spPr>
          <a:xfrm>
            <a:off x="2209800" y="6248400"/>
            <a:ext cx="1905000" cy="457200"/>
          </a:xfrm>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eaLnBrk="1" hangingPunct="1"/>
            <a:fld id="{D7F165A6-CC41-43D2-810A-0D271C480C03}" type="slidenum">
              <a:rPr lang="en-GB" altLang="en-US" sz="1400"/>
              <a:pPr algn="l" eaLnBrk="1" hangingPunct="1"/>
              <a:t>12</a:t>
            </a:fld>
            <a:endParaRPr lang="en-GB" altLang="en-US" sz="1400"/>
          </a:p>
        </p:txBody>
      </p:sp>
      <p:pic>
        <p:nvPicPr>
          <p:cNvPr id="14338" name="Picture 2" descr="prism6">
            <a:extLst>
              <a:ext uri="{FF2B5EF4-FFF2-40B4-BE49-F238E27FC236}">
                <a16:creationId xmlns:a16="http://schemas.microsoft.com/office/drawing/2014/main" id="{D72CBF22-2EF8-4FDA-8473-F07FDEEF60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990601"/>
            <a:ext cx="2660650"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9" name="Line 3">
            <a:extLst>
              <a:ext uri="{FF2B5EF4-FFF2-40B4-BE49-F238E27FC236}">
                <a16:creationId xmlns:a16="http://schemas.microsoft.com/office/drawing/2014/main" id="{37121F72-1185-4B92-9B32-F2D9A41757A8}"/>
              </a:ext>
            </a:extLst>
          </p:cNvPr>
          <p:cNvSpPr>
            <a:spLocks noChangeShapeType="1"/>
          </p:cNvSpPr>
          <p:nvPr/>
        </p:nvSpPr>
        <p:spPr bwMode="auto">
          <a:xfrm>
            <a:off x="2819400" y="2438400"/>
            <a:ext cx="5867400" cy="0"/>
          </a:xfrm>
          <a:prstGeom prst="line">
            <a:avLst/>
          </a:prstGeom>
          <a:noFill/>
          <a:ln w="28575">
            <a:solidFill>
              <a:schemeClr val="tx1"/>
            </a:solidFill>
            <a:round/>
            <a:headEnd type="arrow" w="med" len="med"/>
            <a:tailEnd/>
          </a:ln>
          <a:extLst>
            <a:ext uri="{909E8E84-426E-40DD-AFC4-6F175D3DCCD1}">
              <a14:hiddenFill xmlns:a14="http://schemas.microsoft.com/office/drawing/2010/main">
                <a:noFill/>
              </a14:hiddenFill>
            </a:ext>
          </a:extLst>
        </p:spPr>
        <p:txBody>
          <a:bodyPr/>
          <a:lstStyle/>
          <a:p>
            <a:endParaRPr lang="en-IE"/>
          </a:p>
        </p:txBody>
      </p:sp>
      <p:sp>
        <p:nvSpPr>
          <p:cNvPr id="14340" name="Line 4">
            <a:extLst>
              <a:ext uri="{FF2B5EF4-FFF2-40B4-BE49-F238E27FC236}">
                <a16:creationId xmlns:a16="http://schemas.microsoft.com/office/drawing/2014/main" id="{7A60A559-9A15-4207-AFED-25CA479C0D10}"/>
              </a:ext>
            </a:extLst>
          </p:cNvPr>
          <p:cNvSpPr>
            <a:spLocks noChangeShapeType="1"/>
          </p:cNvSpPr>
          <p:nvPr/>
        </p:nvSpPr>
        <p:spPr bwMode="auto">
          <a:xfrm>
            <a:off x="2819400" y="4724400"/>
            <a:ext cx="5867400" cy="0"/>
          </a:xfrm>
          <a:prstGeom prst="line">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txBody>
          <a:bodyPr/>
          <a:lstStyle/>
          <a:p>
            <a:endParaRPr lang="en-IE"/>
          </a:p>
        </p:txBody>
      </p:sp>
      <p:sp>
        <p:nvSpPr>
          <p:cNvPr id="14341" name="Line 5">
            <a:extLst>
              <a:ext uri="{FF2B5EF4-FFF2-40B4-BE49-F238E27FC236}">
                <a16:creationId xmlns:a16="http://schemas.microsoft.com/office/drawing/2014/main" id="{C2602CCE-AC33-44E5-B717-76C822CDAA1A}"/>
              </a:ext>
            </a:extLst>
          </p:cNvPr>
          <p:cNvSpPr>
            <a:spLocks noChangeShapeType="1"/>
          </p:cNvSpPr>
          <p:nvPr/>
        </p:nvSpPr>
        <p:spPr bwMode="auto">
          <a:xfrm>
            <a:off x="2819400" y="2438400"/>
            <a:ext cx="0" cy="22860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grpSp>
        <p:nvGrpSpPr>
          <p:cNvPr id="2" name="Group 24">
            <a:extLst>
              <a:ext uri="{FF2B5EF4-FFF2-40B4-BE49-F238E27FC236}">
                <a16:creationId xmlns:a16="http://schemas.microsoft.com/office/drawing/2014/main" id="{6CF7364D-536B-4F24-AFB8-56098E0626DC}"/>
              </a:ext>
            </a:extLst>
          </p:cNvPr>
          <p:cNvGrpSpPr>
            <a:grpSpLocks/>
          </p:cNvGrpSpPr>
          <p:nvPr/>
        </p:nvGrpSpPr>
        <p:grpSpPr bwMode="auto">
          <a:xfrm>
            <a:off x="2286000" y="1905000"/>
            <a:ext cx="1600200" cy="1524000"/>
            <a:chOff x="480" y="1200"/>
            <a:chExt cx="1008" cy="960"/>
          </a:xfrm>
        </p:grpSpPr>
        <p:sp>
          <p:nvSpPr>
            <p:cNvPr id="71705" name="Line 7">
              <a:extLst>
                <a:ext uri="{FF2B5EF4-FFF2-40B4-BE49-F238E27FC236}">
                  <a16:creationId xmlns:a16="http://schemas.microsoft.com/office/drawing/2014/main" id="{C98AD76E-FFAA-4F2D-BD65-CAD047D0BED6}"/>
                </a:ext>
              </a:extLst>
            </p:cNvPr>
            <p:cNvSpPr>
              <a:spLocks noChangeShapeType="1"/>
            </p:cNvSpPr>
            <p:nvPr/>
          </p:nvSpPr>
          <p:spPr bwMode="auto">
            <a:xfrm flipH="1" flipV="1">
              <a:off x="480" y="1200"/>
              <a:ext cx="1008" cy="96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71706" name="Text Box 8">
              <a:extLst>
                <a:ext uri="{FF2B5EF4-FFF2-40B4-BE49-F238E27FC236}">
                  <a16:creationId xmlns:a16="http://schemas.microsoft.com/office/drawing/2014/main" id="{ADFD5DDD-35DD-4D48-AB27-A55A97C35E86}"/>
                </a:ext>
              </a:extLst>
            </p:cNvPr>
            <p:cNvSpPr txBox="1">
              <a:spLocks noChangeArrowheads="1"/>
            </p:cNvSpPr>
            <p:nvPr/>
          </p:nvSpPr>
          <p:spPr bwMode="auto">
            <a:xfrm>
              <a:off x="1104" y="153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1800"/>
                <a:t>45</a:t>
              </a:r>
              <a:r>
                <a:rPr lang="en-IE" altLang="en-US" sz="1800" baseline="30000"/>
                <a:t>0</a:t>
              </a:r>
              <a:endParaRPr lang="en-GB" altLang="en-US" sz="1800"/>
            </a:p>
          </p:txBody>
        </p:sp>
        <p:sp>
          <p:nvSpPr>
            <p:cNvPr id="71707" name="Text Box 9">
              <a:extLst>
                <a:ext uri="{FF2B5EF4-FFF2-40B4-BE49-F238E27FC236}">
                  <a16:creationId xmlns:a16="http://schemas.microsoft.com/office/drawing/2014/main" id="{3F34353E-972F-4962-8CC7-1378BBB6ABB8}"/>
                </a:ext>
              </a:extLst>
            </p:cNvPr>
            <p:cNvSpPr txBox="1">
              <a:spLocks noChangeArrowheads="1"/>
            </p:cNvSpPr>
            <p:nvPr/>
          </p:nvSpPr>
          <p:spPr bwMode="auto">
            <a:xfrm>
              <a:off x="816" y="177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1800"/>
                <a:t>45</a:t>
              </a:r>
              <a:r>
                <a:rPr lang="en-IE" altLang="en-US" sz="1800" baseline="30000"/>
                <a:t>0</a:t>
              </a:r>
              <a:endParaRPr lang="en-GB" altLang="en-US" sz="1800"/>
            </a:p>
          </p:txBody>
        </p:sp>
      </p:grpSp>
      <p:grpSp>
        <p:nvGrpSpPr>
          <p:cNvPr id="3" name="Group 25">
            <a:extLst>
              <a:ext uri="{FF2B5EF4-FFF2-40B4-BE49-F238E27FC236}">
                <a16:creationId xmlns:a16="http://schemas.microsoft.com/office/drawing/2014/main" id="{B713DE7B-7ED9-4FC5-8691-78E9EC1DDA2A}"/>
              </a:ext>
            </a:extLst>
          </p:cNvPr>
          <p:cNvGrpSpPr>
            <a:grpSpLocks/>
          </p:cNvGrpSpPr>
          <p:nvPr/>
        </p:nvGrpSpPr>
        <p:grpSpPr bwMode="auto">
          <a:xfrm>
            <a:off x="1981200" y="3886200"/>
            <a:ext cx="1752600" cy="1828800"/>
            <a:chOff x="288" y="2448"/>
            <a:chExt cx="1104" cy="1152"/>
          </a:xfrm>
        </p:grpSpPr>
        <p:sp>
          <p:nvSpPr>
            <p:cNvPr id="71702" name="Line 6">
              <a:extLst>
                <a:ext uri="{FF2B5EF4-FFF2-40B4-BE49-F238E27FC236}">
                  <a16:creationId xmlns:a16="http://schemas.microsoft.com/office/drawing/2014/main" id="{F22744D4-9E2F-4B47-897C-4ABEF48A903C}"/>
                </a:ext>
              </a:extLst>
            </p:cNvPr>
            <p:cNvSpPr>
              <a:spLocks noChangeShapeType="1"/>
            </p:cNvSpPr>
            <p:nvPr/>
          </p:nvSpPr>
          <p:spPr bwMode="auto">
            <a:xfrm flipH="1">
              <a:off x="288" y="2448"/>
              <a:ext cx="1008" cy="1152"/>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71703" name="Text Box 10">
              <a:extLst>
                <a:ext uri="{FF2B5EF4-FFF2-40B4-BE49-F238E27FC236}">
                  <a16:creationId xmlns:a16="http://schemas.microsoft.com/office/drawing/2014/main" id="{8E75E6BA-A6D8-4241-AC41-3E6B07E41E1E}"/>
                </a:ext>
              </a:extLst>
            </p:cNvPr>
            <p:cNvSpPr txBox="1">
              <a:spLocks noChangeArrowheads="1"/>
            </p:cNvSpPr>
            <p:nvPr/>
          </p:nvSpPr>
          <p:spPr bwMode="auto">
            <a:xfrm>
              <a:off x="864" y="2448"/>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1800"/>
                <a:t>45</a:t>
              </a:r>
              <a:r>
                <a:rPr lang="en-IE" altLang="en-US" sz="1800" baseline="30000"/>
                <a:t>0</a:t>
              </a:r>
              <a:endParaRPr lang="en-GB" altLang="en-US" sz="1800"/>
            </a:p>
          </p:txBody>
        </p:sp>
        <p:sp>
          <p:nvSpPr>
            <p:cNvPr id="71704" name="Text Box 11">
              <a:extLst>
                <a:ext uri="{FF2B5EF4-FFF2-40B4-BE49-F238E27FC236}">
                  <a16:creationId xmlns:a16="http://schemas.microsoft.com/office/drawing/2014/main" id="{F9A1FA95-DFF4-4A60-A303-46CBE7686351}"/>
                </a:ext>
              </a:extLst>
            </p:cNvPr>
            <p:cNvSpPr txBox="1">
              <a:spLocks noChangeArrowheads="1"/>
            </p:cNvSpPr>
            <p:nvPr/>
          </p:nvSpPr>
          <p:spPr bwMode="auto">
            <a:xfrm>
              <a:off x="1008" y="2736"/>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1800"/>
                <a:t>45</a:t>
              </a:r>
              <a:r>
                <a:rPr lang="en-IE" altLang="en-US" sz="1800" baseline="30000"/>
                <a:t>0</a:t>
              </a:r>
              <a:endParaRPr lang="en-GB" altLang="en-US" sz="1800"/>
            </a:p>
          </p:txBody>
        </p:sp>
      </p:grpSp>
      <p:sp>
        <p:nvSpPr>
          <p:cNvPr id="14348" name="Text Box 12">
            <a:extLst>
              <a:ext uri="{FF2B5EF4-FFF2-40B4-BE49-F238E27FC236}">
                <a16:creationId xmlns:a16="http://schemas.microsoft.com/office/drawing/2014/main" id="{56173FEB-B10B-4095-8706-C7D2B5A1933D}"/>
              </a:ext>
            </a:extLst>
          </p:cNvPr>
          <p:cNvSpPr txBox="1">
            <a:spLocks noChangeArrowheads="1"/>
          </p:cNvSpPr>
          <p:nvPr/>
        </p:nvSpPr>
        <p:spPr bwMode="auto">
          <a:xfrm>
            <a:off x="1600200" y="168276"/>
            <a:ext cx="388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Critical angle of glass in prism 41.9</a:t>
            </a:r>
            <a:r>
              <a:rPr lang="en-IE" altLang="en-US" baseline="40000"/>
              <a:t>o</a:t>
            </a:r>
            <a:r>
              <a:rPr lang="en-IE" altLang="en-US" baseline="30000"/>
              <a:t> </a:t>
            </a:r>
            <a:r>
              <a:rPr lang="en-IE" altLang="en-US"/>
              <a:t> (approx)</a:t>
            </a:r>
            <a:endParaRPr lang="en-GB" altLang="en-US"/>
          </a:p>
        </p:txBody>
      </p:sp>
      <p:grpSp>
        <p:nvGrpSpPr>
          <p:cNvPr id="4" name="Group 22">
            <a:extLst>
              <a:ext uri="{FF2B5EF4-FFF2-40B4-BE49-F238E27FC236}">
                <a16:creationId xmlns:a16="http://schemas.microsoft.com/office/drawing/2014/main" id="{C9D0C5A5-4BB1-4C81-87EB-19251F1ECBCA}"/>
              </a:ext>
            </a:extLst>
          </p:cNvPr>
          <p:cNvGrpSpPr>
            <a:grpSpLocks/>
          </p:cNvGrpSpPr>
          <p:nvPr/>
        </p:nvGrpSpPr>
        <p:grpSpPr bwMode="auto">
          <a:xfrm>
            <a:off x="4191000" y="2438400"/>
            <a:ext cx="304800" cy="304800"/>
            <a:chOff x="1680" y="1536"/>
            <a:chExt cx="192" cy="192"/>
          </a:xfrm>
        </p:grpSpPr>
        <p:sp>
          <p:nvSpPr>
            <p:cNvPr id="71700" name="Line 14">
              <a:extLst>
                <a:ext uri="{FF2B5EF4-FFF2-40B4-BE49-F238E27FC236}">
                  <a16:creationId xmlns:a16="http://schemas.microsoft.com/office/drawing/2014/main" id="{5B43F059-8B6E-4FF6-AE7C-6A586F07962F}"/>
                </a:ext>
              </a:extLst>
            </p:cNvPr>
            <p:cNvSpPr>
              <a:spLocks noChangeShapeType="1"/>
            </p:cNvSpPr>
            <p:nvPr/>
          </p:nvSpPr>
          <p:spPr bwMode="auto">
            <a:xfrm>
              <a:off x="1872" y="1536"/>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71701" name="Line 15">
              <a:extLst>
                <a:ext uri="{FF2B5EF4-FFF2-40B4-BE49-F238E27FC236}">
                  <a16:creationId xmlns:a16="http://schemas.microsoft.com/office/drawing/2014/main" id="{33DB57E2-B877-484F-B474-8A96B366FE22}"/>
                </a:ext>
              </a:extLst>
            </p:cNvPr>
            <p:cNvSpPr>
              <a:spLocks noChangeShapeType="1"/>
            </p:cNvSpPr>
            <p:nvPr/>
          </p:nvSpPr>
          <p:spPr bwMode="auto">
            <a:xfrm flipH="1">
              <a:off x="1680" y="1728"/>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grpSp>
      <p:grpSp>
        <p:nvGrpSpPr>
          <p:cNvPr id="5" name="Group 23">
            <a:extLst>
              <a:ext uri="{FF2B5EF4-FFF2-40B4-BE49-F238E27FC236}">
                <a16:creationId xmlns:a16="http://schemas.microsoft.com/office/drawing/2014/main" id="{97C04E50-365B-4412-9C5B-5519A38B870A}"/>
              </a:ext>
            </a:extLst>
          </p:cNvPr>
          <p:cNvGrpSpPr>
            <a:grpSpLocks/>
          </p:cNvGrpSpPr>
          <p:nvPr/>
        </p:nvGrpSpPr>
        <p:grpSpPr bwMode="auto">
          <a:xfrm>
            <a:off x="4191000" y="4419600"/>
            <a:ext cx="304800" cy="304800"/>
            <a:chOff x="1680" y="2784"/>
            <a:chExt cx="192" cy="192"/>
          </a:xfrm>
        </p:grpSpPr>
        <p:sp>
          <p:nvSpPr>
            <p:cNvPr id="71698" name="Line 16">
              <a:extLst>
                <a:ext uri="{FF2B5EF4-FFF2-40B4-BE49-F238E27FC236}">
                  <a16:creationId xmlns:a16="http://schemas.microsoft.com/office/drawing/2014/main" id="{ADAAD92C-F09B-40C6-8F5C-7E43FEEB9917}"/>
                </a:ext>
              </a:extLst>
            </p:cNvPr>
            <p:cNvSpPr>
              <a:spLocks noChangeShapeType="1"/>
            </p:cNvSpPr>
            <p:nvPr/>
          </p:nvSpPr>
          <p:spPr bwMode="auto">
            <a:xfrm>
              <a:off x="1680" y="2784"/>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sp>
          <p:nvSpPr>
            <p:cNvPr id="71699" name="Line 17">
              <a:extLst>
                <a:ext uri="{FF2B5EF4-FFF2-40B4-BE49-F238E27FC236}">
                  <a16:creationId xmlns:a16="http://schemas.microsoft.com/office/drawing/2014/main" id="{0679D5FE-1737-44BD-865F-C739159A3C68}"/>
                </a:ext>
              </a:extLst>
            </p:cNvPr>
            <p:cNvSpPr>
              <a:spLocks noChangeShapeType="1"/>
            </p:cNvSpPr>
            <p:nvPr/>
          </p:nvSpPr>
          <p:spPr bwMode="auto">
            <a:xfrm>
              <a:off x="1872" y="2784"/>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E"/>
            </a:p>
          </p:txBody>
        </p:sp>
      </p:grpSp>
      <p:sp>
        <p:nvSpPr>
          <p:cNvPr id="14354" name="Text Box 18">
            <a:extLst>
              <a:ext uri="{FF2B5EF4-FFF2-40B4-BE49-F238E27FC236}">
                <a16:creationId xmlns:a16="http://schemas.microsoft.com/office/drawing/2014/main" id="{2C2F7A02-8B93-4474-B99F-0929A07B555C}"/>
              </a:ext>
            </a:extLst>
          </p:cNvPr>
          <p:cNvSpPr txBox="1">
            <a:spLocks noChangeArrowheads="1"/>
          </p:cNvSpPr>
          <p:nvPr/>
        </p:nvSpPr>
        <p:spPr bwMode="auto">
          <a:xfrm>
            <a:off x="5867400" y="8382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a:t> </a:t>
            </a:r>
            <a:r>
              <a:rPr lang="en-IE" altLang="en-US">
                <a:solidFill>
                  <a:schemeClr val="accent2"/>
                </a:solidFill>
              </a:rPr>
              <a:t>Light from air to glass at 90</a:t>
            </a:r>
            <a:r>
              <a:rPr lang="en-IE" altLang="en-US" baseline="40000">
                <a:solidFill>
                  <a:schemeClr val="accent2"/>
                </a:solidFill>
              </a:rPr>
              <a:t>o</a:t>
            </a:r>
            <a:endParaRPr lang="en-IE" altLang="en-US">
              <a:solidFill>
                <a:schemeClr val="accent2"/>
              </a:solidFill>
            </a:endParaRPr>
          </a:p>
        </p:txBody>
      </p:sp>
      <p:sp>
        <p:nvSpPr>
          <p:cNvPr id="14355" name="Text Box 19">
            <a:extLst>
              <a:ext uri="{FF2B5EF4-FFF2-40B4-BE49-F238E27FC236}">
                <a16:creationId xmlns:a16="http://schemas.microsoft.com/office/drawing/2014/main" id="{4FE8F530-96A9-4054-822D-4E62D97C1489}"/>
              </a:ext>
            </a:extLst>
          </p:cNvPr>
          <p:cNvSpPr txBox="1">
            <a:spLocks noChangeArrowheads="1"/>
          </p:cNvSpPr>
          <p:nvPr/>
        </p:nvSpPr>
        <p:spPr bwMode="auto">
          <a:xfrm>
            <a:off x="5943600" y="2514600"/>
            <a:ext cx="41148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a:t> </a:t>
            </a:r>
            <a:r>
              <a:rPr lang="en-IE" altLang="en-US">
                <a:solidFill>
                  <a:srgbClr val="990000"/>
                </a:solidFill>
              </a:rPr>
              <a:t>Light attempting to  go from glass to air but angle of incidence greater than critical angle. </a:t>
            </a:r>
            <a:endParaRPr lang="en-GB" altLang="en-US">
              <a:solidFill>
                <a:srgbClr val="990000"/>
              </a:solidFill>
            </a:endParaRPr>
          </a:p>
        </p:txBody>
      </p:sp>
      <p:sp>
        <p:nvSpPr>
          <p:cNvPr id="14356" name="Text Box 20">
            <a:extLst>
              <a:ext uri="{FF2B5EF4-FFF2-40B4-BE49-F238E27FC236}">
                <a16:creationId xmlns:a16="http://schemas.microsoft.com/office/drawing/2014/main" id="{D0F2B85A-A3DB-41CC-B080-86252A397F4B}"/>
              </a:ext>
            </a:extLst>
          </p:cNvPr>
          <p:cNvSpPr txBox="1">
            <a:spLocks noChangeArrowheads="1"/>
          </p:cNvSpPr>
          <p:nvPr/>
        </p:nvSpPr>
        <p:spPr bwMode="auto">
          <a:xfrm>
            <a:off x="5867400" y="1524000"/>
            <a:ext cx="426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a:solidFill>
                  <a:schemeClr val="accent2"/>
                </a:solidFill>
              </a:rPr>
              <a:t>No Refraction</a:t>
            </a:r>
            <a:endParaRPr lang="en-GB" altLang="en-US"/>
          </a:p>
        </p:txBody>
      </p:sp>
      <p:sp>
        <p:nvSpPr>
          <p:cNvPr id="14357" name="Text Box 21">
            <a:extLst>
              <a:ext uri="{FF2B5EF4-FFF2-40B4-BE49-F238E27FC236}">
                <a16:creationId xmlns:a16="http://schemas.microsoft.com/office/drawing/2014/main" id="{2A37A49A-BCA5-47AC-AA95-BAF7719073E9}"/>
              </a:ext>
            </a:extLst>
          </p:cNvPr>
          <p:cNvSpPr txBox="1">
            <a:spLocks noChangeArrowheads="1"/>
          </p:cNvSpPr>
          <p:nvPr/>
        </p:nvSpPr>
        <p:spPr bwMode="auto">
          <a:xfrm>
            <a:off x="6019800" y="41148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a:solidFill>
                  <a:srgbClr val="990000"/>
                </a:solidFill>
              </a:rPr>
              <a:t>Total Internal Reflection</a:t>
            </a:r>
            <a:endParaRPr lang="en-GB" altLang="en-US" b="1" i="1">
              <a:solidFill>
                <a:srgbClr val="990000"/>
              </a:solidFill>
            </a:endParaRPr>
          </a:p>
        </p:txBody>
      </p:sp>
      <p:sp>
        <p:nvSpPr>
          <p:cNvPr id="14362" name="Text Box 26">
            <a:extLst>
              <a:ext uri="{FF2B5EF4-FFF2-40B4-BE49-F238E27FC236}">
                <a16:creationId xmlns:a16="http://schemas.microsoft.com/office/drawing/2014/main" id="{83B1F968-8793-48CA-8D79-7C5ABB59270D}"/>
              </a:ext>
            </a:extLst>
          </p:cNvPr>
          <p:cNvSpPr txBox="1">
            <a:spLocks noChangeArrowheads="1"/>
          </p:cNvSpPr>
          <p:nvPr/>
        </p:nvSpPr>
        <p:spPr bwMode="auto">
          <a:xfrm>
            <a:off x="6019800" y="5029200"/>
            <a:ext cx="4114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a:t> </a:t>
            </a:r>
            <a:r>
              <a:rPr lang="en-IE" altLang="en-US">
                <a:solidFill>
                  <a:schemeClr val="accent2"/>
                </a:solidFill>
              </a:rPr>
              <a:t>Light from glass to air at 90</a:t>
            </a:r>
            <a:r>
              <a:rPr lang="en-IE" altLang="en-US" baseline="40000">
                <a:solidFill>
                  <a:schemeClr val="accent2"/>
                </a:solidFill>
              </a:rPr>
              <a:t>o</a:t>
            </a:r>
            <a:endParaRPr lang="en-IE" altLang="en-US">
              <a:solidFill>
                <a:schemeClr val="accent2"/>
              </a:solidFill>
            </a:endParaRPr>
          </a:p>
        </p:txBody>
      </p:sp>
      <p:sp>
        <p:nvSpPr>
          <p:cNvPr id="14363" name="Text Box 27">
            <a:extLst>
              <a:ext uri="{FF2B5EF4-FFF2-40B4-BE49-F238E27FC236}">
                <a16:creationId xmlns:a16="http://schemas.microsoft.com/office/drawing/2014/main" id="{751ACC40-F36A-42BE-AD00-4661712FDDA6}"/>
              </a:ext>
            </a:extLst>
          </p:cNvPr>
          <p:cNvSpPr txBox="1">
            <a:spLocks noChangeArrowheads="1"/>
          </p:cNvSpPr>
          <p:nvPr/>
        </p:nvSpPr>
        <p:spPr bwMode="auto">
          <a:xfrm>
            <a:off x="6096000" y="57150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buFont typeface="Wingdings" panose="05000000000000000000" pitchFamily="2" charset="2"/>
              <a:buChar char="Ø"/>
            </a:pPr>
            <a:r>
              <a:rPr lang="en-IE" altLang="en-US" b="1" i="1">
                <a:solidFill>
                  <a:schemeClr val="accent2"/>
                </a:solidFill>
              </a:rPr>
              <a:t>No Refraction</a:t>
            </a:r>
            <a:endParaRPr lang="en-GB"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4338"/>
                                        </p:tgtEl>
                                        <p:attrNameLst>
                                          <p:attrName>style.visibility</p:attrName>
                                        </p:attrNameLst>
                                      </p:cBhvr>
                                      <p:to>
                                        <p:strVal val="visible"/>
                                      </p:to>
                                    </p:set>
                                    <p:animEffect transition="in" filter="wipe(up)">
                                      <p:cBhvr>
                                        <p:cTn id="7" dur="500"/>
                                        <p:tgtEl>
                                          <p:spTgt spid="14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26" fill="hold" grpId="0" nodeType="clickEffect">
                                  <p:stCondLst>
                                    <p:cond delay="0"/>
                                  </p:stCondLst>
                                  <p:iterate type="wd">
                                    <p:tmPct val="100000"/>
                                  </p:iterate>
                                  <p:childTnLst>
                                    <p:set>
                                      <p:cBhvr>
                                        <p:cTn id="11" dur="1" fill="hold">
                                          <p:stCondLst>
                                            <p:cond delay="0"/>
                                          </p:stCondLst>
                                        </p:cTn>
                                        <p:tgtEl>
                                          <p:spTgt spid="14348"/>
                                        </p:tgtEl>
                                        <p:attrNameLst>
                                          <p:attrName>style.visibility</p:attrName>
                                        </p:attrNameLst>
                                      </p:cBhvr>
                                      <p:to>
                                        <p:strVal val="visible"/>
                                      </p:to>
                                    </p:set>
                                    <p:animEffect transition="in" filter="barn(inHorizontal)">
                                      <p:cBhvr>
                                        <p:cTn id="12" dur="300"/>
                                        <p:tgtEl>
                                          <p:spTgt spid="1434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nodeType="clickEffect">
                                  <p:stCondLst>
                                    <p:cond delay="0"/>
                                  </p:stCondLst>
                                  <p:childTnLst>
                                    <p:set>
                                      <p:cBhvr>
                                        <p:cTn id="16" dur="1" fill="hold">
                                          <p:stCondLst>
                                            <p:cond delay="0"/>
                                          </p:stCondLst>
                                        </p:cTn>
                                        <p:tgtEl>
                                          <p:spTgt spid="14339"/>
                                        </p:tgtEl>
                                        <p:attrNameLst>
                                          <p:attrName>style.visibility</p:attrName>
                                        </p:attrNameLst>
                                      </p:cBhvr>
                                      <p:to>
                                        <p:strVal val="visible"/>
                                      </p:to>
                                    </p:set>
                                    <p:animEffect transition="in" filter="wipe(right)">
                                      <p:cBhvr>
                                        <p:cTn id="17" dur="500"/>
                                        <p:tgtEl>
                                          <p:spTgt spid="143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up)">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6" fill="hold" grpId="0" nodeType="clickEffect">
                                  <p:stCondLst>
                                    <p:cond delay="0"/>
                                  </p:stCondLst>
                                  <p:iterate type="wd">
                                    <p:tmPct val="100000"/>
                                  </p:iterate>
                                  <p:childTnLst>
                                    <p:set>
                                      <p:cBhvr>
                                        <p:cTn id="26" dur="1" fill="hold">
                                          <p:stCondLst>
                                            <p:cond delay="0"/>
                                          </p:stCondLst>
                                        </p:cTn>
                                        <p:tgtEl>
                                          <p:spTgt spid="14354"/>
                                        </p:tgtEl>
                                        <p:attrNameLst>
                                          <p:attrName>style.visibility</p:attrName>
                                        </p:attrNameLst>
                                      </p:cBhvr>
                                      <p:to>
                                        <p:strVal val="visible"/>
                                      </p:to>
                                    </p:set>
                                    <p:animEffect transition="in" filter="barn(inHorizontal)">
                                      <p:cBhvr>
                                        <p:cTn id="27" dur="300"/>
                                        <p:tgtEl>
                                          <p:spTgt spid="1435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26" fill="hold" grpId="0" nodeType="clickEffect">
                                  <p:stCondLst>
                                    <p:cond delay="0"/>
                                  </p:stCondLst>
                                  <p:iterate type="wd">
                                    <p:tmPct val="100000"/>
                                  </p:iterate>
                                  <p:childTnLst>
                                    <p:set>
                                      <p:cBhvr>
                                        <p:cTn id="31" dur="1" fill="hold">
                                          <p:stCondLst>
                                            <p:cond delay="0"/>
                                          </p:stCondLst>
                                        </p:cTn>
                                        <p:tgtEl>
                                          <p:spTgt spid="14356"/>
                                        </p:tgtEl>
                                        <p:attrNameLst>
                                          <p:attrName>style.visibility</p:attrName>
                                        </p:attrNameLst>
                                      </p:cBhvr>
                                      <p:to>
                                        <p:strVal val="visible"/>
                                      </p:to>
                                    </p:set>
                                    <p:animEffect transition="in" filter="barn(inHorizontal)">
                                      <p:cBhvr>
                                        <p:cTn id="32" dur="300"/>
                                        <p:tgtEl>
                                          <p:spTgt spid="1435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26" fill="hold" grpId="0" nodeType="clickEffect">
                                  <p:stCondLst>
                                    <p:cond delay="0"/>
                                  </p:stCondLst>
                                  <p:iterate type="wd">
                                    <p:tmPct val="100000"/>
                                  </p:iterate>
                                  <p:childTnLst>
                                    <p:set>
                                      <p:cBhvr>
                                        <p:cTn id="36" dur="1" fill="hold">
                                          <p:stCondLst>
                                            <p:cond delay="0"/>
                                          </p:stCondLst>
                                        </p:cTn>
                                        <p:tgtEl>
                                          <p:spTgt spid="14355"/>
                                        </p:tgtEl>
                                        <p:attrNameLst>
                                          <p:attrName>style.visibility</p:attrName>
                                        </p:attrNameLst>
                                      </p:cBhvr>
                                      <p:to>
                                        <p:strVal val="visible"/>
                                      </p:to>
                                    </p:set>
                                    <p:animEffect transition="in" filter="barn(inHorizontal)">
                                      <p:cBhvr>
                                        <p:cTn id="37" dur="300"/>
                                        <p:tgtEl>
                                          <p:spTgt spid="1435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up)">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14341"/>
                                        </p:tgtEl>
                                        <p:attrNameLst>
                                          <p:attrName>style.visibility</p:attrName>
                                        </p:attrNameLst>
                                      </p:cBhvr>
                                      <p:to>
                                        <p:strVal val="visible"/>
                                      </p:to>
                                    </p:set>
                                    <p:animEffect transition="in" filter="wipe(up)">
                                      <p:cBhvr>
                                        <p:cTn id="47" dur="500"/>
                                        <p:tgtEl>
                                          <p:spTgt spid="14341"/>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26" fill="hold" grpId="0" nodeType="clickEffect">
                                  <p:stCondLst>
                                    <p:cond delay="0"/>
                                  </p:stCondLst>
                                  <p:iterate type="wd">
                                    <p:tmPct val="100000"/>
                                  </p:iterate>
                                  <p:childTnLst>
                                    <p:set>
                                      <p:cBhvr>
                                        <p:cTn id="51" dur="1" fill="hold">
                                          <p:stCondLst>
                                            <p:cond delay="0"/>
                                          </p:stCondLst>
                                        </p:cTn>
                                        <p:tgtEl>
                                          <p:spTgt spid="14357"/>
                                        </p:tgtEl>
                                        <p:attrNameLst>
                                          <p:attrName>style.visibility</p:attrName>
                                        </p:attrNameLst>
                                      </p:cBhvr>
                                      <p:to>
                                        <p:strVal val="visible"/>
                                      </p:to>
                                    </p:set>
                                    <p:animEffect transition="in" filter="barn(inHorizontal)">
                                      <p:cBhvr>
                                        <p:cTn id="52" dur="300"/>
                                        <p:tgtEl>
                                          <p:spTgt spid="14357"/>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4"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down)">
                                      <p:cBhvr>
                                        <p:cTn id="57" dur="5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14340"/>
                                        </p:tgtEl>
                                        <p:attrNameLst>
                                          <p:attrName>style.visibility</p:attrName>
                                        </p:attrNameLst>
                                      </p:cBhvr>
                                      <p:to>
                                        <p:strVal val="visible"/>
                                      </p:to>
                                    </p:set>
                                    <p:animEffect transition="in" filter="wipe(left)">
                                      <p:cBhvr>
                                        <p:cTn id="62" dur="500"/>
                                        <p:tgtEl>
                                          <p:spTgt spid="1434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6" presetClass="entr" presetSubtype="26" fill="hold" grpId="0" nodeType="clickEffect">
                                  <p:stCondLst>
                                    <p:cond delay="0"/>
                                  </p:stCondLst>
                                  <p:iterate type="wd">
                                    <p:tmPct val="100000"/>
                                  </p:iterate>
                                  <p:childTnLst>
                                    <p:set>
                                      <p:cBhvr>
                                        <p:cTn id="66" dur="1" fill="hold">
                                          <p:stCondLst>
                                            <p:cond delay="0"/>
                                          </p:stCondLst>
                                        </p:cTn>
                                        <p:tgtEl>
                                          <p:spTgt spid="14362"/>
                                        </p:tgtEl>
                                        <p:attrNameLst>
                                          <p:attrName>style.visibility</p:attrName>
                                        </p:attrNameLst>
                                      </p:cBhvr>
                                      <p:to>
                                        <p:strVal val="visible"/>
                                      </p:to>
                                    </p:set>
                                    <p:animEffect transition="in" filter="barn(inHorizontal)">
                                      <p:cBhvr>
                                        <p:cTn id="67" dur="300"/>
                                        <p:tgtEl>
                                          <p:spTgt spid="14362"/>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1" fill="hold" nodeType="clickEffect">
                                  <p:stCondLst>
                                    <p:cond delay="0"/>
                                  </p:stCondLst>
                                  <p:childTnLst>
                                    <p:set>
                                      <p:cBhvr>
                                        <p:cTn id="71" dur="1" fill="hold">
                                          <p:stCondLst>
                                            <p:cond delay="0"/>
                                          </p:stCondLst>
                                        </p:cTn>
                                        <p:tgtEl>
                                          <p:spTgt spid="5"/>
                                        </p:tgtEl>
                                        <p:attrNameLst>
                                          <p:attrName>style.visibility</p:attrName>
                                        </p:attrNameLst>
                                      </p:cBhvr>
                                      <p:to>
                                        <p:strVal val="visible"/>
                                      </p:to>
                                    </p:set>
                                    <p:animEffect transition="in" filter="wipe(up)">
                                      <p:cBhvr>
                                        <p:cTn id="72" dur="500"/>
                                        <p:tgtEl>
                                          <p:spTgt spid="5"/>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16" presetClass="entr" presetSubtype="26" fill="hold" grpId="0" nodeType="clickEffect">
                                  <p:stCondLst>
                                    <p:cond delay="0"/>
                                  </p:stCondLst>
                                  <p:iterate type="wd">
                                    <p:tmPct val="100000"/>
                                  </p:iterate>
                                  <p:childTnLst>
                                    <p:set>
                                      <p:cBhvr>
                                        <p:cTn id="76" dur="1" fill="hold">
                                          <p:stCondLst>
                                            <p:cond delay="0"/>
                                          </p:stCondLst>
                                        </p:cTn>
                                        <p:tgtEl>
                                          <p:spTgt spid="14363"/>
                                        </p:tgtEl>
                                        <p:attrNameLst>
                                          <p:attrName>style.visibility</p:attrName>
                                        </p:attrNameLst>
                                      </p:cBhvr>
                                      <p:to>
                                        <p:strVal val="visible"/>
                                      </p:to>
                                    </p:set>
                                    <p:animEffect transition="in" filter="barn(inHorizontal)">
                                      <p:cBhvr>
                                        <p:cTn id="77" dur="300"/>
                                        <p:tgtEl>
                                          <p:spTgt spid="143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8" grpId="0" autoUpdateAnimBg="0"/>
      <p:bldP spid="14354" grpId="0" autoUpdateAnimBg="0"/>
      <p:bldP spid="14355" grpId="0" autoUpdateAnimBg="0"/>
      <p:bldP spid="14356" grpId="0" autoUpdateAnimBg="0"/>
      <p:bldP spid="14357" grpId="0" autoUpdateAnimBg="0"/>
      <p:bldP spid="14362" grpId="0" autoUpdateAnimBg="0"/>
      <p:bldP spid="14363"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24CE3-7FD8-9691-CE21-739454B14C12}"/>
            </a:ext>
          </a:extLst>
        </p:cNvPr>
        <p:cNvGrpSpPr/>
        <p:nvPr/>
      </p:nvGrpSpPr>
      <p:grpSpPr>
        <a:xfrm>
          <a:off x="0" y="0"/>
          <a:ext cx="0" cy="0"/>
          <a:chOff x="0" y="0"/>
          <a:chExt cx="0" cy="0"/>
        </a:xfrm>
      </p:grpSpPr>
      <p:sp>
        <p:nvSpPr>
          <p:cNvPr id="96258" name="Rectangle 2">
            <a:extLst>
              <a:ext uri="{FF2B5EF4-FFF2-40B4-BE49-F238E27FC236}">
                <a16:creationId xmlns:a16="http://schemas.microsoft.com/office/drawing/2014/main" id="{9560E7A9-8B6F-8884-404E-789F75FF7D2C}"/>
              </a:ext>
            </a:extLst>
          </p:cNvPr>
          <p:cNvSpPr>
            <a:spLocks noGrp="1" noChangeArrowheads="1"/>
          </p:cNvSpPr>
          <p:nvPr>
            <p:ph type="title"/>
          </p:nvPr>
        </p:nvSpPr>
        <p:spPr>
          <a:xfrm>
            <a:off x="640080" y="325369"/>
            <a:ext cx="4368602" cy="1956841"/>
          </a:xfrm>
        </p:spPr>
        <p:txBody>
          <a:bodyPr anchor="b">
            <a:normAutofit/>
          </a:bodyPr>
          <a:lstStyle/>
          <a:p>
            <a:pPr eaLnBrk="1" hangingPunct="1"/>
            <a:r>
              <a:rPr lang="en-GB" altLang="en-US" sz="5400"/>
              <a:t>TIR –Prism</a:t>
            </a:r>
            <a:r>
              <a:rPr lang="en-IE" altLang="en-US" sz="5400"/>
              <a:t> &amp;</a:t>
            </a:r>
            <a:r>
              <a:rPr lang="en-GB" altLang="en-US" sz="5400"/>
              <a:t> Ruler</a:t>
            </a:r>
          </a:p>
        </p:txBody>
      </p:sp>
      <p:sp>
        <p:nvSpPr>
          <p:cNvPr id="96259" name="Rectangle 3">
            <a:extLst>
              <a:ext uri="{FF2B5EF4-FFF2-40B4-BE49-F238E27FC236}">
                <a16:creationId xmlns:a16="http://schemas.microsoft.com/office/drawing/2014/main" id="{F8308943-FA54-3972-4772-06014989AFFF}"/>
              </a:ext>
            </a:extLst>
          </p:cNvPr>
          <p:cNvSpPr>
            <a:spLocks noGrp="1" noChangeArrowheads="1"/>
          </p:cNvSpPr>
          <p:nvPr>
            <p:ph type="body" idx="1"/>
          </p:nvPr>
        </p:nvSpPr>
        <p:spPr>
          <a:xfrm>
            <a:off x="640080" y="2872899"/>
            <a:ext cx="4243589" cy="3320668"/>
          </a:xfrm>
        </p:spPr>
        <p:txBody>
          <a:bodyPr>
            <a:normAutofit/>
          </a:bodyPr>
          <a:lstStyle/>
          <a:p>
            <a:pPr eaLnBrk="1" hangingPunct="1"/>
            <a:r>
              <a:rPr lang="en-IE" altLang="en-US" sz="2200"/>
              <a:t>When the angle of incidence exceeds the critical angle, light is totally internally reflected.  </a:t>
            </a:r>
          </a:p>
          <a:p>
            <a:pPr eaLnBrk="1" hangingPunct="1"/>
            <a:r>
              <a:rPr lang="en-IE" altLang="en-US" sz="2200"/>
              <a:t>Here we see that the image of a ruler is totally reflected from the back surface of a triangular prism.</a:t>
            </a:r>
            <a:endParaRPr lang="en-GB" altLang="en-US" sz="2200"/>
          </a:p>
        </p:txBody>
      </p:sp>
      <p:pic>
        <p:nvPicPr>
          <p:cNvPr id="96260" name="Picture 4" descr="C:\WINDOWS\Desktop\Physics 1      O'Regan\O'Regan Chapter 04 - Refraction\TIR -Prism1.JPG">
            <a:extLst>
              <a:ext uri="{FF2B5EF4-FFF2-40B4-BE49-F238E27FC236}">
                <a16:creationId xmlns:a16="http://schemas.microsoft.com/office/drawing/2014/main" id="{888BE865-F4CB-57BA-26DD-158E67A37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70" r="25694"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0330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FAAA4C86-278F-4729-95D4-41BAFD749175}"/>
              </a:ext>
            </a:extLst>
          </p:cNvPr>
          <p:cNvSpPr>
            <a:spLocks noGrp="1" noChangeArrowheads="1"/>
          </p:cNvSpPr>
          <p:nvPr>
            <p:ph type="title"/>
          </p:nvPr>
        </p:nvSpPr>
        <p:spPr>
          <a:xfrm>
            <a:off x="1981200" y="228600"/>
            <a:ext cx="8153400" cy="990600"/>
          </a:xfrm>
        </p:spPr>
        <p:txBody>
          <a:bodyPr/>
          <a:lstStyle/>
          <a:p>
            <a:pPr eaLnBrk="1" hangingPunct="1"/>
            <a:r>
              <a:rPr lang="en-GB" altLang="en-US"/>
              <a:t>Applications of T.I.R.</a:t>
            </a:r>
          </a:p>
        </p:txBody>
      </p:sp>
      <p:sp>
        <p:nvSpPr>
          <p:cNvPr id="72708" name="Rectangle 3">
            <a:extLst>
              <a:ext uri="{FF2B5EF4-FFF2-40B4-BE49-F238E27FC236}">
                <a16:creationId xmlns:a16="http://schemas.microsoft.com/office/drawing/2014/main" id="{677079F2-7013-4243-99CA-E76F3D72187E}"/>
              </a:ext>
            </a:extLst>
          </p:cNvPr>
          <p:cNvSpPr>
            <a:spLocks noGrp="1" noChangeArrowheads="1"/>
          </p:cNvSpPr>
          <p:nvPr>
            <p:ph type="body" idx="1"/>
          </p:nvPr>
        </p:nvSpPr>
        <p:spPr>
          <a:xfrm>
            <a:off x="1905000" y="5181600"/>
            <a:ext cx="8305800" cy="1524000"/>
          </a:xfrm>
          <a:solidFill>
            <a:srgbClr val="FFFF00"/>
          </a:solidFill>
        </p:spPr>
        <p:txBody>
          <a:bodyPr/>
          <a:lstStyle/>
          <a:p>
            <a:pPr eaLnBrk="1" hangingPunct="1">
              <a:lnSpc>
                <a:spcPct val="90000"/>
              </a:lnSpc>
            </a:pPr>
            <a:r>
              <a:rPr lang="en-GB" altLang="en-US" b="1">
                <a:solidFill>
                  <a:schemeClr val="tx1"/>
                </a:solidFill>
              </a:rPr>
              <a:t>“Cat’s eyes” on the road are made from tiny prisms that reflect light back to drivers by total internal reflection.</a:t>
            </a:r>
          </a:p>
        </p:txBody>
      </p:sp>
      <p:pic>
        <p:nvPicPr>
          <p:cNvPr id="1026" name="Picture 2" descr="Cat's eye (road) - Wikipedia">
            <a:extLst>
              <a:ext uri="{FF2B5EF4-FFF2-40B4-BE49-F238E27FC236}">
                <a16:creationId xmlns:a16="http://schemas.microsoft.com/office/drawing/2014/main" id="{003B36A3-75F2-0DC5-2BEA-DEB8A391D9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1584" y="1219201"/>
            <a:ext cx="4968552" cy="370312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1,495 Bicycle Reflector Stock Photos, Pictures &amp; Royalty-Free Images -  iStock">
            <a:extLst>
              <a:ext uri="{FF2B5EF4-FFF2-40B4-BE49-F238E27FC236}">
                <a16:creationId xmlns:a16="http://schemas.microsoft.com/office/drawing/2014/main" id="{1A9919E5-D72B-B863-B3E3-0537F069A2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8214" y="1844676"/>
            <a:ext cx="4646613" cy="4449763"/>
          </a:xfrm>
          <a:prstGeom prst="rect">
            <a:avLst/>
          </a:prstGeom>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B2123073-FEEE-7150-FB94-22252158EC02}"/>
              </a:ext>
            </a:extLst>
          </p:cNvPr>
          <p:cNvPicPr>
            <a:picLocks noChangeAspect="1"/>
          </p:cNvPicPr>
          <p:nvPr/>
        </p:nvPicPr>
        <p:blipFill>
          <a:blip r:embed="rId4"/>
          <a:stretch>
            <a:fillRect/>
          </a:stretch>
        </p:blipFill>
        <p:spPr>
          <a:xfrm>
            <a:off x="6926263" y="1844676"/>
            <a:ext cx="3054350" cy="4449763"/>
          </a:xfrm>
          <a:prstGeom prst="rect">
            <a:avLst/>
          </a:prstGeom>
        </p:spPr>
      </p:pic>
      <p:sp>
        <p:nvSpPr>
          <p:cNvPr id="73730" name="Rectangle 2">
            <a:extLst>
              <a:ext uri="{FF2B5EF4-FFF2-40B4-BE49-F238E27FC236}">
                <a16:creationId xmlns:a16="http://schemas.microsoft.com/office/drawing/2014/main" id="{CC23AC6B-5F5D-4235-AF02-E9CFA7BAE45D}"/>
              </a:ext>
            </a:extLst>
          </p:cNvPr>
          <p:cNvSpPr>
            <a:spLocks noGrp="1" noChangeArrowheads="1"/>
          </p:cNvSpPr>
          <p:nvPr>
            <p:ph type="title"/>
          </p:nvPr>
        </p:nvSpPr>
        <p:spPr>
          <a:xfrm>
            <a:off x="2152650" y="184806"/>
            <a:ext cx="7886700" cy="1505883"/>
          </a:xfrm>
        </p:spPr>
        <p:txBody>
          <a:bodyPr vert="horz" lIns="91440" tIns="45720" rIns="91440" bIns="45720" rtlCol="0" anchor="ctr">
            <a:normAutofit/>
          </a:bodyPr>
          <a:lstStyle/>
          <a:p>
            <a:pPr algn="l" eaLnBrk="1" hangingPunct="1">
              <a:lnSpc>
                <a:spcPct val="90000"/>
              </a:lnSpc>
            </a:pPr>
            <a:r>
              <a:rPr lang="en-US" altLang="en-US" sz="4500">
                <a:sym typeface="Symbol" panose="05050102010706020507" pitchFamily="18" charset="2"/>
              </a:rPr>
              <a:t>T.I.R. is Used in </a:t>
            </a:r>
            <a:br>
              <a:rPr lang="en-US" altLang="en-US" sz="4500">
                <a:sym typeface="Symbol" panose="05050102010706020507" pitchFamily="18" charset="2"/>
              </a:rPr>
            </a:br>
            <a:r>
              <a:rPr lang="en-US" altLang="en-US" sz="4500">
                <a:sym typeface="Symbol" panose="05050102010706020507" pitchFamily="18" charset="2"/>
              </a:rPr>
              <a:t>Car/Bicycle Reflectors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F7548026-60CE-AE6E-7098-22A8F059CEC1}"/>
              </a:ext>
            </a:extLst>
          </p:cNvPr>
          <p:cNvSpPr txBox="1"/>
          <p:nvPr/>
        </p:nvSpPr>
        <p:spPr>
          <a:xfrm>
            <a:off x="1919536" y="3792832"/>
            <a:ext cx="2448272" cy="954107"/>
          </a:xfrm>
          <a:prstGeom prst="rect">
            <a:avLst/>
          </a:prstGeom>
          <a:noFill/>
        </p:spPr>
        <p:txBody>
          <a:bodyPr wrap="square">
            <a:spAutoFit/>
          </a:bodyPr>
          <a:lstStyle/>
          <a:p>
            <a:r>
              <a:rPr lang="en-IE" sz="2800" dirty="0"/>
              <a:t>Prism based</a:t>
            </a:r>
          </a:p>
          <a:p>
            <a:r>
              <a:rPr lang="en-IE" sz="2800" dirty="0"/>
              <a:t>retroreflectors</a:t>
            </a:r>
          </a:p>
        </p:txBody>
      </p:sp>
      <p:sp>
        <p:nvSpPr>
          <p:cNvPr id="7" name="Isosceles Triangle 6">
            <a:extLst>
              <a:ext uri="{FF2B5EF4-FFF2-40B4-BE49-F238E27FC236}">
                <a16:creationId xmlns:a16="http://schemas.microsoft.com/office/drawing/2014/main" id="{CC0EE059-DBF2-C45E-0858-EB98FF55966F}"/>
              </a:ext>
            </a:extLst>
          </p:cNvPr>
          <p:cNvSpPr/>
          <p:nvPr/>
        </p:nvSpPr>
        <p:spPr>
          <a:xfrm>
            <a:off x="2279576" y="1256273"/>
            <a:ext cx="2664296" cy="1200329"/>
          </a:xfrm>
          <a:prstGeom prst="triangle">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8" name="Freeform: Shape 7">
            <a:extLst>
              <a:ext uri="{FF2B5EF4-FFF2-40B4-BE49-F238E27FC236}">
                <a16:creationId xmlns:a16="http://schemas.microsoft.com/office/drawing/2014/main" id="{4C13134D-517B-8556-FA9F-CD3A0B87B7B5}"/>
              </a:ext>
            </a:extLst>
          </p:cNvPr>
          <p:cNvSpPr/>
          <p:nvPr/>
        </p:nvSpPr>
        <p:spPr>
          <a:xfrm>
            <a:off x="2540400" y="1620295"/>
            <a:ext cx="1809345" cy="2062263"/>
          </a:xfrm>
          <a:custGeom>
            <a:avLst/>
            <a:gdLst>
              <a:gd name="connsiteX0" fmla="*/ 0 w 1809345"/>
              <a:gd name="connsiteY0" fmla="*/ 1712068 h 2062263"/>
              <a:gd name="connsiteX1" fmla="*/ 700392 w 1809345"/>
              <a:gd name="connsiteY1" fmla="*/ 0 h 2062263"/>
              <a:gd name="connsiteX2" fmla="*/ 1809345 w 1809345"/>
              <a:gd name="connsiteY2" fmla="*/ 311285 h 2062263"/>
              <a:gd name="connsiteX3" fmla="*/ 1070043 w 1809345"/>
              <a:gd name="connsiteY3" fmla="*/ 2062263 h 2062263"/>
              <a:gd name="connsiteX0" fmla="*/ 0 w 1809345"/>
              <a:gd name="connsiteY0" fmla="*/ 1712068 h 2062263"/>
              <a:gd name="connsiteX1" fmla="*/ 423295 w 1809345"/>
              <a:gd name="connsiteY1" fmla="*/ 811621 h 2062263"/>
              <a:gd name="connsiteX2" fmla="*/ 700392 w 1809345"/>
              <a:gd name="connsiteY2" fmla="*/ 0 h 2062263"/>
              <a:gd name="connsiteX3" fmla="*/ 1809345 w 1809345"/>
              <a:gd name="connsiteY3" fmla="*/ 311285 h 2062263"/>
              <a:gd name="connsiteX4" fmla="*/ 1070043 w 1809345"/>
              <a:gd name="connsiteY4" fmla="*/ 2062263 h 2062263"/>
              <a:gd name="connsiteX0" fmla="*/ 0 w 1809345"/>
              <a:gd name="connsiteY0" fmla="*/ 1712068 h 2062263"/>
              <a:gd name="connsiteX1" fmla="*/ 423295 w 1809345"/>
              <a:gd name="connsiteY1" fmla="*/ 811621 h 2062263"/>
              <a:gd name="connsiteX2" fmla="*/ 700392 w 1809345"/>
              <a:gd name="connsiteY2" fmla="*/ 0 h 2062263"/>
              <a:gd name="connsiteX3" fmla="*/ 1809345 w 1809345"/>
              <a:gd name="connsiteY3" fmla="*/ 311285 h 2062263"/>
              <a:gd name="connsiteX4" fmla="*/ 1629524 w 1809345"/>
              <a:gd name="connsiteY4" fmla="*/ 831076 h 2062263"/>
              <a:gd name="connsiteX5" fmla="*/ 1070043 w 1809345"/>
              <a:gd name="connsiteY5" fmla="*/ 2062263 h 2062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09345" h="2062263">
                <a:moveTo>
                  <a:pt x="0" y="1712068"/>
                </a:moveTo>
                <a:cubicBezTo>
                  <a:pt x="121643" y="1431374"/>
                  <a:pt x="301652" y="1092315"/>
                  <a:pt x="423295" y="811621"/>
                </a:cubicBezTo>
                <a:lnTo>
                  <a:pt x="700392" y="0"/>
                </a:lnTo>
                <a:lnTo>
                  <a:pt x="1809345" y="311285"/>
                </a:lnTo>
                <a:cubicBezTo>
                  <a:pt x="1729949" y="484549"/>
                  <a:pt x="1708920" y="657812"/>
                  <a:pt x="1629524" y="831076"/>
                </a:cubicBezTo>
                <a:lnTo>
                  <a:pt x="1070043" y="2062263"/>
                </a:lnTo>
              </a:path>
            </a:pathLst>
          </a:custGeom>
          <a:noFill/>
          <a:ln w="38100">
            <a:solidFill>
              <a:schemeClr val="tx1"/>
            </a:solidFill>
            <a:tailEnd type="arrow" w="med"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9" name="TextBox 8">
            <a:extLst>
              <a:ext uri="{FF2B5EF4-FFF2-40B4-BE49-F238E27FC236}">
                <a16:creationId xmlns:a16="http://schemas.microsoft.com/office/drawing/2014/main" id="{2305905D-F6FA-ED1C-B900-DC2B0FBD2D2D}"/>
              </a:ext>
            </a:extLst>
          </p:cNvPr>
          <p:cNvSpPr txBox="1"/>
          <p:nvPr/>
        </p:nvSpPr>
        <p:spPr>
          <a:xfrm>
            <a:off x="5159898" y="945898"/>
            <a:ext cx="5328592" cy="5693866"/>
          </a:xfrm>
          <a:prstGeom prst="rect">
            <a:avLst/>
          </a:prstGeom>
          <a:noFill/>
        </p:spPr>
        <p:txBody>
          <a:bodyPr wrap="square" rtlCol="0">
            <a:spAutoFit/>
          </a:bodyPr>
          <a:lstStyle/>
          <a:p>
            <a:pPr algn="l"/>
            <a:r>
              <a:rPr lang="en-IE" sz="2800" dirty="0"/>
              <a:t>Light that is internally reflected in a 90⁰ prism will always reflect back to where it came from.</a:t>
            </a:r>
          </a:p>
          <a:p>
            <a:pPr algn="l"/>
            <a:endParaRPr lang="en-IE" sz="2800" dirty="0"/>
          </a:p>
          <a:p>
            <a:pPr algn="l"/>
            <a:r>
              <a:rPr lang="en-IE" sz="2800" dirty="0"/>
              <a:t>This principle is used in bicycle reflectors, in road signs and in reflective strips on clothing.</a:t>
            </a:r>
          </a:p>
          <a:p>
            <a:pPr algn="l"/>
            <a:endParaRPr lang="en-IE" sz="2800" dirty="0"/>
          </a:p>
          <a:p>
            <a:r>
              <a:rPr lang="en-IE" sz="2800" dirty="0"/>
              <a:t>These prisms use a corner reflector arrangement so as to work in 3 dimensions. Hundreds or thousands of tiny prisms are used in road signs.</a:t>
            </a:r>
          </a:p>
        </p:txBody>
      </p:sp>
      <p:grpSp>
        <p:nvGrpSpPr>
          <p:cNvPr id="20" name="Group 19">
            <a:extLst>
              <a:ext uri="{FF2B5EF4-FFF2-40B4-BE49-F238E27FC236}">
                <a16:creationId xmlns:a16="http://schemas.microsoft.com/office/drawing/2014/main" id="{0D8F9507-1B0C-FEB2-EFD6-E5A59A029C37}"/>
              </a:ext>
            </a:extLst>
          </p:cNvPr>
          <p:cNvGrpSpPr/>
          <p:nvPr/>
        </p:nvGrpSpPr>
        <p:grpSpPr>
          <a:xfrm>
            <a:off x="2256757" y="4848648"/>
            <a:ext cx="2193115" cy="1839449"/>
            <a:chOff x="685962" y="4810097"/>
            <a:chExt cx="2193115" cy="1839449"/>
          </a:xfrm>
          <a:solidFill>
            <a:schemeClr val="bg1">
              <a:lumMod val="85000"/>
            </a:schemeClr>
          </a:solidFill>
        </p:grpSpPr>
        <p:sp>
          <p:nvSpPr>
            <p:cNvPr id="17" name="Isosceles Triangle 16">
              <a:extLst>
                <a:ext uri="{FF2B5EF4-FFF2-40B4-BE49-F238E27FC236}">
                  <a16:creationId xmlns:a16="http://schemas.microsoft.com/office/drawing/2014/main" id="{D3603C86-81C9-FADD-E960-B23B0F448F07}"/>
                </a:ext>
              </a:extLst>
            </p:cNvPr>
            <p:cNvSpPr/>
            <p:nvPr/>
          </p:nvSpPr>
          <p:spPr>
            <a:xfrm>
              <a:off x="836052" y="5429008"/>
              <a:ext cx="2043025" cy="1067244"/>
            </a:xfrm>
            <a:custGeom>
              <a:avLst/>
              <a:gdLst>
                <a:gd name="connsiteX0" fmla="*/ 0 w 1809345"/>
                <a:gd name="connsiteY0" fmla="*/ 488124 h 488124"/>
                <a:gd name="connsiteX1" fmla="*/ 904673 w 1809345"/>
                <a:gd name="connsiteY1" fmla="*/ 0 h 488124"/>
                <a:gd name="connsiteX2" fmla="*/ 1809345 w 1809345"/>
                <a:gd name="connsiteY2" fmla="*/ 488124 h 488124"/>
                <a:gd name="connsiteX3" fmla="*/ 0 w 1809345"/>
                <a:gd name="connsiteY3" fmla="*/ 488124 h 488124"/>
                <a:gd name="connsiteX0" fmla="*/ 0 w 1809345"/>
                <a:gd name="connsiteY0" fmla="*/ 660844 h 660844"/>
                <a:gd name="connsiteX1" fmla="*/ 1067233 w 1809345"/>
                <a:gd name="connsiteY1" fmla="*/ 0 h 660844"/>
                <a:gd name="connsiteX2" fmla="*/ 1809345 w 1809345"/>
                <a:gd name="connsiteY2" fmla="*/ 660844 h 660844"/>
                <a:gd name="connsiteX3" fmla="*/ 0 w 1809345"/>
                <a:gd name="connsiteY3" fmla="*/ 660844 h 660844"/>
                <a:gd name="connsiteX0" fmla="*/ 0 w 2043025"/>
                <a:gd name="connsiteY0" fmla="*/ 660844 h 1067244"/>
                <a:gd name="connsiteX1" fmla="*/ 1067233 w 2043025"/>
                <a:gd name="connsiteY1" fmla="*/ 0 h 1067244"/>
                <a:gd name="connsiteX2" fmla="*/ 2043025 w 2043025"/>
                <a:gd name="connsiteY2" fmla="*/ 1067244 h 1067244"/>
                <a:gd name="connsiteX3" fmla="*/ 0 w 2043025"/>
                <a:gd name="connsiteY3" fmla="*/ 660844 h 1067244"/>
              </a:gdLst>
              <a:ahLst/>
              <a:cxnLst>
                <a:cxn ang="0">
                  <a:pos x="connsiteX0" y="connsiteY0"/>
                </a:cxn>
                <a:cxn ang="0">
                  <a:pos x="connsiteX1" y="connsiteY1"/>
                </a:cxn>
                <a:cxn ang="0">
                  <a:pos x="connsiteX2" y="connsiteY2"/>
                </a:cxn>
                <a:cxn ang="0">
                  <a:pos x="connsiteX3" y="connsiteY3"/>
                </a:cxn>
              </a:cxnLst>
              <a:rect l="l" t="t" r="r" b="b"/>
              <a:pathLst>
                <a:path w="2043025" h="1067244">
                  <a:moveTo>
                    <a:pt x="0" y="660844"/>
                  </a:moveTo>
                  <a:lnTo>
                    <a:pt x="1067233" y="0"/>
                  </a:lnTo>
                  <a:lnTo>
                    <a:pt x="2043025" y="1067244"/>
                  </a:lnTo>
                  <a:lnTo>
                    <a:pt x="0" y="660844"/>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8" name="Isosceles Triangle 17">
              <a:extLst>
                <a:ext uri="{FF2B5EF4-FFF2-40B4-BE49-F238E27FC236}">
                  <a16:creationId xmlns:a16="http://schemas.microsoft.com/office/drawing/2014/main" id="{3DA49A8C-BAD7-DF58-1A19-3C3785365123}"/>
                </a:ext>
              </a:extLst>
            </p:cNvPr>
            <p:cNvSpPr/>
            <p:nvPr/>
          </p:nvSpPr>
          <p:spPr>
            <a:xfrm rot="8131505">
              <a:off x="685962" y="5391251"/>
              <a:ext cx="1859960" cy="257398"/>
            </a:xfrm>
            <a:custGeom>
              <a:avLst/>
              <a:gdLst>
                <a:gd name="connsiteX0" fmla="*/ 0 w 1838408"/>
                <a:gd name="connsiteY0" fmla="*/ 352235 h 352235"/>
                <a:gd name="connsiteX1" fmla="*/ 837652 w 1838408"/>
                <a:gd name="connsiteY1" fmla="*/ 0 h 352235"/>
                <a:gd name="connsiteX2" fmla="*/ 1838408 w 1838408"/>
                <a:gd name="connsiteY2" fmla="*/ 352235 h 352235"/>
                <a:gd name="connsiteX3" fmla="*/ 0 w 1838408"/>
                <a:gd name="connsiteY3" fmla="*/ 352235 h 352235"/>
                <a:gd name="connsiteX0" fmla="*/ 0 w 1838408"/>
                <a:gd name="connsiteY0" fmla="*/ 267679 h 267679"/>
                <a:gd name="connsiteX1" fmla="*/ 618306 w 1838408"/>
                <a:gd name="connsiteY1" fmla="*/ 0 h 267679"/>
                <a:gd name="connsiteX2" fmla="*/ 1838408 w 1838408"/>
                <a:gd name="connsiteY2" fmla="*/ 267679 h 267679"/>
                <a:gd name="connsiteX3" fmla="*/ 0 w 1838408"/>
                <a:gd name="connsiteY3" fmla="*/ 267679 h 267679"/>
                <a:gd name="connsiteX0" fmla="*/ 0 w 1859960"/>
                <a:gd name="connsiteY0" fmla="*/ 267877 h 267877"/>
                <a:gd name="connsiteX1" fmla="*/ 639858 w 1859960"/>
                <a:gd name="connsiteY1" fmla="*/ 0 h 267877"/>
                <a:gd name="connsiteX2" fmla="*/ 1859960 w 1859960"/>
                <a:gd name="connsiteY2" fmla="*/ 267679 h 267877"/>
                <a:gd name="connsiteX3" fmla="*/ 0 w 1859960"/>
                <a:gd name="connsiteY3" fmla="*/ 267877 h 267877"/>
                <a:gd name="connsiteX0" fmla="*/ 0 w 1859960"/>
                <a:gd name="connsiteY0" fmla="*/ 257398 h 257398"/>
                <a:gd name="connsiteX1" fmla="*/ 672284 w 1859960"/>
                <a:gd name="connsiteY1" fmla="*/ 0 h 257398"/>
                <a:gd name="connsiteX2" fmla="*/ 1859960 w 1859960"/>
                <a:gd name="connsiteY2" fmla="*/ 257200 h 257398"/>
                <a:gd name="connsiteX3" fmla="*/ 0 w 1859960"/>
                <a:gd name="connsiteY3" fmla="*/ 257398 h 257398"/>
              </a:gdLst>
              <a:ahLst/>
              <a:cxnLst>
                <a:cxn ang="0">
                  <a:pos x="connsiteX0" y="connsiteY0"/>
                </a:cxn>
                <a:cxn ang="0">
                  <a:pos x="connsiteX1" y="connsiteY1"/>
                </a:cxn>
                <a:cxn ang="0">
                  <a:pos x="connsiteX2" y="connsiteY2"/>
                </a:cxn>
                <a:cxn ang="0">
                  <a:pos x="connsiteX3" y="connsiteY3"/>
                </a:cxn>
              </a:cxnLst>
              <a:rect l="l" t="t" r="r" b="b"/>
              <a:pathLst>
                <a:path w="1859960" h="257398">
                  <a:moveTo>
                    <a:pt x="0" y="257398"/>
                  </a:moveTo>
                  <a:lnTo>
                    <a:pt x="672284" y="0"/>
                  </a:lnTo>
                  <a:lnTo>
                    <a:pt x="1859960" y="257200"/>
                  </a:lnTo>
                  <a:lnTo>
                    <a:pt x="0" y="257398"/>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sp>
          <p:nvSpPr>
            <p:cNvPr id="19" name="Isosceles Triangle 18">
              <a:extLst>
                <a:ext uri="{FF2B5EF4-FFF2-40B4-BE49-F238E27FC236}">
                  <a16:creationId xmlns:a16="http://schemas.microsoft.com/office/drawing/2014/main" id="{A9E34756-3104-FE12-D424-A8726B858A88}"/>
                </a:ext>
              </a:extLst>
            </p:cNvPr>
            <p:cNvSpPr/>
            <p:nvPr/>
          </p:nvSpPr>
          <p:spPr>
            <a:xfrm rot="14849861">
              <a:off x="1381288" y="5472652"/>
              <a:ext cx="1839449" cy="514339"/>
            </a:xfrm>
            <a:custGeom>
              <a:avLst/>
              <a:gdLst>
                <a:gd name="connsiteX0" fmla="*/ 0 w 1809345"/>
                <a:gd name="connsiteY0" fmla="*/ 488124 h 488124"/>
                <a:gd name="connsiteX1" fmla="*/ 1285449 w 1809345"/>
                <a:gd name="connsiteY1" fmla="*/ 0 h 488124"/>
                <a:gd name="connsiteX2" fmla="*/ 1809345 w 1809345"/>
                <a:gd name="connsiteY2" fmla="*/ 488124 h 488124"/>
                <a:gd name="connsiteX3" fmla="*/ 0 w 1809345"/>
                <a:gd name="connsiteY3" fmla="*/ 488124 h 488124"/>
                <a:gd name="connsiteX0" fmla="*/ 0 w 1809345"/>
                <a:gd name="connsiteY0" fmla="*/ 507367 h 507367"/>
                <a:gd name="connsiteX1" fmla="*/ 1331911 w 1809345"/>
                <a:gd name="connsiteY1" fmla="*/ 0 h 507367"/>
                <a:gd name="connsiteX2" fmla="*/ 1809345 w 1809345"/>
                <a:gd name="connsiteY2" fmla="*/ 507367 h 507367"/>
                <a:gd name="connsiteX3" fmla="*/ 0 w 1809345"/>
                <a:gd name="connsiteY3" fmla="*/ 507367 h 507367"/>
                <a:gd name="connsiteX0" fmla="*/ 0 w 1858221"/>
                <a:gd name="connsiteY0" fmla="*/ 507367 h 522116"/>
                <a:gd name="connsiteX1" fmla="*/ 1331911 w 1858221"/>
                <a:gd name="connsiteY1" fmla="*/ 0 h 522116"/>
                <a:gd name="connsiteX2" fmla="*/ 1858221 w 1858221"/>
                <a:gd name="connsiteY2" fmla="*/ 522116 h 522116"/>
                <a:gd name="connsiteX3" fmla="*/ 0 w 1858221"/>
                <a:gd name="connsiteY3" fmla="*/ 507367 h 522116"/>
                <a:gd name="connsiteX0" fmla="*/ 0 w 1835895"/>
                <a:gd name="connsiteY0" fmla="*/ 507367 h 507367"/>
                <a:gd name="connsiteX1" fmla="*/ 1331911 w 1835895"/>
                <a:gd name="connsiteY1" fmla="*/ 0 h 507367"/>
                <a:gd name="connsiteX2" fmla="*/ 1835895 w 1835895"/>
                <a:gd name="connsiteY2" fmla="*/ 496371 h 507367"/>
                <a:gd name="connsiteX3" fmla="*/ 0 w 1835895"/>
                <a:gd name="connsiteY3" fmla="*/ 507367 h 507367"/>
                <a:gd name="connsiteX0" fmla="*/ 0 w 1839449"/>
                <a:gd name="connsiteY0" fmla="*/ 507367 h 514339"/>
                <a:gd name="connsiteX1" fmla="*/ 1331911 w 1839449"/>
                <a:gd name="connsiteY1" fmla="*/ 0 h 514339"/>
                <a:gd name="connsiteX2" fmla="*/ 1839449 w 1839449"/>
                <a:gd name="connsiteY2" fmla="*/ 514339 h 514339"/>
                <a:gd name="connsiteX3" fmla="*/ 0 w 1839449"/>
                <a:gd name="connsiteY3" fmla="*/ 507367 h 514339"/>
              </a:gdLst>
              <a:ahLst/>
              <a:cxnLst>
                <a:cxn ang="0">
                  <a:pos x="connsiteX0" y="connsiteY0"/>
                </a:cxn>
                <a:cxn ang="0">
                  <a:pos x="connsiteX1" y="connsiteY1"/>
                </a:cxn>
                <a:cxn ang="0">
                  <a:pos x="connsiteX2" y="connsiteY2"/>
                </a:cxn>
                <a:cxn ang="0">
                  <a:pos x="connsiteX3" y="connsiteY3"/>
                </a:cxn>
              </a:cxnLst>
              <a:rect l="l" t="t" r="r" b="b"/>
              <a:pathLst>
                <a:path w="1839449" h="514339">
                  <a:moveTo>
                    <a:pt x="0" y="507367"/>
                  </a:moveTo>
                  <a:lnTo>
                    <a:pt x="1331911" y="0"/>
                  </a:lnTo>
                  <a:lnTo>
                    <a:pt x="1839449" y="514339"/>
                  </a:lnTo>
                  <a:lnTo>
                    <a:pt x="0" y="507367"/>
                  </a:lnTo>
                  <a:close/>
                </a:path>
              </a:pathLst>
            </a:cu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a:p>
          </p:txBody>
        </p:sp>
      </p:grpSp>
      <p:sp>
        <p:nvSpPr>
          <p:cNvPr id="2" name="Title 1">
            <a:extLst>
              <a:ext uri="{FF2B5EF4-FFF2-40B4-BE49-F238E27FC236}">
                <a16:creationId xmlns:a16="http://schemas.microsoft.com/office/drawing/2014/main" id="{F90F08B0-72E7-6CA3-82CF-5FAE4A11484F}"/>
              </a:ext>
            </a:extLst>
          </p:cNvPr>
          <p:cNvSpPr>
            <a:spLocks noGrp="1"/>
          </p:cNvSpPr>
          <p:nvPr>
            <p:ph type="title"/>
          </p:nvPr>
        </p:nvSpPr>
        <p:spPr>
          <a:xfrm>
            <a:off x="1765300" y="155247"/>
            <a:ext cx="8724900" cy="590931"/>
          </a:xfrm>
        </p:spPr>
        <p:txBody>
          <a:bodyPr>
            <a:normAutofit fontScale="90000"/>
          </a:bodyPr>
          <a:lstStyle/>
          <a:p>
            <a:r>
              <a:rPr lang="en-IE" dirty="0"/>
              <a:t>Example: Prism reflectors</a:t>
            </a:r>
            <a:endParaRPr lang="en-GB" dirty="0"/>
          </a:p>
        </p:txBody>
      </p:sp>
    </p:spTree>
    <p:extLst>
      <p:ext uri="{BB962C8B-B14F-4D97-AF65-F5344CB8AC3E}">
        <p14:creationId xmlns:p14="http://schemas.microsoft.com/office/powerpoint/2010/main" val="27584305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47D359-FDFD-77D9-B1B3-311C77CC574B}"/>
              </a:ext>
            </a:extLst>
          </p:cNvPr>
          <p:cNvSpPr txBox="1"/>
          <p:nvPr/>
        </p:nvSpPr>
        <p:spPr>
          <a:xfrm>
            <a:off x="6240016" y="1228397"/>
            <a:ext cx="4104456" cy="4832092"/>
          </a:xfrm>
          <a:prstGeom prst="rect">
            <a:avLst/>
          </a:prstGeom>
          <a:noFill/>
        </p:spPr>
        <p:txBody>
          <a:bodyPr wrap="square" rtlCol="0">
            <a:spAutoFit/>
          </a:bodyPr>
          <a:lstStyle/>
          <a:p>
            <a:pPr algn="l"/>
            <a:r>
              <a:rPr lang="en-IE" sz="2800" dirty="0"/>
              <a:t>There are 7 retro-reflectors on the moon.</a:t>
            </a:r>
          </a:p>
          <a:p>
            <a:pPr algn="l"/>
            <a:endParaRPr lang="en-IE" sz="2800" dirty="0"/>
          </a:p>
          <a:p>
            <a:pPr algn="l"/>
            <a:r>
              <a:rPr lang="en-IE" sz="2800" dirty="0"/>
              <a:t>5 were placed there on the Apollo missions and have a prism design.</a:t>
            </a:r>
          </a:p>
          <a:p>
            <a:pPr algn="l"/>
            <a:endParaRPr lang="en-IE" sz="2800" dirty="0"/>
          </a:p>
          <a:p>
            <a:pPr algn="l"/>
            <a:r>
              <a:rPr lang="en-IE" sz="2800" dirty="0"/>
              <a:t>They allow very precise measurements to be made of the moon’s position relative to earth.</a:t>
            </a:r>
          </a:p>
        </p:txBody>
      </p:sp>
      <p:grpSp>
        <p:nvGrpSpPr>
          <p:cNvPr id="5" name="Group 4">
            <a:extLst>
              <a:ext uri="{FF2B5EF4-FFF2-40B4-BE49-F238E27FC236}">
                <a16:creationId xmlns:a16="http://schemas.microsoft.com/office/drawing/2014/main" id="{3A337001-D0C9-7BB1-64E0-8FE2029A3913}"/>
              </a:ext>
            </a:extLst>
          </p:cNvPr>
          <p:cNvGrpSpPr/>
          <p:nvPr/>
        </p:nvGrpSpPr>
        <p:grpSpPr>
          <a:xfrm>
            <a:off x="1775520" y="1340768"/>
            <a:ext cx="4104456" cy="4104456"/>
            <a:chOff x="251520" y="1340768"/>
            <a:chExt cx="3384376" cy="3384376"/>
          </a:xfrm>
        </p:grpSpPr>
        <p:pic>
          <p:nvPicPr>
            <p:cNvPr id="1026" name="Picture 2">
              <a:extLst>
                <a:ext uri="{FF2B5EF4-FFF2-40B4-BE49-F238E27FC236}">
                  <a16:creationId xmlns:a16="http://schemas.microsoft.com/office/drawing/2014/main" id="{56470D71-0630-24A3-200D-49CBF4AF6C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340768"/>
              <a:ext cx="3384376" cy="338437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hlinkClick r:id="rId3"/>
              <a:extLst>
                <a:ext uri="{FF2B5EF4-FFF2-40B4-BE49-F238E27FC236}">
                  <a16:creationId xmlns:a16="http://schemas.microsoft.com/office/drawing/2014/main" id="{FA9466EB-1C2A-D21D-E809-C512C201AA9D}"/>
                </a:ext>
              </a:extLst>
            </p:cNvPr>
            <p:cNvSpPr txBox="1"/>
            <p:nvPr/>
          </p:nvSpPr>
          <p:spPr>
            <a:xfrm>
              <a:off x="2986807" y="4435479"/>
              <a:ext cx="437032" cy="253781"/>
            </a:xfrm>
            <a:prstGeom prst="rect">
              <a:avLst/>
            </a:prstGeom>
            <a:noFill/>
          </p:spPr>
          <p:txBody>
            <a:bodyPr wrap="none" rtlCol="0">
              <a:spAutoFit/>
            </a:bodyPr>
            <a:lstStyle/>
            <a:p>
              <a:pPr algn="l"/>
              <a:r>
                <a:rPr lang="en-GB" sz="1400" dirty="0">
                  <a:solidFill>
                    <a:schemeClr val="bg1">
                      <a:lumMod val="65000"/>
                    </a:schemeClr>
                  </a:solidFill>
                </a:rPr>
                <a:t>CC0</a:t>
              </a:r>
            </a:p>
          </p:txBody>
        </p:sp>
      </p:grpSp>
      <p:sp>
        <p:nvSpPr>
          <p:cNvPr id="6" name="Title 5">
            <a:extLst>
              <a:ext uri="{FF2B5EF4-FFF2-40B4-BE49-F238E27FC236}">
                <a16:creationId xmlns:a16="http://schemas.microsoft.com/office/drawing/2014/main" id="{885375DF-D9D3-8BD6-59C6-58D9BEB8AC27}"/>
              </a:ext>
            </a:extLst>
          </p:cNvPr>
          <p:cNvSpPr>
            <a:spLocks noGrp="1"/>
          </p:cNvSpPr>
          <p:nvPr>
            <p:ph type="title"/>
          </p:nvPr>
        </p:nvSpPr>
        <p:spPr>
          <a:xfrm>
            <a:off x="1765300" y="155247"/>
            <a:ext cx="8724900" cy="1089529"/>
          </a:xfrm>
        </p:spPr>
        <p:txBody>
          <a:bodyPr>
            <a:normAutofit fontScale="90000"/>
          </a:bodyPr>
          <a:lstStyle/>
          <a:p>
            <a:r>
              <a:rPr lang="en-IE" dirty="0"/>
              <a:t>Retro reflectors on the moon</a:t>
            </a:r>
            <a:br>
              <a:rPr lang="en-IE" dirty="0"/>
            </a:br>
            <a:endParaRPr lang="en-GB" dirty="0"/>
          </a:p>
        </p:txBody>
      </p:sp>
    </p:spTree>
    <p:extLst>
      <p:ext uri="{BB962C8B-B14F-4D97-AF65-F5344CB8AC3E}">
        <p14:creationId xmlns:p14="http://schemas.microsoft.com/office/powerpoint/2010/main" val="4258748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descr="C:\WINDOWS\Desktop\Physics      O'Regan\O'Regan Chapter 04 - Refraction\TIR - Prism Binoculars1.JPG">
            <a:extLst>
              <a:ext uri="{FF2B5EF4-FFF2-40B4-BE49-F238E27FC236}">
                <a16:creationId xmlns:a16="http://schemas.microsoft.com/office/drawing/2014/main" id="{A72CD82A-90B5-4CD5-AF9F-2253C3BE92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4126" y="1589088"/>
            <a:ext cx="6848475" cy="344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755" name="Picture 3" descr="C:\WINDOWS\Desktop\Physics      O'Regan\O'Regan Chapter 04 - Refraction\TIR - Prism Binoculars1.JPG">
            <a:extLst>
              <a:ext uri="{FF2B5EF4-FFF2-40B4-BE49-F238E27FC236}">
                <a16:creationId xmlns:a16="http://schemas.microsoft.com/office/drawing/2014/main" id="{9317F7F4-6B6C-4360-A4F0-43C94BF0B9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4600" y="4978400"/>
            <a:ext cx="68580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6" name="Rectangle 4">
            <a:extLst>
              <a:ext uri="{FF2B5EF4-FFF2-40B4-BE49-F238E27FC236}">
                <a16:creationId xmlns:a16="http://schemas.microsoft.com/office/drawing/2014/main" id="{262CE112-C96A-446C-9D67-A34664DCC0DE}"/>
              </a:ext>
            </a:extLst>
          </p:cNvPr>
          <p:cNvSpPr>
            <a:spLocks noGrp="1" noChangeArrowheads="1"/>
          </p:cNvSpPr>
          <p:nvPr>
            <p:ph type="title"/>
          </p:nvPr>
        </p:nvSpPr>
        <p:spPr>
          <a:xfrm>
            <a:off x="2209800" y="304800"/>
            <a:ext cx="7772400" cy="1143000"/>
          </a:xfrm>
        </p:spPr>
        <p:txBody>
          <a:bodyPr/>
          <a:lstStyle/>
          <a:p>
            <a:pPr eaLnBrk="1" hangingPunct="1"/>
            <a:r>
              <a:rPr lang="en-GB" altLang="en-US"/>
              <a:t>T.I.R. is used in  prism binoculars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1D58-3D39-F7FD-4348-FDC3F3A8B298}"/>
            </a:ext>
          </a:extLst>
        </p:cNvPr>
        <p:cNvGrpSpPr/>
        <p:nvPr/>
      </p:nvGrpSpPr>
      <p:grpSpPr>
        <a:xfrm>
          <a:off x="0" y="0"/>
          <a:ext cx="0" cy="0"/>
          <a:chOff x="0" y="0"/>
          <a:chExt cx="0" cy="0"/>
        </a:xfrm>
      </p:grpSpPr>
      <p:sp>
        <p:nvSpPr>
          <p:cNvPr id="109570" name="Rectangle 2">
            <a:extLst>
              <a:ext uri="{FF2B5EF4-FFF2-40B4-BE49-F238E27FC236}">
                <a16:creationId xmlns:a16="http://schemas.microsoft.com/office/drawing/2014/main" id="{D673FB8D-54FD-F7A0-ED62-6D1B3FD19E06}"/>
              </a:ext>
            </a:extLst>
          </p:cNvPr>
          <p:cNvSpPr>
            <a:spLocks noGrp="1" noChangeArrowheads="1"/>
          </p:cNvSpPr>
          <p:nvPr>
            <p:ph type="title"/>
          </p:nvPr>
        </p:nvSpPr>
        <p:spPr>
          <a:xfrm>
            <a:off x="1981200" y="-228600"/>
            <a:ext cx="8229600" cy="1143000"/>
          </a:xfrm>
        </p:spPr>
        <p:txBody>
          <a:bodyPr/>
          <a:lstStyle/>
          <a:p>
            <a:r>
              <a:rPr lang="en-IE" altLang="en-US">
                <a:solidFill>
                  <a:srgbClr val="FF6600"/>
                </a:solidFill>
              </a:rPr>
              <a:t>Uses of prisms</a:t>
            </a:r>
            <a:endParaRPr lang="en-GB" altLang="en-US">
              <a:solidFill>
                <a:srgbClr val="FF6600"/>
              </a:solidFill>
            </a:endParaRPr>
          </a:p>
        </p:txBody>
      </p:sp>
      <p:pic>
        <p:nvPicPr>
          <p:cNvPr id="109571" name="Picture 5" descr="galilean.jpg (26290 bytes)">
            <a:extLst>
              <a:ext uri="{FF2B5EF4-FFF2-40B4-BE49-F238E27FC236}">
                <a16:creationId xmlns:a16="http://schemas.microsoft.com/office/drawing/2014/main" id="{B5CB1A2A-A50D-A7DF-609C-FFC706470DE8}"/>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1847850" y="2133600"/>
            <a:ext cx="3816350" cy="3036888"/>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632" name="Picture 8" descr="binocular.jpg (31467 bytes)">
            <a:extLst>
              <a:ext uri="{FF2B5EF4-FFF2-40B4-BE49-F238E27FC236}">
                <a16:creationId xmlns:a16="http://schemas.microsoft.com/office/drawing/2014/main" id="{E73B3CCC-06E4-8DA6-C912-8054B82C22D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808663" y="2133600"/>
            <a:ext cx="4608512" cy="30607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5062959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5" presetClass="entr" presetSubtype="0" fill="hold" nodeType="clickEffect">
                                  <p:stCondLst>
                                    <p:cond delay="0"/>
                                  </p:stCondLst>
                                  <p:childTnLst>
                                    <p:set>
                                      <p:cBhvr>
                                        <p:cTn id="6" dur="1" fill="hold">
                                          <p:stCondLst>
                                            <p:cond delay="0"/>
                                          </p:stCondLst>
                                        </p:cTn>
                                        <p:tgtEl>
                                          <p:spTgt spid="26632"/>
                                        </p:tgtEl>
                                        <p:attrNameLst>
                                          <p:attrName>style.visibility</p:attrName>
                                        </p:attrNameLst>
                                      </p:cBhvr>
                                      <p:to>
                                        <p:strVal val="visible"/>
                                      </p:to>
                                    </p:set>
                                    <p:anim calcmode="lin" valueType="num">
                                      <p:cBhvr>
                                        <p:cTn id="7" dur="1000" fill="hold"/>
                                        <p:tgtEl>
                                          <p:spTgt spid="26632"/>
                                        </p:tgtEl>
                                        <p:attrNameLst>
                                          <p:attrName>ppt_w</p:attrName>
                                        </p:attrNameLst>
                                      </p:cBhvr>
                                      <p:tavLst>
                                        <p:tav tm="0">
                                          <p:val>
                                            <p:strVal val="#ppt_w*0.70"/>
                                          </p:val>
                                        </p:tav>
                                        <p:tav tm="100000">
                                          <p:val>
                                            <p:strVal val="#ppt_w"/>
                                          </p:val>
                                        </p:tav>
                                      </p:tavLst>
                                    </p:anim>
                                    <p:anim calcmode="lin" valueType="num">
                                      <p:cBhvr>
                                        <p:cTn id="8" dur="1000" fill="hold"/>
                                        <p:tgtEl>
                                          <p:spTgt spid="26632"/>
                                        </p:tgtEl>
                                        <p:attrNameLst>
                                          <p:attrName>ppt_h</p:attrName>
                                        </p:attrNameLst>
                                      </p:cBhvr>
                                      <p:tavLst>
                                        <p:tav tm="0">
                                          <p:val>
                                            <p:strVal val="#ppt_h"/>
                                          </p:val>
                                        </p:tav>
                                        <p:tav tm="100000">
                                          <p:val>
                                            <p:strVal val="#ppt_h"/>
                                          </p:val>
                                        </p:tav>
                                      </p:tavLst>
                                    </p:anim>
                                    <p:animEffect transition="in" filter="fade">
                                      <p:cBhvr>
                                        <p:cTn id="9" dur="1000"/>
                                        <p:tgtEl>
                                          <p:spTgt spid="26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6A18B5-10E6-F3E9-E25B-1E0B552AB505}"/>
            </a:ext>
          </a:extLst>
        </p:cNvPr>
        <p:cNvGrpSpPr/>
        <p:nvPr/>
      </p:nvGrpSpPr>
      <p:grpSpPr>
        <a:xfrm>
          <a:off x="0" y="0"/>
          <a:ext cx="0" cy="0"/>
          <a:chOff x="0" y="0"/>
          <a:chExt cx="0" cy="0"/>
        </a:xfrm>
      </p:grpSpPr>
      <p:pic>
        <p:nvPicPr>
          <p:cNvPr id="110594" name="Picture 2" descr="C:\science &amp; maths\physics\pics\xray binoculars showing prisms.jpg">
            <a:extLst>
              <a:ext uri="{FF2B5EF4-FFF2-40B4-BE49-F238E27FC236}">
                <a16:creationId xmlns:a16="http://schemas.microsoft.com/office/drawing/2014/main" id="{C5889D90-C7E3-E3E3-8B34-2C9A7B5306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6490" b="9770"/>
          <a:stretch>
            <a:fillRect/>
          </a:stretch>
        </p:blipFill>
        <p:spPr bwMode="auto">
          <a:xfrm>
            <a:off x="1905000" y="377826"/>
            <a:ext cx="8458200" cy="608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5050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Text Box 6">
            <a:extLst>
              <a:ext uri="{FF2B5EF4-FFF2-40B4-BE49-F238E27FC236}">
                <a16:creationId xmlns:a16="http://schemas.microsoft.com/office/drawing/2014/main" id="{DF7460F2-0CE4-380E-A26E-67DD97CA9882}"/>
              </a:ext>
            </a:extLst>
          </p:cNvPr>
          <p:cNvSpPr txBox="1">
            <a:spLocks noChangeArrowheads="1"/>
          </p:cNvSpPr>
          <p:nvPr/>
        </p:nvSpPr>
        <p:spPr bwMode="auto">
          <a:xfrm>
            <a:off x="836068" y="814191"/>
            <a:ext cx="828116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GB" altLang="en-US" sz="4000" b="1" dirty="0"/>
          </a:p>
        </p:txBody>
      </p:sp>
      <p:sp>
        <p:nvSpPr>
          <p:cNvPr id="29701" name="Text Box 5">
            <a:extLst>
              <a:ext uri="{FF2B5EF4-FFF2-40B4-BE49-F238E27FC236}">
                <a16:creationId xmlns:a16="http://schemas.microsoft.com/office/drawing/2014/main" id="{C1DB5D74-96DC-724C-46E8-96C8D892CA26}"/>
              </a:ext>
            </a:extLst>
          </p:cNvPr>
          <p:cNvSpPr txBox="1">
            <a:spLocks noChangeArrowheads="1"/>
          </p:cNvSpPr>
          <p:nvPr/>
        </p:nvSpPr>
        <p:spPr bwMode="auto">
          <a:xfrm>
            <a:off x="2052495" y="1386590"/>
            <a:ext cx="3599631"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A very thin transparent </a:t>
            </a:r>
            <a:r>
              <a:rPr lang="en-US" altLang="en-US" sz="2800" dirty="0" err="1"/>
              <a:t>fibre</a:t>
            </a:r>
            <a:r>
              <a:rPr lang="en-US" altLang="en-US" sz="2800" dirty="0"/>
              <a:t> of glass or plastic through which light can pass.</a:t>
            </a:r>
            <a:endParaRPr lang="en-GB" altLang="en-US" sz="2800" dirty="0"/>
          </a:p>
        </p:txBody>
      </p:sp>
      <p:pic>
        <p:nvPicPr>
          <p:cNvPr id="2050" name="Picture 2">
            <a:extLst>
              <a:ext uri="{FF2B5EF4-FFF2-40B4-BE49-F238E27FC236}">
                <a16:creationId xmlns:a16="http://schemas.microsoft.com/office/drawing/2014/main" id="{DE228232-73F7-5E24-729C-DEB6A4062C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68074" y="1268761"/>
            <a:ext cx="4800600" cy="381952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F84E1B7A-0BAA-3DC2-892F-028B39C7E0E8}"/>
              </a:ext>
            </a:extLst>
          </p:cNvPr>
          <p:cNvPicPr>
            <a:picLocks noChangeAspect="1"/>
          </p:cNvPicPr>
          <p:nvPr/>
        </p:nvPicPr>
        <p:blipFill>
          <a:blip r:embed="rId3"/>
          <a:stretch>
            <a:fillRect/>
          </a:stretch>
        </p:blipFill>
        <p:spPr>
          <a:xfrm>
            <a:off x="10192684" y="4804177"/>
            <a:ext cx="275991" cy="284108"/>
          </a:xfrm>
          <a:prstGeom prst="rect">
            <a:avLst/>
          </a:prstGeom>
        </p:spPr>
      </p:pic>
      <p:sp>
        <p:nvSpPr>
          <p:cNvPr id="2" name="Title 1">
            <a:extLst>
              <a:ext uri="{FF2B5EF4-FFF2-40B4-BE49-F238E27FC236}">
                <a16:creationId xmlns:a16="http://schemas.microsoft.com/office/drawing/2014/main" id="{A5D17296-3B5E-369E-E991-D3F4732F28BA}"/>
              </a:ext>
            </a:extLst>
          </p:cNvPr>
          <p:cNvSpPr>
            <a:spLocks noGrp="1"/>
          </p:cNvSpPr>
          <p:nvPr>
            <p:ph type="title"/>
          </p:nvPr>
        </p:nvSpPr>
        <p:spPr>
          <a:xfrm>
            <a:off x="1765300" y="155247"/>
            <a:ext cx="8724900" cy="590931"/>
          </a:xfrm>
        </p:spPr>
        <p:txBody>
          <a:bodyPr>
            <a:normAutofit fontScale="90000"/>
          </a:bodyPr>
          <a:lstStyle/>
          <a:p>
            <a:r>
              <a:rPr lang="en-IE" altLang="en-US" dirty="0"/>
              <a:t>What is an Optical Fibre</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97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p:bldP spid="29701"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F3B227A9-E3DC-25B5-B5AF-2EC92819C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8663" y="1051350"/>
            <a:ext cx="4653867" cy="309773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F424830-AE8F-2FE4-93D4-788944FE6BDE}"/>
              </a:ext>
            </a:extLst>
          </p:cNvPr>
          <p:cNvSpPr txBox="1"/>
          <p:nvPr/>
        </p:nvSpPr>
        <p:spPr>
          <a:xfrm>
            <a:off x="1774578" y="1484785"/>
            <a:ext cx="3889375" cy="2246769"/>
          </a:xfrm>
          <a:prstGeom prst="rect">
            <a:avLst/>
          </a:prstGeom>
          <a:noFill/>
        </p:spPr>
        <p:txBody>
          <a:bodyPr wrap="square" rtlCol="0">
            <a:spAutoFit/>
          </a:bodyPr>
          <a:lstStyle/>
          <a:p>
            <a:pPr algn="l"/>
            <a:r>
              <a:rPr lang="en-GB" sz="2800" dirty="0"/>
              <a:t>Optic fibres are used in communication networks for transmitting data or video signals.</a:t>
            </a:r>
          </a:p>
        </p:txBody>
      </p:sp>
      <p:pic>
        <p:nvPicPr>
          <p:cNvPr id="5" name="Picture 4">
            <a:extLst>
              <a:ext uri="{FF2B5EF4-FFF2-40B4-BE49-F238E27FC236}">
                <a16:creationId xmlns:a16="http://schemas.microsoft.com/office/drawing/2014/main" id="{48B3380E-43E6-D200-2796-32014920D3F5}"/>
              </a:ext>
            </a:extLst>
          </p:cNvPr>
          <p:cNvPicPr>
            <a:picLocks noChangeAspect="1"/>
          </p:cNvPicPr>
          <p:nvPr/>
        </p:nvPicPr>
        <p:blipFill>
          <a:blip r:embed="rId3"/>
          <a:stretch>
            <a:fillRect/>
          </a:stretch>
        </p:blipFill>
        <p:spPr>
          <a:xfrm>
            <a:off x="10200456" y="3951502"/>
            <a:ext cx="191934" cy="197579"/>
          </a:xfrm>
          <a:prstGeom prst="rect">
            <a:avLst/>
          </a:prstGeom>
        </p:spPr>
      </p:pic>
      <p:sp>
        <p:nvSpPr>
          <p:cNvPr id="3" name="Title 2">
            <a:extLst>
              <a:ext uri="{FF2B5EF4-FFF2-40B4-BE49-F238E27FC236}">
                <a16:creationId xmlns:a16="http://schemas.microsoft.com/office/drawing/2014/main" id="{7756DC54-B0DB-7088-4574-032EDD62D988}"/>
              </a:ext>
            </a:extLst>
          </p:cNvPr>
          <p:cNvSpPr>
            <a:spLocks noGrp="1"/>
          </p:cNvSpPr>
          <p:nvPr>
            <p:ph type="title"/>
          </p:nvPr>
        </p:nvSpPr>
        <p:spPr>
          <a:xfrm>
            <a:off x="1765300" y="155247"/>
            <a:ext cx="8724900" cy="594137"/>
          </a:xfrm>
        </p:spPr>
        <p:txBody>
          <a:bodyPr>
            <a:normAutofit fontScale="90000"/>
          </a:bodyPr>
          <a:lstStyle/>
          <a:p>
            <a:r>
              <a:rPr lang="en-IE" altLang="en-US" dirty="0"/>
              <a:t>Use of Optical Fibres</a:t>
            </a:r>
            <a:endParaRPr lang="en-GB" dirty="0"/>
          </a:p>
        </p:txBody>
      </p:sp>
    </p:spTree>
    <p:extLst>
      <p:ext uri="{BB962C8B-B14F-4D97-AF65-F5344CB8AC3E}">
        <p14:creationId xmlns:p14="http://schemas.microsoft.com/office/powerpoint/2010/main" val="4755012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C32943FF-0F16-EDA2-E559-8EB5565585D6}"/>
              </a:ext>
            </a:extLst>
          </p:cNvPr>
          <p:cNvSpPr/>
          <p:nvPr/>
        </p:nvSpPr>
        <p:spPr>
          <a:xfrm>
            <a:off x="6278517" y="1614612"/>
            <a:ext cx="3139426" cy="3109531"/>
          </a:xfrm>
          <a:custGeom>
            <a:avLst/>
            <a:gdLst>
              <a:gd name="connsiteX0" fmla="*/ 0 w 3003082"/>
              <a:gd name="connsiteY0" fmla="*/ 2868328 h 3089709"/>
              <a:gd name="connsiteX1" fmla="*/ 317634 w 3003082"/>
              <a:gd name="connsiteY1" fmla="*/ 2021305 h 3089709"/>
              <a:gd name="connsiteX2" fmla="*/ 2415941 w 3003082"/>
              <a:gd name="connsiteY2" fmla="*/ 1289785 h 3089709"/>
              <a:gd name="connsiteX3" fmla="*/ 2502568 w 3003082"/>
              <a:gd name="connsiteY3" fmla="*/ 96252 h 3089709"/>
              <a:gd name="connsiteX4" fmla="*/ 2704699 w 3003082"/>
              <a:gd name="connsiteY4" fmla="*/ 0 h 3089709"/>
              <a:gd name="connsiteX5" fmla="*/ 3003082 w 3003082"/>
              <a:gd name="connsiteY5" fmla="*/ 154004 h 3089709"/>
              <a:gd name="connsiteX6" fmla="*/ 2945331 w 3003082"/>
              <a:gd name="connsiteY6" fmla="*/ 1578543 h 3089709"/>
              <a:gd name="connsiteX7" fmla="*/ 750771 w 3003082"/>
              <a:gd name="connsiteY7" fmla="*/ 2396690 h 3089709"/>
              <a:gd name="connsiteX8" fmla="*/ 539015 w 3003082"/>
              <a:gd name="connsiteY8" fmla="*/ 3089709 h 3089709"/>
              <a:gd name="connsiteX0" fmla="*/ 0 w 3003082"/>
              <a:gd name="connsiteY0" fmla="*/ 2868328 h 3089709"/>
              <a:gd name="connsiteX1" fmla="*/ 317634 w 3003082"/>
              <a:gd name="connsiteY1" fmla="*/ 2021305 h 3089709"/>
              <a:gd name="connsiteX2" fmla="*/ 2415941 w 3003082"/>
              <a:gd name="connsiteY2" fmla="*/ 1289785 h 3089709"/>
              <a:gd name="connsiteX3" fmla="*/ 2502568 w 3003082"/>
              <a:gd name="connsiteY3" fmla="*/ 96252 h 3089709"/>
              <a:gd name="connsiteX4" fmla="*/ 2704699 w 3003082"/>
              <a:gd name="connsiteY4" fmla="*/ 0 h 3089709"/>
              <a:gd name="connsiteX5" fmla="*/ 3003082 w 3003082"/>
              <a:gd name="connsiteY5" fmla="*/ 154004 h 3089709"/>
              <a:gd name="connsiteX6" fmla="*/ 2945331 w 3003082"/>
              <a:gd name="connsiteY6" fmla="*/ 1578543 h 3089709"/>
              <a:gd name="connsiteX7" fmla="*/ 750771 w 3003082"/>
              <a:gd name="connsiteY7" fmla="*/ 2396690 h 3089709"/>
              <a:gd name="connsiteX8" fmla="*/ 539015 w 3003082"/>
              <a:gd name="connsiteY8" fmla="*/ 3089709 h 3089709"/>
              <a:gd name="connsiteX0" fmla="*/ 0 w 3139426"/>
              <a:gd name="connsiteY0" fmla="*/ 2868328 h 3089709"/>
              <a:gd name="connsiteX1" fmla="*/ 317634 w 3139426"/>
              <a:gd name="connsiteY1" fmla="*/ 2021305 h 3089709"/>
              <a:gd name="connsiteX2" fmla="*/ 2415941 w 3139426"/>
              <a:gd name="connsiteY2" fmla="*/ 1289785 h 3089709"/>
              <a:gd name="connsiteX3" fmla="*/ 2502568 w 3139426"/>
              <a:gd name="connsiteY3" fmla="*/ 96252 h 3089709"/>
              <a:gd name="connsiteX4" fmla="*/ 2704699 w 3139426"/>
              <a:gd name="connsiteY4" fmla="*/ 0 h 3089709"/>
              <a:gd name="connsiteX5" fmla="*/ 3003082 w 3139426"/>
              <a:gd name="connsiteY5" fmla="*/ 154004 h 3089709"/>
              <a:gd name="connsiteX6" fmla="*/ 2945331 w 3139426"/>
              <a:gd name="connsiteY6" fmla="*/ 1578543 h 3089709"/>
              <a:gd name="connsiteX7" fmla="*/ 750771 w 3139426"/>
              <a:gd name="connsiteY7" fmla="*/ 2396690 h 3089709"/>
              <a:gd name="connsiteX8" fmla="*/ 539015 w 3139426"/>
              <a:gd name="connsiteY8" fmla="*/ 3089709 h 3089709"/>
              <a:gd name="connsiteX0" fmla="*/ 0 w 3139426"/>
              <a:gd name="connsiteY0" fmla="*/ 2868328 h 3089709"/>
              <a:gd name="connsiteX1" fmla="*/ 317634 w 3139426"/>
              <a:gd name="connsiteY1" fmla="*/ 2021305 h 3089709"/>
              <a:gd name="connsiteX2" fmla="*/ 2415941 w 3139426"/>
              <a:gd name="connsiteY2" fmla="*/ 1289785 h 3089709"/>
              <a:gd name="connsiteX3" fmla="*/ 2502568 w 3139426"/>
              <a:gd name="connsiteY3" fmla="*/ 96252 h 3089709"/>
              <a:gd name="connsiteX4" fmla="*/ 2704699 w 3139426"/>
              <a:gd name="connsiteY4" fmla="*/ 0 h 3089709"/>
              <a:gd name="connsiteX5" fmla="*/ 3003082 w 3139426"/>
              <a:gd name="connsiteY5" fmla="*/ 154004 h 3089709"/>
              <a:gd name="connsiteX6" fmla="*/ 2945331 w 3139426"/>
              <a:gd name="connsiteY6" fmla="*/ 1578543 h 3089709"/>
              <a:gd name="connsiteX7" fmla="*/ 750771 w 3139426"/>
              <a:gd name="connsiteY7" fmla="*/ 2396690 h 3089709"/>
              <a:gd name="connsiteX8" fmla="*/ 539015 w 3139426"/>
              <a:gd name="connsiteY8" fmla="*/ 3089709 h 3089709"/>
              <a:gd name="connsiteX0" fmla="*/ 0 w 3139426"/>
              <a:gd name="connsiteY0" fmla="*/ 2868328 h 3089709"/>
              <a:gd name="connsiteX1" fmla="*/ 288758 w 3139426"/>
              <a:gd name="connsiteY1" fmla="*/ 2021305 h 3089709"/>
              <a:gd name="connsiteX2" fmla="*/ 2415941 w 3139426"/>
              <a:gd name="connsiteY2" fmla="*/ 1289785 h 3089709"/>
              <a:gd name="connsiteX3" fmla="*/ 2502568 w 3139426"/>
              <a:gd name="connsiteY3" fmla="*/ 96252 h 3089709"/>
              <a:gd name="connsiteX4" fmla="*/ 2704699 w 3139426"/>
              <a:gd name="connsiteY4" fmla="*/ 0 h 3089709"/>
              <a:gd name="connsiteX5" fmla="*/ 3003082 w 3139426"/>
              <a:gd name="connsiteY5" fmla="*/ 154004 h 3089709"/>
              <a:gd name="connsiteX6" fmla="*/ 2945331 w 3139426"/>
              <a:gd name="connsiteY6" fmla="*/ 1578543 h 3089709"/>
              <a:gd name="connsiteX7" fmla="*/ 750771 w 3139426"/>
              <a:gd name="connsiteY7" fmla="*/ 2396690 h 3089709"/>
              <a:gd name="connsiteX8" fmla="*/ 539015 w 3139426"/>
              <a:gd name="connsiteY8" fmla="*/ 3089709 h 3089709"/>
              <a:gd name="connsiteX0" fmla="*/ 0 w 3139426"/>
              <a:gd name="connsiteY0" fmla="*/ 2868328 h 3089709"/>
              <a:gd name="connsiteX1" fmla="*/ 288758 w 3139426"/>
              <a:gd name="connsiteY1" fmla="*/ 2021305 h 3089709"/>
              <a:gd name="connsiteX2" fmla="*/ 2415941 w 3139426"/>
              <a:gd name="connsiteY2" fmla="*/ 1289785 h 3089709"/>
              <a:gd name="connsiteX3" fmla="*/ 2502568 w 3139426"/>
              <a:gd name="connsiteY3" fmla="*/ 96252 h 3089709"/>
              <a:gd name="connsiteX4" fmla="*/ 2704699 w 3139426"/>
              <a:gd name="connsiteY4" fmla="*/ 0 h 3089709"/>
              <a:gd name="connsiteX5" fmla="*/ 3003082 w 3139426"/>
              <a:gd name="connsiteY5" fmla="*/ 154004 h 3089709"/>
              <a:gd name="connsiteX6" fmla="*/ 2945331 w 3139426"/>
              <a:gd name="connsiteY6" fmla="*/ 1578543 h 3089709"/>
              <a:gd name="connsiteX7" fmla="*/ 750771 w 3139426"/>
              <a:gd name="connsiteY7" fmla="*/ 2396690 h 3089709"/>
              <a:gd name="connsiteX8" fmla="*/ 539015 w 3139426"/>
              <a:gd name="connsiteY8" fmla="*/ 3089709 h 3089709"/>
              <a:gd name="connsiteX0" fmla="*/ 0 w 3139426"/>
              <a:gd name="connsiteY0" fmla="*/ 2868328 h 3089709"/>
              <a:gd name="connsiteX1" fmla="*/ 471638 w 3139426"/>
              <a:gd name="connsiteY1" fmla="*/ 1934677 h 3089709"/>
              <a:gd name="connsiteX2" fmla="*/ 2415941 w 3139426"/>
              <a:gd name="connsiteY2" fmla="*/ 1289785 h 3089709"/>
              <a:gd name="connsiteX3" fmla="*/ 2502568 w 3139426"/>
              <a:gd name="connsiteY3" fmla="*/ 96252 h 3089709"/>
              <a:gd name="connsiteX4" fmla="*/ 2704699 w 3139426"/>
              <a:gd name="connsiteY4" fmla="*/ 0 h 3089709"/>
              <a:gd name="connsiteX5" fmla="*/ 3003082 w 3139426"/>
              <a:gd name="connsiteY5" fmla="*/ 154004 h 3089709"/>
              <a:gd name="connsiteX6" fmla="*/ 2945331 w 3139426"/>
              <a:gd name="connsiteY6" fmla="*/ 1578543 h 3089709"/>
              <a:gd name="connsiteX7" fmla="*/ 750771 w 3139426"/>
              <a:gd name="connsiteY7" fmla="*/ 2396690 h 3089709"/>
              <a:gd name="connsiteX8" fmla="*/ 539015 w 3139426"/>
              <a:gd name="connsiteY8" fmla="*/ 3089709 h 3089709"/>
              <a:gd name="connsiteX0" fmla="*/ 0 w 3139426"/>
              <a:gd name="connsiteY0" fmla="*/ 2868328 h 3089709"/>
              <a:gd name="connsiteX1" fmla="*/ 471638 w 3139426"/>
              <a:gd name="connsiteY1" fmla="*/ 1934677 h 3089709"/>
              <a:gd name="connsiteX2" fmla="*/ 2415941 w 3139426"/>
              <a:gd name="connsiteY2" fmla="*/ 1289785 h 3089709"/>
              <a:gd name="connsiteX3" fmla="*/ 2502568 w 3139426"/>
              <a:gd name="connsiteY3" fmla="*/ 96252 h 3089709"/>
              <a:gd name="connsiteX4" fmla="*/ 2704699 w 3139426"/>
              <a:gd name="connsiteY4" fmla="*/ 0 h 3089709"/>
              <a:gd name="connsiteX5" fmla="*/ 3003082 w 3139426"/>
              <a:gd name="connsiteY5" fmla="*/ 154004 h 3089709"/>
              <a:gd name="connsiteX6" fmla="*/ 2945331 w 3139426"/>
              <a:gd name="connsiteY6" fmla="*/ 1578543 h 3089709"/>
              <a:gd name="connsiteX7" fmla="*/ 750771 w 3139426"/>
              <a:gd name="connsiteY7" fmla="*/ 2396690 h 3089709"/>
              <a:gd name="connsiteX8" fmla="*/ 539015 w 3139426"/>
              <a:gd name="connsiteY8" fmla="*/ 3089709 h 3089709"/>
              <a:gd name="connsiteX0" fmla="*/ 0 w 3139426"/>
              <a:gd name="connsiteY0" fmla="*/ 2904023 h 3125404"/>
              <a:gd name="connsiteX1" fmla="*/ 471638 w 3139426"/>
              <a:gd name="connsiteY1" fmla="*/ 1970372 h 3125404"/>
              <a:gd name="connsiteX2" fmla="*/ 2415941 w 3139426"/>
              <a:gd name="connsiteY2" fmla="*/ 1325480 h 3125404"/>
              <a:gd name="connsiteX3" fmla="*/ 2502568 w 3139426"/>
              <a:gd name="connsiteY3" fmla="*/ 131947 h 3125404"/>
              <a:gd name="connsiteX4" fmla="*/ 2704699 w 3139426"/>
              <a:gd name="connsiteY4" fmla="*/ 35695 h 3125404"/>
              <a:gd name="connsiteX5" fmla="*/ 3003082 w 3139426"/>
              <a:gd name="connsiteY5" fmla="*/ 189699 h 3125404"/>
              <a:gd name="connsiteX6" fmla="*/ 2945331 w 3139426"/>
              <a:gd name="connsiteY6" fmla="*/ 1614238 h 3125404"/>
              <a:gd name="connsiteX7" fmla="*/ 750771 w 3139426"/>
              <a:gd name="connsiteY7" fmla="*/ 2432385 h 3125404"/>
              <a:gd name="connsiteX8" fmla="*/ 539015 w 3139426"/>
              <a:gd name="connsiteY8" fmla="*/ 3125404 h 3125404"/>
              <a:gd name="connsiteX0" fmla="*/ 0 w 3139426"/>
              <a:gd name="connsiteY0" fmla="*/ 2888150 h 3109531"/>
              <a:gd name="connsiteX1" fmla="*/ 471638 w 3139426"/>
              <a:gd name="connsiteY1" fmla="*/ 1954499 h 3109531"/>
              <a:gd name="connsiteX2" fmla="*/ 2415941 w 3139426"/>
              <a:gd name="connsiteY2" fmla="*/ 1309607 h 3109531"/>
              <a:gd name="connsiteX3" fmla="*/ 2502568 w 3139426"/>
              <a:gd name="connsiteY3" fmla="*/ 116074 h 3109531"/>
              <a:gd name="connsiteX4" fmla="*/ 2704699 w 3139426"/>
              <a:gd name="connsiteY4" fmla="*/ 19822 h 3109531"/>
              <a:gd name="connsiteX5" fmla="*/ 3003082 w 3139426"/>
              <a:gd name="connsiteY5" fmla="*/ 173826 h 3109531"/>
              <a:gd name="connsiteX6" fmla="*/ 2945331 w 3139426"/>
              <a:gd name="connsiteY6" fmla="*/ 1598365 h 3109531"/>
              <a:gd name="connsiteX7" fmla="*/ 750771 w 3139426"/>
              <a:gd name="connsiteY7" fmla="*/ 2416512 h 3109531"/>
              <a:gd name="connsiteX8" fmla="*/ 539015 w 3139426"/>
              <a:gd name="connsiteY8" fmla="*/ 3109531 h 310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39426" h="3109531">
                <a:moveTo>
                  <a:pt x="0" y="2888150"/>
                </a:moveTo>
                <a:cubicBezTo>
                  <a:pt x="96253" y="2605809"/>
                  <a:pt x="68981" y="2217590"/>
                  <a:pt x="471638" y="1954499"/>
                </a:cubicBezTo>
                <a:cubicBezTo>
                  <a:pt x="874295" y="1691409"/>
                  <a:pt x="2077453" y="1616011"/>
                  <a:pt x="2415941" y="1309607"/>
                </a:cubicBezTo>
                <a:cubicBezTo>
                  <a:pt x="2754429" y="1003203"/>
                  <a:pt x="2454442" y="331038"/>
                  <a:pt x="2502568" y="116074"/>
                </a:cubicBezTo>
                <a:cubicBezTo>
                  <a:pt x="2569945" y="83990"/>
                  <a:pt x="2608446" y="13405"/>
                  <a:pt x="2704699" y="19822"/>
                </a:cubicBezTo>
                <a:cubicBezTo>
                  <a:pt x="2800952" y="26239"/>
                  <a:pt x="2962977" y="-89265"/>
                  <a:pt x="3003082" y="173826"/>
                </a:cubicBezTo>
                <a:cubicBezTo>
                  <a:pt x="3043187" y="436917"/>
                  <a:pt x="3320716" y="1224584"/>
                  <a:pt x="2945331" y="1598365"/>
                </a:cubicBezTo>
                <a:cubicBezTo>
                  <a:pt x="2569946" y="1972146"/>
                  <a:pt x="898358" y="2195131"/>
                  <a:pt x="750771" y="2416512"/>
                </a:cubicBezTo>
                <a:cubicBezTo>
                  <a:pt x="603184" y="2637893"/>
                  <a:pt x="609600" y="2878525"/>
                  <a:pt x="539015" y="3109531"/>
                </a:cubicBezTo>
              </a:path>
            </a:pathLst>
          </a:cu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GB" dirty="0"/>
          </a:p>
        </p:txBody>
      </p:sp>
      <p:sp>
        <p:nvSpPr>
          <p:cNvPr id="29701" name="Text Box 5">
            <a:extLst>
              <a:ext uri="{FF2B5EF4-FFF2-40B4-BE49-F238E27FC236}">
                <a16:creationId xmlns:a16="http://schemas.microsoft.com/office/drawing/2014/main" id="{C1DB5D74-96DC-724C-46E8-96C8D892CA26}"/>
              </a:ext>
            </a:extLst>
          </p:cNvPr>
          <p:cNvSpPr txBox="1">
            <a:spLocks noChangeArrowheads="1"/>
          </p:cNvSpPr>
          <p:nvPr/>
        </p:nvSpPr>
        <p:spPr bwMode="auto">
          <a:xfrm>
            <a:off x="1981600" y="1887620"/>
            <a:ext cx="3883426" cy="3539430"/>
          </a:xfrm>
          <a:prstGeom prst="rect">
            <a:avLst/>
          </a:prstGeom>
          <a:solidFill>
            <a:schemeClr val="accent2">
              <a:lumMod val="20000"/>
              <a:lumOff val="80000"/>
            </a:schemeClr>
          </a:solidFill>
          <a:ln w="9525">
            <a:solidFill>
              <a:srgbClr val="000000"/>
            </a:solidFill>
            <a:miter lim="800000"/>
            <a:headEnd/>
            <a:tailEnd/>
          </a:ln>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The information is sent as a pulsating laser beam. The angle of incidence is always greater than the critical angle. Total internal reflection keeps the beam inside the </a:t>
            </a:r>
            <a:r>
              <a:rPr lang="en-US" altLang="en-US" sz="2800" dirty="0" err="1"/>
              <a:t>fibre</a:t>
            </a:r>
            <a:r>
              <a:rPr lang="en-US" altLang="en-US" sz="2800" dirty="0"/>
              <a:t>.</a:t>
            </a:r>
            <a:endParaRPr lang="en-GB" altLang="en-US" sz="2800" dirty="0"/>
          </a:p>
        </p:txBody>
      </p:sp>
      <p:sp>
        <p:nvSpPr>
          <p:cNvPr id="2" name="Oval 1">
            <a:extLst>
              <a:ext uri="{FF2B5EF4-FFF2-40B4-BE49-F238E27FC236}">
                <a16:creationId xmlns:a16="http://schemas.microsoft.com/office/drawing/2014/main" id="{7C879B1C-1AE2-9177-DF3D-1BF78CFA0CDB}"/>
              </a:ext>
            </a:extLst>
          </p:cNvPr>
          <p:cNvSpPr/>
          <p:nvPr/>
        </p:nvSpPr>
        <p:spPr>
          <a:xfrm rot="1108894">
            <a:off x="6274529" y="4493035"/>
            <a:ext cx="560937" cy="309002"/>
          </a:xfrm>
          <a:prstGeom prst="ellipse">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3742A2F2-4D89-67ED-033D-BB148735C775}"/>
              </a:ext>
            </a:extLst>
          </p:cNvPr>
          <p:cNvCxnSpPr>
            <a:cxnSpLocks/>
          </p:cNvCxnSpPr>
          <p:nvPr/>
        </p:nvCxnSpPr>
        <p:spPr>
          <a:xfrm flipV="1">
            <a:off x="6600056" y="3724824"/>
            <a:ext cx="0" cy="231630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1579311-5E42-F654-F252-C78B4EF1302F}"/>
              </a:ext>
            </a:extLst>
          </p:cNvPr>
          <p:cNvCxnSpPr>
            <a:cxnSpLocks/>
          </p:cNvCxnSpPr>
          <p:nvPr/>
        </p:nvCxnSpPr>
        <p:spPr>
          <a:xfrm flipV="1">
            <a:off x="6600056" y="3331974"/>
            <a:ext cx="1080120" cy="43204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AACC85B-F45F-54BB-3E18-BBA889BC94E1}"/>
              </a:ext>
            </a:extLst>
          </p:cNvPr>
          <p:cNvCxnSpPr>
            <a:cxnSpLocks/>
            <a:endCxn id="3" idx="6"/>
          </p:cNvCxnSpPr>
          <p:nvPr/>
        </p:nvCxnSpPr>
        <p:spPr>
          <a:xfrm flipV="1">
            <a:off x="7680176" y="3212976"/>
            <a:ext cx="1543672" cy="118998"/>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E1F5270-871B-463B-0284-B006B34CD3E9}"/>
              </a:ext>
            </a:extLst>
          </p:cNvPr>
          <p:cNvCxnSpPr>
            <a:cxnSpLocks/>
          </p:cNvCxnSpPr>
          <p:nvPr/>
        </p:nvCxnSpPr>
        <p:spPr>
          <a:xfrm flipV="1">
            <a:off x="9188665" y="2539886"/>
            <a:ext cx="229279" cy="67309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A4E0274-7DE9-0A9B-7060-28247A397246}"/>
              </a:ext>
            </a:extLst>
          </p:cNvPr>
          <p:cNvCxnSpPr>
            <a:cxnSpLocks/>
          </p:cNvCxnSpPr>
          <p:nvPr/>
        </p:nvCxnSpPr>
        <p:spPr>
          <a:xfrm flipH="1" flipV="1">
            <a:off x="8646107" y="1250793"/>
            <a:ext cx="771836" cy="1317637"/>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reeform: Shape 14">
            <a:extLst>
              <a:ext uri="{FF2B5EF4-FFF2-40B4-BE49-F238E27FC236}">
                <a16:creationId xmlns:a16="http://schemas.microsoft.com/office/drawing/2014/main" id="{EA5DAAF7-527C-7803-C218-D53230DE8C99}"/>
              </a:ext>
            </a:extLst>
          </p:cNvPr>
          <p:cNvSpPr/>
          <p:nvPr/>
        </p:nvSpPr>
        <p:spPr>
          <a:xfrm>
            <a:off x="6515002" y="5310410"/>
            <a:ext cx="170111" cy="303292"/>
          </a:xfrm>
          <a:custGeom>
            <a:avLst/>
            <a:gdLst>
              <a:gd name="connsiteX0" fmla="*/ 0 w 1424517"/>
              <a:gd name="connsiteY0" fmla="*/ 1250950 h 1250950"/>
              <a:gd name="connsiteX1" fmla="*/ 706967 w 1424517"/>
              <a:gd name="connsiteY1" fmla="*/ 0 h 1250950"/>
              <a:gd name="connsiteX2" fmla="*/ 1424517 w 1424517"/>
              <a:gd name="connsiteY2" fmla="*/ 1246717 h 1250950"/>
              <a:gd name="connsiteX3" fmla="*/ 715433 w 1424517"/>
              <a:gd name="connsiteY3" fmla="*/ 901700 h 1250950"/>
              <a:gd name="connsiteX4" fmla="*/ 0 w 1424517"/>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17" h="1250950">
                <a:moveTo>
                  <a:pt x="0" y="1250950"/>
                </a:moveTo>
                <a:lnTo>
                  <a:pt x="706967" y="0"/>
                </a:lnTo>
                <a:lnTo>
                  <a:pt x="1424517" y="1246717"/>
                </a:lnTo>
                <a:lnTo>
                  <a:pt x="715433" y="901700"/>
                </a:lnTo>
                <a:lnTo>
                  <a:pt x="0" y="125095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Freeform: Shape 15">
            <a:extLst>
              <a:ext uri="{FF2B5EF4-FFF2-40B4-BE49-F238E27FC236}">
                <a16:creationId xmlns:a16="http://schemas.microsoft.com/office/drawing/2014/main" id="{643667AB-D0F0-4D1F-2D9F-8FAC33A1276E}"/>
              </a:ext>
            </a:extLst>
          </p:cNvPr>
          <p:cNvSpPr/>
          <p:nvPr/>
        </p:nvSpPr>
        <p:spPr>
          <a:xfrm rot="19849085">
            <a:off x="8644950" y="1218427"/>
            <a:ext cx="170111" cy="303292"/>
          </a:xfrm>
          <a:custGeom>
            <a:avLst/>
            <a:gdLst>
              <a:gd name="connsiteX0" fmla="*/ 0 w 1424517"/>
              <a:gd name="connsiteY0" fmla="*/ 1250950 h 1250950"/>
              <a:gd name="connsiteX1" fmla="*/ 706967 w 1424517"/>
              <a:gd name="connsiteY1" fmla="*/ 0 h 1250950"/>
              <a:gd name="connsiteX2" fmla="*/ 1424517 w 1424517"/>
              <a:gd name="connsiteY2" fmla="*/ 1246717 h 1250950"/>
              <a:gd name="connsiteX3" fmla="*/ 715433 w 1424517"/>
              <a:gd name="connsiteY3" fmla="*/ 901700 h 1250950"/>
              <a:gd name="connsiteX4" fmla="*/ 0 w 1424517"/>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17" h="1250950">
                <a:moveTo>
                  <a:pt x="0" y="1250950"/>
                </a:moveTo>
                <a:lnTo>
                  <a:pt x="706967" y="0"/>
                </a:lnTo>
                <a:lnTo>
                  <a:pt x="1424517" y="1246717"/>
                </a:lnTo>
                <a:lnTo>
                  <a:pt x="715433" y="901700"/>
                </a:lnTo>
                <a:lnTo>
                  <a:pt x="0" y="125095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reeform: Shape 5">
            <a:extLst>
              <a:ext uri="{FF2B5EF4-FFF2-40B4-BE49-F238E27FC236}">
                <a16:creationId xmlns:a16="http://schemas.microsoft.com/office/drawing/2014/main" id="{86CC99E9-4B95-39AE-C139-D878F774419D}"/>
              </a:ext>
            </a:extLst>
          </p:cNvPr>
          <p:cNvSpPr/>
          <p:nvPr/>
        </p:nvSpPr>
        <p:spPr>
          <a:xfrm rot="5400000">
            <a:off x="8496749" y="3116083"/>
            <a:ext cx="170111" cy="303292"/>
          </a:xfrm>
          <a:custGeom>
            <a:avLst/>
            <a:gdLst>
              <a:gd name="connsiteX0" fmla="*/ 0 w 1424517"/>
              <a:gd name="connsiteY0" fmla="*/ 1250950 h 1250950"/>
              <a:gd name="connsiteX1" fmla="*/ 706967 w 1424517"/>
              <a:gd name="connsiteY1" fmla="*/ 0 h 1250950"/>
              <a:gd name="connsiteX2" fmla="*/ 1424517 w 1424517"/>
              <a:gd name="connsiteY2" fmla="*/ 1246717 h 1250950"/>
              <a:gd name="connsiteX3" fmla="*/ 715433 w 1424517"/>
              <a:gd name="connsiteY3" fmla="*/ 901700 h 1250950"/>
              <a:gd name="connsiteX4" fmla="*/ 0 w 1424517"/>
              <a:gd name="connsiteY4" fmla="*/ 1250950 h 12509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517" h="1250950">
                <a:moveTo>
                  <a:pt x="0" y="1250950"/>
                </a:moveTo>
                <a:lnTo>
                  <a:pt x="706967" y="0"/>
                </a:lnTo>
                <a:lnTo>
                  <a:pt x="1424517" y="1246717"/>
                </a:lnTo>
                <a:lnTo>
                  <a:pt x="715433" y="901700"/>
                </a:lnTo>
                <a:lnTo>
                  <a:pt x="0" y="1250950"/>
                </a:ln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itle 3">
            <a:extLst>
              <a:ext uri="{FF2B5EF4-FFF2-40B4-BE49-F238E27FC236}">
                <a16:creationId xmlns:a16="http://schemas.microsoft.com/office/drawing/2014/main" id="{1B3B0ACF-3E0A-99A0-8E35-8A1AB075A0BD}"/>
              </a:ext>
            </a:extLst>
          </p:cNvPr>
          <p:cNvSpPr>
            <a:spLocks noGrp="1"/>
          </p:cNvSpPr>
          <p:nvPr>
            <p:ph type="title"/>
          </p:nvPr>
        </p:nvSpPr>
        <p:spPr>
          <a:xfrm>
            <a:off x="1790700" y="-194571"/>
            <a:ext cx="8674100" cy="1315040"/>
          </a:xfrm>
        </p:spPr>
        <p:txBody>
          <a:bodyPr/>
          <a:lstStyle/>
          <a:p>
            <a:r>
              <a:rPr lang="en-IE" altLang="en-US" dirty="0"/>
              <a:t>How do Optical Fibres transmit information?</a:t>
            </a:r>
            <a:endParaRPr lang="en-GB" dirty="0"/>
          </a:p>
        </p:txBody>
      </p:sp>
    </p:spTree>
    <p:extLst>
      <p:ext uri="{BB962C8B-B14F-4D97-AF65-F5344CB8AC3E}">
        <p14:creationId xmlns:p14="http://schemas.microsoft.com/office/powerpoint/2010/main" val="2284396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2970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9701" grpId="0" animBg="1"/>
      <p:bldP spid="29701" grpId="1" animBg="1"/>
      <p:bldP spid="2" grpId="0" animBg="1"/>
      <p:bldP spid="15" grpId="0" animBg="1"/>
      <p:bldP spid="16" grpId="0" animBg="1"/>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9" name="Picture 2">
            <a:extLst>
              <a:ext uri="{FF2B5EF4-FFF2-40B4-BE49-F238E27FC236}">
                <a16:creationId xmlns:a16="http://schemas.microsoft.com/office/drawing/2014/main" id="{2A3B1708-40F1-F83E-0A12-812F5EA3343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9925" y="5157789"/>
            <a:ext cx="8312150"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 Box 6">
            <a:extLst>
              <a:ext uri="{FF2B5EF4-FFF2-40B4-BE49-F238E27FC236}">
                <a16:creationId xmlns:a16="http://schemas.microsoft.com/office/drawing/2014/main" id="{3999B738-6F03-1287-9743-40C7CB7F4D06}"/>
              </a:ext>
            </a:extLst>
          </p:cNvPr>
          <p:cNvSpPr txBox="1">
            <a:spLocks noChangeArrowheads="1"/>
          </p:cNvSpPr>
          <p:nvPr/>
        </p:nvSpPr>
        <p:spPr bwMode="auto">
          <a:xfrm>
            <a:off x="1919289" y="333376"/>
            <a:ext cx="38893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IE" altLang="en-US" sz="4000" b="1">
                <a:solidFill>
                  <a:schemeClr val="bg1"/>
                </a:solidFill>
              </a:rPr>
              <a:t>Optical Fibres</a:t>
            </a:r>
            <a:endParaRPr lang="en-GB" altLang="en-US" sz="4000" b="1">
              <a:solidFill>
                <a:schemeClr val="bg1"/>
              </a:solidFill>
            </a:endParaRPr>
          </a:p>
        </p:txBody>
      </p:sp>
      <p:sp>
        <p:nvSpPr>
          <p:cNvPr id="29701" name="Text Box 5">
            <a:extLst>
              <a:ext uri="{FF2B5EF4-FFF2-40B4-BE49-F238E27FC236}">
                <a16:creationId xmlns:a16="http://schemas.microsoft.com/office/drawing/2014/main" id="{1DB4EF45-89F1-EB14-87B6-C8E3A74800ED}"/>
              </a:ext>
            </a:extLst>
          </p:cNvPr>
          <p:cNvSpPr txBox="1">
            <a:spLocks noChangeArrowheads="1"/>
          </p:cNvSpPr>
          <p:nvPr/>
        </p:nvSpPr>
        <p:spPr bwMode="auto">
          <a:xfrm>
            <a:off x="1992314" y="5410201"/>
            <a:ext cx="820737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a:t>A very thin transparent rod (usually of glass) through which light can travel by total internal reflection is called an </a:t>
            </a:r>
            <a:r>
              <a:rPr lang="en-US" altLang="en-US" sz="2400" b="1"/>
              <a:t>Optical Fibre</a:t>
            </a:r>
            <a:r>
              <a:rPr lang="en-US" altLang="en-US" sz="2400"/>
              <a:t>.</a:t>
            </a:r>
            <a:endParaRPr lang="en-GB" altLang="en-US" sz="2400"/>
          </a:p>
        </p:txBody>
      </p:sp>
      <p:pic>
        <p:nvPicPr>
          <p:cNvPr id="29702" name="Picture 3">
            <a:extLst>
              <a:ext uri="{FF2B5EF4-FFF2-40B4-BE49-F238E27FC236}">
                <a16:creationId xmlns:a16="http://schemas.microsoft.com/office/drawing/2014/main" id="{C41AFF4A-EB1D-F675-A9EA-F39F8C457C4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875338" y="246064"/>
            <a:ext cx="4532312"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9699"/>
                                        </p:tgtEl>
                                        <p:attrNameLst>
                                          <p:attrName>style.visibility</p:attrName>
                                        </p:attrNameLst>
                                      </p:cBhvr>
                                      <p:to>
                                        <p:strVal val="visible"/>
                                      </p:to>
                                    </p:set>
                                    <p:anim calcmode="lin" valueType="num">
                                      <p:cBhvr additive="base">
                                        <p:cTn id="7" dur="500" fill="hold"/>
                                        <p:tgtEl>
                                          <p:spTgt spid="29699"/>
                                        </p:tgtEl>
                                        <p:attrNameLst>
                                          <p:attrName>ppt_x</p:attrName>
                                        </p:attrNameLst>
                                      </p:cBhvr>
                                      <p:tavLst>
                                        <p:tav tm="0">
                                          <p:val>
                                            <p:strVal val="#ppt_x"/>
                                          </p:val>
                                        </p:tav>
                                        <p:tav tm="100000">
                                          <p:val>
                                            <p:strVal val="#ppt_x"/>
                                          </p:val>
                                        </p:tav>
                                      </p:tavLst>
                                    </p:anim>
                                    <p:anim calcmode="lin" valueType="num">
                                      <p:cBhvr additive="base">
                                        <p:cTn id="8" dur="500" fill="hold"/>
                                        <p:tgtEl>
                                          <p:spTgt spid="2969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9701"/>
                                        </p:tgtEl>
                                        <p:attrNameLst>
                                          <p:attrName>style.visibility</p:attrName>
                                        </p:attrNameLst>
                                      </p:cBhvr>
                                      <p:to>
                                        <p:strVal val="visible"/>
                                      </p:to>
                                    </p:set>
                                    <p:anim calcmode="lin" valueType="num">
                                      <p:cBhvr additive="base">
                                        <p:cTn id="11" dur="500" fill="hold"/>
                                        <p:tgtEl>
                                          <p:spTgt spid="29701"/>
                                        </p:tgtEl>
                                        <p:attrNameLst>
                                          <p:attrName>ppt_x</p:attrName>
                                        </p:attrNameLst>
                                      </p:cBhvr>
                                      <p:tavLst>
                                        <p:tav tm="0">
                                          <p:val>
                                            <p:strVal val="#ppt_x"/>
                                          </p:val>
                                        </p:tav>
                                        <p:tav tm="100000">
                                          <p:val>
                                            <p:strVal val="#ppt_x"/>
                                          </p:val>
                                        </p:tav>
                                      </p:tavLst>
                                    </p:anim>
                                    <p:anim calcmode="lin" valueType="num">
                                      <p:cBhvr additive="base">
                                        <p:cTn id="12" dur="500" fill="hold"/>
                                        <p:tgtEl>
                                          <p:spTgt spid="297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Text Box 5">
            <a:extLst>
              <a:ext uri="{FF2B5EF4-FFF2-40B4-BE49-F238E27FC236}">
                <a16:creationId xmlns:a16="http://schemas.microsoft.com/office/drawing/2014/main" id="{010C91FE-E98D-CEEC-6E06-DC135072A9A9}"/>
              </a:ext>
            </a:extLst>
          </p:cNvPr>
          <p:cNvSpPr txBox="1">
            <a:spLocks noChangeArrowheads="1"/>
          </p:cNvSpPr>
          <p:nvPr/>
        </p:nvSpPr>
        <p:spPr bwMode="auto">
          <a:xfrm>
            <a:off x="2063751" y="5241925"/>
            <a:ext cx="8208963"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IE" altLang="en-US" sz="3200" b="1">
                <a:solidFill>
                  <a:srgbClr val="000099"/>
                </a:solidFill>
              </a:rPr>
              <a:t>A very fine optical fibre passing through the eye of a needle</a:t>
            </a:r>
            <a:endParaRPr lang="en-GB" altLang="en-US" sz="3200" b="1">
              <a:solidFill>
                <a:srgbClr val="000099"/>
              </a:solidFill>
            </a:endParaRPr>
          </a:p>
        </p:txBody>
      </p:sp>
      <p:pic>
        <p:nvPicPr>
          <p:cNvPr id="30724" name="Picture 2">
            <a:extLst>
              <a:ext uri="{FF2B5EF4-FFF2-40B4-BE49-F238E27FC236}">
                <a16:creationId xmlns:a16="http://schemas.microsoft.com/office/drawing/2014/main" id="{8E6E300B-6D4C-0A49-20EB-BE79C193D11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63814" y="546101"/>
            <a:ext cx="7064375" cy="444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Text Box 6">
            <a:extLst>
              <a:ext uri="{FF2B5EF4-FFF2-40B4-BE49-F238E27FC236}">
                <a16:creationId xmlns:a16="http://schemas.microsoft.com/office/drawing/2014/main" id="{821531BB-3030-DD34-D44B-B23C2124F409}"/>
              </a:ext>
            </a:extLst>
          </p:cNvPr>
          <p:cNvSpPr txBox="1">
            <a:spLocks noChangeArrowheads="1"/>
          </p:cNvSpPr>
          <p:nvPr/>
        </p:nvSpPr>
        <p:spPr bwMode="auto">
          <a:xfrm>
            <a:off x="2208214" y="5734051"/>
            <a:ext cx="79914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IE" altLang="en-US" sz="2400" b="1"/>
              <a:t>If two Optical Fibres touch, light may escape from one and pass into the other.</a:t>
            </a:r>
            <a:endParaRPr lang="en-GB" altLang="en-US" sz="2400" b="1"/>
          </a:p>
        </p:txBody>
      </p:sp>
      <p:pic>
        <p:nvPicPr>
          <p:cNvPr id="31748" name="Picture 2">
            <a:extLst>
              <a:ext uri="{FF2B5EF4-FFF2-40B4-BE49-F238E27FC236}">
                <a16:creationId xmlns:a16="http://schemas.microsoft.com/office/drawing/2014/main" id="{814B1935-9B97-ABD8-321D-C12781FE02F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1650" y="115888"/>
            <a:ext cx="6108700" cy="504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Text Box 5">
            <a:extLst>
              <a:ext uri="{FF2B5EF4-FFF2-40B4-BE49-F238E27FC236}">
                <a16:creationId xmlns:a16="http://schemas.microsoft.com/office/drawing/2014/main" id="{265A4102-E885-B263-7415-79F83B4F3A69}"/>
              </a:ext>
            </a:extLst>
          </p:cNvPr>
          <p:cNvSpPr txBox="1">
            <a:spLocks noChangeArrowheads="1"/>
          </p:cNvSpPr>
          <p:nvPr/>
        </p:nvSpPr>
        <p:spPr bwMode="auto">
          <a:xfrm>
            <a:off x="1703388" y="260351"/>
            <a:ext cx="8640762"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a:t>Optical fibres are usually coated with glass of lower refractive index. </a:t>
            </a:r>
          </a:p>
          <a:p>
            <a:pPr eaLnBrk="1" hangingPunct="1"/>
            <a:endParaRPr lang="en-US" altLang="en-US" sz="2000" b="1"/>
          </a:p>
          <a:p>
            <a:pPr eaLnBrk="1" hangingPunct="1"/>
            <a:r>
              <a:rPr lang="en-US" altLang="en-US" sz="2000"/>
              <a:t>This ensures that light always stays in the inner denser glass even if two fibres touch each other. </a:t>
            </a:r>
          </a:p>
          <a:p>
            <a:pPr eaLnBrk="1" hangingPunct="1"/>
            <a:endParaRPr lang="en-US" altLang="en-US" sz="2000"/>
          </a:p>
          <a:p>
            <a:pPr eaLnBrk="1" hangingPunct="1"/>
            <a:r>
              <a:rPr lang="en-US" altLang="en-US" sz="2000"/>
              <a:t>It also prevents damage to the surface of the denser inner fibre.</a:t>
            </a:r>
            <a:endParaRPr lang="en-GB" altLang="en-US" sz="2000"/>
          </a:p>
        </p:txBody>
      </p:sp>
      <p:pic>
        <p:nvPicPr>
          <p:cNvPr id="32772" name="Picture 2">
            <a:extLst>
              <a:ext uri="{FF2B5EF4-FFF2-40B4-BE49-F238E27FC236}">
                <a16:creationId xmlns:a16="http://schemas.microsoft.com/office/drawing/2014/main" id="{F2A95F91-5050-C78D-9280-C18C81F108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2454276"/>
            <a:ext cx="5638800" cy="395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2C6DF-85D7-5E1D-62BE-2A84CB43E71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B4B93D9-65F3-388A-E885-CE6B44E9E211}"/>
              </a:ext>
            </a:extLst>
          </p:cNvPr>
          <p:cNvSpPr>
            <a:spLocks noGrp="1"/>
          </p:cNvSpPr>
          <p:nvPr>
            <p:ph type="title"/>
          </p:nvPr>
        </p:nvSpPr>
        <p:spPr>
          <a:xfrm>
            <a:off x="1790700" y="110128"/>
            <a:ext cx="8674100" cy="705642"/>
          </a:xfrm>
        </p:spPr>
        <p:txBody>
          <a:bodyPr/>
          <a:lstStyle/>
          <a:p>
            <a:r>
              <a:rPr lang="en-IE" altLang="en-US" dirty="0"/>
              <a:t>What is cladding on an optic fibre?</a:t>
            </a:r>
            <a:endParaRPr lang="en-GB" dirty="0"/>
          </a:p>
        </p:txBody>
      </p:sp>
      <p:sp>
        <p:nvSpPr>
          <p:cNvPr id="14" name="Freeform: Shape 13">
            <a:extLst>
              <a:ext uri="{FF2B5EF4-FFF2-40B4-BE49-F238E27FC236}">
                <a16:creationId xmlns:a16="http://schemas.microsoft.com/office/drawing/2014/main" id="{BD97D390-90B6-DD74-79E1-8603F346F0B7}"/>
              </a:ext>
            </a:extLst>
          </p:cNvPr>
          <p:cNvSpPr/>
          <p:nvPr/>
        </p:nvSpPr>
        <p:spPr>
          <a:xfrm>
            <a:off x="4254501" y="2006600"/>
            <a:ext cx="5728284" cy="1422400"/>
          </a:xfrm>
          <a:custGeom>
            <a:avLst/>
            <a:gdLst>
              <a:gd name="connsiteX0" fmla="*/ 38100 w 5740400"/>
              <a:gd name="connsiteY0" fmla="*/ 0 h 1422400"/>
              <a:gd name="connsiteX1" fmla="*/ 5511800 w 5740400"/>
              <a:gd name="connsiteY1" fmla="*/ 0 h 1422400"/>
              <a:gd name="connsiteX2" fmla="*/ 5740400 w 5740400"/>
              <a:gd name="connsiteY2" fmla="*/ 762000 h 1422400"/>
              <a:gd name="connsiteX3" fmla="*/ 5537200 w 5740400"/>
              <a:gd name="connsiteY3" fmla="*/ 1384300 h 1422400"/>
              <a:gd name="connsiteX4" fmla="*/ 0 w 5740400"/>
              <a:gd name="connsiteY4" fmla="*/ 1422400 h 1422400"/>
              <a:gd name="connsiteX0" fmla="*/ 38100 w 5740400"/>
              <a:gd name="connsiteY0" fmla="*/ 0 h 1422400"/>
              <a:gd name="connsiteX1" fmla="*/ 5511800 w 5740400"/>
              <a:gd name="connsiteY1" fmla="*/ 0 h 1422400"/>
              <a:gd name="connsiteX2" fmla="*/ 5740400 w 5740400"/>
              <a:gd name="connsiteY2" fmla="*/ 762000 h 1422400"/>
              <a:gd name="connsiteX3" fmla="*/ 5537200 w 5740400"/>
              <a:gd name="connsiteY3" fmla="*/ 1384300 h 1422400"/>
              <a:gd name="connsiteX4" fmla="*/ 0 w 5740400"/>
              <a:gd name="connsiteY4" fmla="*/ 1422400 h 1422400"/>
              <a:gd name="connsiteX0" fmla="*/ 38100 w 5715000"/>
              <a:gd name="connsiteY0" fmla="*/ 0 h 1422400"/>
              <a:gd name="connsiteX1" fmla="*/ 5511800 w 5715000"/>
              <a:gd name="connsiteY1" fmla="*/ 0 h 1422400"/>
              <a:gd name="connsiteX2" fmla="*/ 5715000 w 5715000"/>
              <a:gd name="connsiteY2" fmla="*/ 685800 h 1422400"/>
              <a:gd name="connsiteX3" fmla="*/ 5537200 w 5715000"/>
              <a:gd name="connsiteY3" fmla="*/ 1384300 h 1422400"/>
              <a:gd name="connsiteX4" fmla="*/ 0 w 5715000"/>
              <a:gd name="connsiteY4" fmla="*/ 1422400 h 1422400"/>
              <a:gd name="connsiteX0" fmla="*/ 38100 w 5715000"/>
              <a:gd name="connsiteY0" fmla="*/ 0 h 1422400"/>
              <a:gd name="connsiteX1" fmla="*/ 5511800 w 5715000"/>
              <a:gd name="connsiteY1" fmla="*/ 0 h 1422400"/>
              <a:gd name="connsiteX2" fmla="*/ 5715000 w 5715000"/>
              <a:gd name="connsiteY2" fmla="*/ 685800 h 1422400"/>
              <a:gd name="connsiteX3" fmla="*/ 5537200 w 5715000"/>
              <a:gd name="connsiteY3" fmla="*/ 1384300 h 1422400"/>
              <a:gd name="connsiteX4" fmla="*/ 0 w 5715000"/>
              <a:gd name="connsiteY4" fmla="*/ 1422400 h 1422400"/>
              <a:gd name="connsiteX0" fmla="*/ 38100 w 5718281"/>
              <a:gd name="connsiteY0" fmla="*/ 0 h 1422400"/>
              <a:gd name="connsiteX1" fmla="*/ 5511800 w 5718281"/>
              <a:gd name="connsiteY1" fmla="*/ 0 h 1422400"/>
              <a:gd name="connsiteX2" fmla="*/ 5715000 w 5718281"/>
              <a:gd name="connsiteY2" fmla="*/ 685800 h 1422400"/>
              <a:gd name="connsiteX3" fmla="*/ 5613400 w 5718281"/>
              <a:gd name="connsiteY3" fmla="*/ 1409700 h 1422400"/>
              <a:gd name="connsiteX4" fmla="*/ 0 w 5718281"/>
              <a:gd name="connsiteY4" fmla="*/ 1422400 h 1422400"/>
              <a:gd name="connsiteX0" fmla="*/ 38100 w 5728284"/>
              <a:gd name="connsiteY0" fmla="*/ 0 h 1422400"/>
              <a:gd name="connsiteX1" fmla="*/ 5511800 w 5728284"/>
              <a:gd name="connsiteY1" fmla="*/ 0 h 1422400"/>
              <a:gd name="connsiteX2" fmla="*/ 5715000 w 5728284"/>
              <a:gd name="connsiteY2" fmla="*/ 685800 h 1422400"/>
              <a:gd name="connsiteX3" fmla="*/ 5613400 w 5728284"/>
              <a:gd name="connsiteY3" fmla="*/ 1409700 h 1422400"/>
              <a:gd name="connsiteX4" fmla="*/ 0 w 5728284"/>
              <a:gd name="connsiteY4" fmla="*/ 142240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284" h="1422400">
                <a:moveTo>
                  <a:pt x="38100" y="0"/>
                </a:moveTo>
                <a:lnTo>
                  <a:pt x="5511800" y="0"/>
                </a:lnTo>
                <a:cubicBezTo>
                  <a:pt x="5651500" y="165100"/>
                  <a:pt x="5698067" y="450850"/>
                  <a:pt x="5715000" y="685800"/>
                </a:cubicBezTo>
                <a:cubicBezTo>
                  <a:pt x="5731933" y="920750"/>
                  <a:pt x="5757333" y="1202267"/>
                  <a:pt x="5613400" y="1409700"/>
                </a:cubicBezTo>
                <a:lnTo>
                  <a:pt x="0" y="1422400"/>
                </a:lnTo>
              </a:path>
            </a:pathLst>
          </a:cu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159D0DED-A066-8B85-B71A-F000BAFE78AC}"/>
              </a:ext>
            </a:extLst>
          </p:cNvPr>
          <p:cNvSpPr/>
          <p:nvPr/>
        </p:nvSpPr>
        <p:spPr>
          <a:xfrm>
            <a:off x="4038600" y="2019039"/>
            <a:ext cx="508000" cy="1403048"/>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0E023343-6D00-265D-F777-854C152BDBA5}"/>
              </a:ext>
            </a:extLst>
          </p:cNvPr>
          <p:cNvSpPr/>
          <p:nvPr/>
        </p:nvSpPr>
        <p:spPr>
          <a:xfrm>
            <a:off x="4165600" y="2374900"/>
            <a:ext cx="266700" cy="7366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96BC0988-AEA5-2492-B06B-4CDAE6A16B85}"/>
              </a:ext>
            </a:extLst>
          </p:cNvPr>
          <p:cNvSpPr txBox="1"/>
          <p:nvPr/>
        </p:nvSpPr>
        <p:spPr>
          <a:xfrm>
            <a:off x="2082801" y="3987800"/>
            <a:ext cx="8267700" cy="1815882"/>
          </a:xfrm>
          <a:prstGeom prst="rect">
            <a:avLst/>
          </a:prstGeom>
          <a:noFill/>
        </p:spPr>
        <p:txBody>
          <a:bodyPr wrap="square" rtlCol="0">
            <a:spAutoFit/>
          </a:bodyPr>
          <a:lstStyle/>
          <a:p>
            <a:pPr>
              <a:spcAft>
                <a:spcPts val="1200"/>
              </a:spcAft>
            </a:pPr>
            <a:r>
              <a:rPr lang="en-GB" sz="2800" dirty="0">
                <a:latin typeface="Arial" panose="020B0604020202020204" pitchFamily="34" charset="0"/>
                <a:cs typeface="Arial" panose="020B0604020202020204" pitchFamily="34" charset="0"/>
              </a:rPr>
              <a:t>Many optic fibres are constructed with an inner core which carries the light signal and a thin outer “cladding” made of a similar material but with a lower refractive index.</a:t>
            </a:r>
          </a:p>
        </p:txBody>
      </p:sp>
      <p:sp>
        <p:nvSpPr>
          <p:cNvPr id="18" name="TextBox 17">
            <a:extLst>
              <a:ext uri="{FF2B5EF4-FFF2-40B4-BE49-F238E27FC236}">
                <a16:creationId xmlns:a16="http://schemas.microsoft.com/office/drawing/2014/main" id="{167F8F6C-7D98-66F5-2567-10D19056653D}"/>
              </a:ext>
            </a:extLst>
          </p:cNvPr>
          <p:cNvSpPr txBox="1"/>
          <p:nvPr/>
        </p:nvSpPr>
        <p:spPr>
          <a:xfrm>
            <a:off x="1790700" y="2374900"/>
            <a:ext cx="1805302" cy="523220"/>
          </a:xfrm>
          <a:prstGeom prst="rect">
            <a:avLst/>
          </a:prstGeom>
          <a:noFill/>
        </p:spPr>
        <p:txBody>
          <a:bodyPr wrap="none" rtlCol="0">
            <a:spAutoFit/>
          </a:bodyPr>
          <a:lstStyle/>
          <a:p>
            <a:pPr>
              <a:spcAft>
                <a:spcPts val="1200"/>
              </a:spcAft>
            </a:pPr>
            <a:r>
              <a:rPr lang="en-GB" sz="2800" dirty="0">
                <a:latin typeface="Arial" panose="020B0604020202020204" pitchFamily="34" charset="0"/>
                <a:cs typeface="Arial" panose="020B0604020202020204" pitchFamily="34" charset="0"/>
              </a:rPr>
              <a:t>Inner core</a:t>
            </a:r>
          </a:p>
        </p:txBody>
      </p:sp>
      <p:sp>
        <p:nvSpPr>
          <p:cNvPr id="19" name="TextBox 18">
            <a:extLst>
              <a:ext uri="{FF2B5EF4-FFF2-40B4-BE49-F238E27FC236}">
                <a16:creationId xmlns:a16="http://schemas.microsoft.com/office/drawing/2014/main" id="{628DE870-C733-A51A-CE79-1A1564CE6AAB}"/>
              </a:ext>
            </a:extLst>
          </p:cNvPr>
          <p:cNvSpPr txBox="1"/>
          <p:nvPr/>
        </p:nvSpPr>
        <p:spPr>
          <a:xfrm>
            <a:off x="1790700" y="3202223"/>
            <a:ext cx="1606530" cy="523220"/>
          </a:xfrm>
          <a:prstGeom prst="rect">
            <a:avLst/>
          </a:prstGeom>
          <a:noFill/>
        </p:spPr>
        <p:txBody>
          <a:bodyPr wrap="none" rtlCol="0">
            <a:spAutoFit/>
          </a:bodyPr>
          <a:lstStyle/>
          <a:p>
            <a:pPr>
              <a:spcAft>
                <a:spcPts val="1200"/>
              </a:spcAft>
            </a:pPr>
            <a:r>
              <a:rPr lang="en-GB" sz="2800" dirty="0">
                <a:latin typeface="Arial" panose="020B0604020202020204" pitchFamily="34" charset="0"/>
                <a:cs typeface="Arial" panose="020B0604020202020204" pitchFamily="34" charset="0"/>
              </a:rPr>
              <a:t>Cladding</a:t>
            </a:r>
          </a:p>
        </p:txBody>
      </p:sp>
      <p:cxnSp>
        <p:nvCxnSpPr>
          <p:cNvPr id="21" name="Straight Arrow Connector 20">
            <a:extLst>
              <a:ext uri="{FF2B5EF4-FFF2-40B4-BE49-F238E27FC236}">
                <a16:creationId xmlns:a16="http://schemas.microsoft.com/office/drawing/2014/main" id="{3CF6FB9D-9541-C6CD-3A03-29A199F0FE01}"/>
              </a:ext>
            </a:extLst>
          </p:cNvPr>
          <p:cNvCxnSpPr>
            <a:stCxn id="18" idx="3"/>
          </p:cNvCxnSpPr>
          <p:nvPr/>
        </p:nvCxnSpPr>
        <p:spPr>
          <a:xfrm>
            <a:off x="3596002" y="2636510"/>
            <a:ext cx="696598"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A942177B-DC6C-73D7-A269-362308309C23}"/>
              </a:ext>
            </a:extLst>
          </p:cNvPr>
          <p:cNvCxnSpPr>
            <a:cxnSpLocks/>
            <a:endCxn id="12" idx="3"/>
          </p:cNvCxnSpPr>
          <p:nvPr/>
        </p:nvCxnSpPr>
        <p:spPr>
          <a:xfrm flipV="1">
            <a:off x="3469003" y="3216615"/>
            <a:ext cx="643993" cy="20547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10673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154BE-B313-4592-DE0A-622D4E587B8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B35869-248A-8B01-00A6-D651E33E09B9}"/>
              </a:ext>
            </a:extLst>
          </p:cNvPr>
          <p:cNvSpPr>
            <a:spLocks noGrp="1"/>
          </p:cNvSpPr>
          <p:nvPr>
            <p:ph type="title"/>
          </p:nvPr>
        </p:nvSpPr>
        <p:spPr>
          <a:xfrm>
            <a:off x="1790700" y="53125"/>
            <a:ext cx="8674100" cy="1315040"/>
          </a:xfrm>
        </p:spPr>
        <p:txBody>
          <a:bodyPr/>
          <a:lstStyle/>
          <a:p>
            <a:r>
              <a:rPr lang="en-IE" altLang="en-US" dirty="0"/>
              <a:t>Where does the total internal reflection occur?</a:t>
            </a:r>
            <a:endParaRPr lang="en-GB" dirty="0"/>
          </a:p>
        </p:txBody>
      </p:sp>
      <p:sp>
        <p:nvSpPr>
          <p:cNvPr id="14" name="Freeform: Shape 13">
            <a:extLst>
              <a:ext uri="{FF2B5EF4-FFF2-40B4-BE49-F238E27FC236}">
                <a16:creationId xmlns:a16="http://schemas.microsoft.com/office/drawing/2014/main" id="{0C076580-D145-B968-A034-489BDFFCC014}"/>
              </a:ext>
            </a:extLst>
          </p:cNvPr>
          <p:cNvSpPr/>
          <p:nvPr/>
        </p:nvSpPr>
        <p:spPr>
          <a:xfrm>
            <a:off x="4254501" y="2006600"/>
            <a:ext cx="5728284" cy="1422400"/>
          </a:xfrm>
          <a:custGeom>
            <a:avLst/>
            <a:gdLst>
              <a:gd name="connsiteX0" fmla="*/ 38100 w 5740400"/>
              <a:gd name="connsiteY0" fmla="*/ 0 h 1422400"/>
              <a:gd name="connsiteX1" fmla="*/ 5511800 w 5740400"/>
              <a:gd name="connsiteY1" fmla="*/ 0 h 1422400"/>
              <a:gd name="connsiteX2" fmla="*/ 5740400 w 5740400"/>
              <a:gd name="connsiteY2" fmla="*/ 762000 h 1422400"/>
              <a:gd name="connsiteX3" fmla="*/ 5537200 w 5740400"/>
              <a:gd name="connsiteY3" fmla="*/ 1384300 h 1422400"/>
              <a:gd name="connsiteX4" fmla="*/ 0 w 5740400"/>
              <a:gd name="connsiteY4" fmla="*/ 1422400 h 1422400"/>
              <a:gd name="connsiteX0" fmla="*/ 38100 w 5740400"/>
              <a:gd name="connsiteY0" fmla="*/ 0 h 1422400"/>
              <a:gd name="connsiteX1" fmla="*/ 5511800 w 5740400"/>
              <a:gd name="connsiteY1" fmla="*/ 0 h 1422400"/>
              <a:gd name="connsiteX2" fmla="*/ 5740400 w 5740400"/>
              <a:gd name="connsiteY2" fmla="*/ 762000 h 1422400"/>
              <a:gd name="connsiteX3" fmla="*/ 5537200 w 5740400"/>
              <a:gd name="connsiteY3" fmla="*/ 1384300 h 1422400"/>
              <a:gd name="connsiteX4" fmla="*/ 0 w 5740400"/>
              <a:gd name="connsiteY4" fmla="*/ 1422400 h 1422400"/>
              <a:gd name="connsiteX0" fmla="*/ 38100 w 5715000"/>
              <a:gd name="connsiteY0" fmla="*/ 0 h 1422400"/>
              <a:gd name="connsiteX1" fmla="*/ 5511800 w 5715000"/>
              <a:gd name="connsiteY1" fmla="*/ 0 h 1422400"/>
              <a:gd name="connsiteX2" fmla="*/ 5715000 w 5715000"/>
              <a:gd name="connsiteY2" fmla="*/ 685800 h 1422400"/>
              <a:gd name="connsiteX3" fmla="*/ 5537200 w 5715000"/>
              <a:gd name="connsiteY3" fmla="*/ 1384300 h 1422400"/>
              <a:gd name="connsiteX4" fmla="*/ 0 w 5715000"/>
              <a:gd name="connsiteY4" fmla="*/ 1422400 h 1422400"/>
              <a:gd name="connsiteX0" fmla="*/ 38100 w 5715000"/>
              <a:gd name="connsiteY0" fmla="*/ 0 h 1422400"/>
              <a:gd name="connsiteX1" fmla="*/ 5511800 w 5715000"/>
              <a:gd name="connsiteY1" fmla="*/ 0 h 1422400"/>
              <a:gd name="connsiteX2" fmla="*/ 5715000 w 5715000"/>
              <a:gd name="connsiteY2" fmla="*/ 685800 h 1422400"/>
              <a:gd name="connsiteX3" fmla="*/ 5537200 w 5715000"/>
              <a:gd name="connsiteY3" fmla="*/ 1384300 h 1422400"/>
              <a:gd name="connsiteX4" fmla="*/ 0 w 5715000"/>
              <a:gd name="connsiteY4" fmla="*/ 1422400 h 1422400"/>
              <a:gd name="connsiteX0" fmla="*/ 38100 w 5718281"/>
              <a:gd name="connsiteY0" fmla="*/ 0 h 1422400"/>
              <a:gd name="connsiteX1" fmla="*/ 5511800 w 5718281"/>
              <a:gd name="connsiteY1" fmla="*/ 0 h 1422400"/>
              <a:gd name="connsiteX2" fmla="*/ 5715000 w 5718281"/>
              <a:gd name="connsiteY2" fmla="*/ 685800 h 1422400"/>
              <a:gd name="connsiteX3" fmla="*/ 5613400 w 5718281"/>
              <a:gd name="connsiteY3" fmla="*/ 1409700 h 1422400"/>
              <a:gd name="connsiteX4" fmla="*/ 0 w 5718281"/>
              <a:gd name="connsiteY4" fmla="*/ 1422400 h 1422400"/>
              <a:gd name="connsiteX0" fmla="*/ 38100 w 5728284"/>
              <a:gd name="connsiteY0" fmla="*/ 0 h 1422400"/>
              <a:gd name="connsiteX1" fmla="*/ 5511800 w 5728284"/>
              <a:gd name="connsiteY1" fmla="*/ 0 h 1422400"/>
              <a:gd name="connsiteX2" fmla="*/ 5715000 w 5728284"/>
              <a:gd name="connsiteY2" fmla="*/ 685800 h 1422400"/>
              <a:gd name="connsiteX3" fmla="*/ 5613400 w 5728284"/>
              <a:gd name="connsiteY3" fmla="*/ 1409700 h 1422400"/>
              <a:gd name="connsiteX4" fmla="*/ 0 w 5728284"/>
              <a:gd name="connsiteY4" fmla="*/ 142240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284" h="1422400">
                <a:moveTo>
                  <a:pt x="38100" y="0"/>
                </a:moveTo>
                <a:lnTo>
                  <a:pt x="5511800" y="0"/>
                </a:lnTo>
                <a:cubicBezTo>
                  <a:pt x="5651500" y="165100"/>
                  <a:pt x="5698067" y="450850"/>
                  <a:pt x="5715000" y="685800"/>
                </a:cubicBezTo>
                <a:cubicBezTo>
                  <a:pt x="5731933" y="920750"/>
                  <a:pt x="5757333" y="1202267"/>
                  <a:pt x="5613400" y="1409700"/>
                </a:cubicBezTo>
                <a:lnTo>
                  <a:pt x="0" y="1422400"/>
                </a:lnTo>
              </a:path>
            </a:pathLst>
          </a:cu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a:extLst>
              <a:ext uri="{FF2B5EF4-FFF2-40B4-BE49-F238E27FC236}">
                <a16:creationId xmlns:a16="http://schemas.microsoft.com/office/drawing/2014/main" id="{C9376A64-F4C0-DCC2-C5D0-1248F931E96F}"/>
              </a:ext>
            </a:extLst>
          </p:cNvPr>
          <p:cNvSpPr/>
          <p:nvPr/>
        </p:nvSpPr>
        <p:spPr>
          <a:xfrm>
            <a:off x="4038600" y="2019039"/>
            <a:ext cx="508000" cy="1403048"/>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FA386161-A16C-F210-52BD-4CA704A0F202}"/>
              </a:ext>
            </a:extLst>
          </p:cNvPr>
          <p:cNvSpPr/>
          <p:nvPr/>
        </p:nvSpPr>
        <p:spPr>
          <a:xfrm>
            <a:off x="4165600" y="2374900"/>
            <a:ext cx="266700" cy="7366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A38B1BA9-4022-868E-544E-0E6F48864901}"/>
              </a:ext>
            </a:extLst>
          </p:cNvPr>
          <p:cNvSpPr txBox="1"/>
          <p:nvPr/>
        </p:nvSpPr>
        <p:spPr>
          <a:xfrm>
            <a:off x="3251200" y="4158687"/>
            <a:ext cx="7137401" cy="954107"/>
          </a:xfrm>
          <a:prstGeom prst="rect">
            <a:avLst/>
          </a:prstGeom>
          <a:noFill/>
        </p:spPr>
        <p:txBody>
          <a:bodyPr wrap="square" rtlCol="0">
            <a:spAutoFit/>
          </a:bodyPr>
          <a:lstStyle/>
          <a:p>
            <a:pPr>
              <a:spcAft>
                <a:spcPts val="1200"/>
              </a:spcAft>
            </a:pPr>
            <a:r>
              <a:rPr lang="en-GB" sz="2800" dirty="0">
                <a:latin typeface="Arial" panose="020B0604020202020204" pitchFamily="34" charset="0"/>
                <a:cs typeface="Arial" panose="020B0604020202020204" pitchFamily="34" charset="0"/>
              </a:rPr>
              <a:t>Total internal reflection occurs at the boundary between the two materials</a:t>
            </a:r>
          </a:p>
        </p:txBody>
      </p:sp>
      <p:sp>
        <p:nvSpPr>
          <p:cNvPr id="18" name="TextBox 17">
            <a:extLst>
              <a:ext uri="{FF2B5EF4-FFF2-40B4-BE49-F238E27FC236}">
                <a16:creationId xmlns:a16="http://schemas.microsoft.com/office/drawing/2014/main" id="{19B68CE3-73C3-0632-6CF7-483017F6E746}"/>
              </a:ext>
            </a:extLst>
          </p:cNvPr>
          <p:cNvSpPr txBox="1"/>
          <p:nvPr/>
        </p:nvSpPr>
        <p:spPr>
          <a:xfrm>
            <a:off x="1790700" y="2374900"/>
            <a:ext cx="1805302" cy="523220"/>
          </a:xfrm>
          <a:prstGeom prst="rect">
            <a:avLst/>
          </a:prstGeom>
          <a:noFill/>
        </p:spPr>
        <p:txBody>
          <a:bodyPr wrap="none" rtlCol="0">
            <a:spAutoFit/>
          </a:bodyPr>
          <a:lstStyle/>
          <a:p>
            <a:pPr>
              <a:spcAft>
                <a:spcPts val="1200"/>
              </a:spcAft>
            </a:pPr>
            <a:r>
              <a:rPr lang="en-GB" sz="2800" dirty="0">
                <a:latin typeface="Arial" panose="020B0604020202020204" pitchFamily="34" charset="0"/>
                <a:cs typeface="Arial" panose="020B0604020202020204" pitchFamily="34" charset="0"/>
              </a:rPr>
              <a:t>Inner core</a:t>
            </a:r>
          </a:p>
        </p:txBody>
      </p:sp>
      <p:sp>
        <p:nvSpPr>
          <p:cNvPr id="19" name="TextBox 18">
            <a:extLst>
              <a:ext uri="{FF2B5EF4-FFF2-40B4-BE49-F238E27FC236}">
                <a16:creationId xmlns:a16="http://schemas.microsoft.com/office/drawing/2014/main" id="{0DD0C5AB-F06E-BD1B-DE88-BD31E13F5617}"/>
              </a:ext>
            </a:extLst>
          </p:cNvPr>
          <p:cNvSpPr txBox="1"/>
          <p:nvPr/>
        </p:nvSpPr>
        <p:spPr>
          <a:xfrm>
            <a:off x="1790700" y="3202223"/>
            <a:ext cx="1606530" cy="523220"/>
          </a:xfrm>
          <a:prstGeom prst="rect">
            <a:avLst/>
          </a:prstGeom>
          <a:noFill/>
        </p:spPr>
        <p:txBody>
          <a:bodyPr wrap="none" rtlCol="0">
            <a:spAutoFit/>
          </a:bodyPr>
          <a:lstStyle/>
          <a:p>
            <a:pPr>
              <a:spcAft>
                <a:spcPts val="1200"/>
              </a:spcAft>
            </a:pPr>
            <a:r>
              <a:rPr lang="en-GB" sz="2800" dirty="0">
                <a:latin typeface="Arial" panose="020B0604020202020204" pitchFamily="34" charset="0"/>
                <a:cs typeface="Arial" panose="020B0604020202020204" pitchFamily="34" charset="0"/>
              </a:rPr>
              <a:t>Cladding</a:t>
            </a:r>
          </a:p>
        </p:txBody>
      </p:sp>
      <p:cxnSp>
        <p:nvCxnSpPr>
          <p:cNvPr id="21" name="Straight Arrow Connector 20">
            <a:extLst>
              <a:ext uri="{FF2B5EF4-FFF2-40B4-BE49-F238E27FC236}">
                <a16:creationId xmlns:a16="http://schemas.microsoft.com/office/drawing/2014/main" id="{65E446F4-F240-9BF6-FF66-DFDD942288BC}"/>
              </a:ext>
            </a:extLst>
          </p:cNvPr>
          <p:cNvCxnSpPr>
            <a:stCxn id="18" idx="3"/>
          </p:cNvCxnSpPr>
          <p:nvPr/>
        </p:nvCxnSpPr>
        <p:spPr>
          <a:xfrm>
            <a:off x="3596002" y="2636510"/>
            <a:ext cx="696598"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4A58DB7C-F20C-87AB-82E1-0C30B559392E}"/>
              </a:ext>
            </a:extLst>
          </p:cNvPr>
          <p:cNvCxnSpPr>
            <a:cxnSpLocks/>
            <a:endCxn id="12" idx="3"/>
          </p:cNvCxnSpPr>
          <p:nvPr/>
        </p:nvCxnSpPr>
        <p:spPr>
          <a:xfrm flipV="1">
            <a:off x="3469003" y="3216615"/>
            <a:ext cx="643993" cy="20547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Connector 2">
            <a:extLst>
              <a:ext uri="{FF2B5EF4-FFF2-40B4-BE49-F238E27FC236}">
                <a16:creationId xmlns:a16="http://schemas.microsoft.com/office/drawing/2014/main" id="{95B5369B-3F46-D64D-080A-C9D4AE45AF1C}"/>
              </a:ext>
            </a:extLst>
          </p:cNvPr>
          <p:cNvCxnSpPr>
            <a:stCxn id="8" idx="0"/>
          </p:cNvCxnSpPr>
          <p:nvPr/>
        </p:nvCxnSpPr>
        <p:spPr>
          <a:xfrm>
            <a:off x="4298950" y="2374900"/>
            <a:ext cx="5416550" cy="0"/>
          </a:xfrm>
          <a:prstGeom prst="line">
            <a:avLst/>
          </a:prstGeom>
          <a:ln w="28575">
            <a:solidFill>
              <a:schemeClr val="tx1"/>
            </a:solidFill>
            <a:prstDash val="dash"/>
            <a:tailEnd type="none" w="med" len="lg"/>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134B044D-B49E-D2EC-6D1D-15D5DAA8F846}"/>
              </a:ext>
            </a:extLst>
          </p:cNvPr>
          <p:cNvCxnSpPr/>
          <p:nvPr/>
        </p:nvCxnSpPr>
        <p:spPr>
          <a:xfrm>
            <a:off x="4292600" y="3111500"/>
            <a:ext cx="5416550" cy="0"/>
          </a:xfrm>
          <a:prstGeom prst="line">
            <a:avLst/>
          </a:prstGeom>
          <a:ln w="28575">
            <a:solidFill>
              <a:schemeClr val="tx1"/>
            </a:solidFill>
            <a:prstDash val="dash"/>
            <a:tailEnd type="none" w="med" len="lg"/>
          </a:ln>
        </p:spPr>
        <p:style>
          <a:lnRef idx="2">
            <a:schemeClr val="accent1"/>
          </a:lnRef>
          <a:fillRef idx="0">
            <a:schemeClr val="accent1"/>
          </a:fillRef>
          <a:effectRef idx="1">
            <a:schemeClr val="accent1"/>
          </a:effectRef>
          <a:fontRef idx="minor">
            <a:schemeClr val="tx1"/>
          </a:fontRef>
        </p:style>
      </p:cxnSp>
      <p:sp>
        <p:nvSpPr>
          <p:cNvPr id="6" name="Freeform: Shape 5">
            <a:extLst>
              <a:ext uri="{FF2B5EF4-FFF2-40B4-BE49-F238E27FC236}">
                <a16:creationId xmlns:a16="http://schemas.microsoft.com/office/drawing/2014/main" id="{CFBFEEB6-F31B-90EB-F13A-DC9098009FAF}"/>
              </a:ext>
            </a:extLst>
          </p:cNvPr>
          <p:cNvSpPr/>
          <p:nvPr/>
        </p:nvSpPr>
        <p:spPr>
          <a:xfrm>
            <a:off x="4305300" y="2387600"/>
            <a:ext cx="5930900" cy="355600"/>
          </a:xfrm>
          <a:custGeom>
            <a:avLst/>
            <a:gdLst>
              <a:gd name="connsiteX0" fmla="*/ 0 w 5930900"/>
              <a:gd name="connsiteY0" fmla="*/ 355600 h 355600"/>
              <a:gd name="connsiteX1" fmla="*/ 3340100 w 5930900"/>
              <a:gd name="connsiteY1" fmla="*/ 0 h 355600"/>
              <a:gd name="connsiteX2" fmla="*/ 5930900 w 5930900"/>
              <a:gd name="connsiteY2" fmla="*/ 342900 h 355600"/>
            </a:gdLst>
            <a:ahLst/>
            <a:cxnLst>
              <a:cxn ang="0">
                <a:pos x="connsiteX0" y="connsiteY0"/>
              </a:cxn>
              <a:cxn ang="0">
                <a:pos x="connsiteX1" y="connsiteY1"/>
              </a:cxn>
              <a:cxn ang="0">
                <a:pos x="connsiteX2" y="connsiteY2"/>
              </a:cxn>
            </a:cxnLst>
            <a:rect l="l" t="t" r="r" b="b"/>
            <a:pathLst>
              <a:path w="5930900" h="355600">
                <a:moveTo>
                  <a:pt x="0" y="355600"/>
                </a:moveTo>
                <a:lnTo>
                  <a:pt x="3340100" y="0"/>
                </a:lnTo>
                <a:lnTo>
                  <a:pt x="5930900" y="342900"/>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Freeform: Shape 6">
            <a:extLst>
              <a:ext uri="{FF2B5EF4-FFF2-40B4-BE49-F238E27FC236}">
                <a16:creationId xmlns:a16="http://schemas.microsoft.com/office/drawing/2014/main" id="{A0D8D6C3-7BAE-979C-400B-4DC4292E26DA}"/>
              </a:ext>
            </a:extLst>
          </p:cNvPr>
          <p:cNvSpPr/>
          <p:nvPr/>
        </p:nvSpPr>
        <p:spPr>
          <a:xfrm rot="21007098">
            <a:off x="5640547" y="2452330"/>
            <a:ext cx="218969" cy="294541"/>
          </a:xfrm>
          <a:custGeom>
            <a:avLst/>
            <a:gdLst>
              <a:gd name="connsiteX0" fmla="*/ 0 w 697230"/>
              <a:gd name="connsiteY0" fmla="*/ 0 h 617220"/>
              <a:gd name="connsiteX1" fmla="*/ 697230 w 697230"/>
              <a:gd name="connsiteY1" fmla="*/ 331470 h 617220"/>
              <a:gd name="connsiteX2" fmla="*/ 68580 w 697230"/>
              <a:gd name="connsiteY2" fmla="*/ 617220 h 617220"/>
              <a:gd name="connsiteX3" fmla="*/ 68580 w 697230"/>
              <a:gd name="connsiteY3" fmla="*/ 617220 h 617220"/>
              <a:gd name="connsiteX0" fmla="*/ 14143 w 711373"/>
              <a:gd name="connsiteY0" fmla="*/ 0 h 617220"/>
              <a:gd name="connsiteX1" fmla="*/ 711373 w 711373"/>
              <a:gd name="connsiteY1" fmla="*/ 331470 h 617220"/>
              <a:gd name="connsiteX2" fmla="*/ 82723 w 711373"/>
              <a:gd name="connsiteY2" fmla="*/ 617220 h 617220"/>
              <a:gd name="connsiteX3" fmla="*/ 0 w 711373"/>
              <a:gd name="connsiteY3" fmla="*/ 306266 h 617220"/>
              <a:gd name="connsiteX0" fmla="*/ 0 w 697230"/>
              <a:gd name="connsiteY0" fmla="*/ 0 h 617220"/>
              <a:gd name="connsiteX1" fmla="*/ 697230 w 697230"/>
              <a:gd name="connsiteY1" fmla="*/ 331470 h 617220"/>
              <a:gd name="connsiteX2" fmla="*/ 68580 w 697230"/>
              <a:gd name="connsiteY2" fmla="*/ 617220 h 617220"/>
              <a:gd name="connsiteX0" fmla="*/ 9416 w 706646"/>
              <a:gd name="connsiteY0" fmla="*/ 0 h 677163"/>
              <a:gd name="connsiteX1" fmla="*/ 706646 w 706646"/>
              <a:gd name="connsiteY1" fmla="*/ 331470 h 677163"/>
              <a:gd name="connsiteX2" fmla="*/ 0 w 706646"/>
              <a:gd name="connsiteY2" fmla="*/ 677163 h 677163"/>
              <a:gd name="connsiteX0" fmla="*/ 9416 w 704282"/>
              <a:gd name="connsiteY0" fmla="*/ 0 h 677163"/>
              <a:gd name="connsiteX1" fmla="*/ 704282 w 704282"/>
              <a:gd name="connsiteY1" fmla="*/ 323977 h 677163"/>
              <a:gd name="connsiteX2" fmla="*/ 0 w 704282"/>
              <a:gd name="connsiteY2" fmla="*/ 677163 h 677163"/>
              <a:gd name="connsiteX0" fmla="*/ 9416 w 371391"/>
              <a:gd name="connsiteY0" fmla="*/ 0 h 677163"/>
              <a:gd name="connsiteX1" fmla="*/ 371391 w 371391"/>
              <a:gd name="connsiteY1" fmla="*/ 350202 h 677163"/>
              <a:gd name="connsiteX2" fmla="*/ 0 w 371391"/>
              <a:gd name="connsiteY2" fmla="*/ 677163 h 677163"/>
              <a:gd name="connsiteX0" fmla="*/ 9416 w 759347"/>
              <a:gd name="connsiteY0" fmla="*/ 0 h 677163"/>
              <a:gd name="connsiteX1" fmla="*/ 759347 w 759347"/>
              <a:gd name="connsiteY1" fmla="*/ 342709 h 677163"/>
              <a:gd name="connsiteX2" fmla="*/ 0 w 759347"/>
              <a:gd name="connsiteY2" fmla="*/ 677163 h 677163"/>
            </a:gdLst>
            <a:ahLst/>
            <a:cxnLst>
              <a:cxn ang="0">
                <a:pos x="connsiteX0" y="connsiteY0"/>
              </a:cxn>
              <a:cxn ang="0">
                <a:pos x="connsiteX1" y="connsiteY1"/>
              </a:cxn>
              <a:cxn ang="0">
                <a:pos x="connsiteX2" y="connsiteY2"/>
              </a:cxn>
            </a:cxnLst>
            <a:rect l="l" t="t" r="r" b="b"/>
            <a:pathLst>
              <a:path w="759347" h="677163">
                <a:moveTo>
                  <a:pt x="9416" y="0"/>
                </a:moveTo>
                <a:lnTo>
                  <a:pt x="759347" y="342709"/>
                </a:lnTo>
                <a:lnTo>
                  <a:pt x="0" y="677163"/>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9" name="Freeform: Shape 8">
            <a:extLst>
              <a:ext uri="{FF2B5EF4-FFF2-40B4-BE49-F238E27FC236}">
                <a16:creationId xmlns:a16="http://schemas.microsoft.com/office/drawing/2014/main" id="{D367D133-A1C4-6160-270B-8EEC7786DF90}"/>
              </a:ext>
            </a:extLst>
          </p:cNvPr>
          <p:cNvSpPr/>
          <p:nvPr/>
        </p:nvSpPr>
        <p:spPr>
          <a:xfrm rot="699804">
            <a:off x="9196547" y="2452329"/>
            <a:ext cx="218969" cy="294541"/>
          </a:xfrm>
          <a:custGeom>
            <a:avLst/>
            <a:gdLst>
              <a:gd name="connsiteX0" fmla="*/ 0 w 697230"/>
              <a:gd name="connsiteY0" fmla="*/ 0 h 617220"/>
              <a:gd name="connsiteX1" fmla="*/ 697230 w 697230"/>
              <a:gd name="connsiteY1" fmla="*/ 331470 h 617220"/>
              <a:gd name="connsiteX2" fmla="*/ 68580 w 697230"/>
              <a:gd name="connsiteY2" fmla="*/ 617220 h 617220"/>
              <a:gd name="connsiteX3" fmla="*/ 68580 w 697230"/>
              <a:gd name="connsiteY3" fmla="*/ 617220 h 617220"/>
              <a:gd name="connsiteX0" fmla="*/ 14143 w 711373"/>
              <a:gd name="connsiteY0" fmla="*/ 0 h 617220"/>
              <a:gd name="connsiteX1" fmla="*/ 711373 w 711373"/>
              <a:gd name="connsiteY1" fmla="*/ 331470 h 617220"/>
              <a:gd name="connsiteX2" fmla="*/ 82723 w 711373"/>
              <a:gd name="connsiteY2" fmla="*/ 617220 h 617220"/>
              <a:gd name="connsiteX3" fmla="*/ 0 w 711373"/>
              <a:gd name="connsiteY3" fmla="*/ 306266 h 617220"/>
              <a:gd name="connsiteX0" fmla="*/ 0 w 697230"/>
              <a:gd name="connsiteY0" fmla="*/ 0 h 617220"/>
              <a:gd name="connsiteX1" fmla="*/ 697230 w 697230"/>
              <a:gd name="connsiteY1" fmla="*/ 331470 h 617220"/>
              <a:gd name="connsiteX2" fmla="*/ 68580 w 697230"/>
              <a:gd name="connsiteY2" fmla="*/ 617220 h 617220"/>
              <a:gd name="connsiteX0" fmla="*/ 9416 w 706646"/>
              <a:gd name="connsiteY0" fmla="*/ 0 h 677163"/>
              <a:gd name="connsiteX1" fmla="*/ 706646 w 706646"/>
              <a:gd name="connsiteY1" fmla="*/ 331470 h 677163"/>
              <a:gd name="connsiteX2" fmla="*/ 0 w 706646"/>
              <a:gd name="connsiteY2" fmla="*/ 677163 h 677163"/>
              <a:gd name="connsiteX0" fmla="*/ 9416 w 704282"/>
              <a:gd name="connsiteY0" fmla="*/ 0 h 677163"/>
              <a:gd name="connsiteX1" fmla="*/ 704282 w 704282"/>
              <a:gd name="connsiteY1" fmla="*/ 323977 h 677163"/>
              <a:gd name="connsiteX2" fmla="*/ 0 w 704282"/>
              <a:gd name="connsiteY2" fmla="*/ 677163 h 677163"/>
              <a:gd name="connsiteX0" fmla="*/ 9416 w 371391"/>
              <a:gd name="connsiteY0" fmla="*/ 0 h 677163"/>
              <a:gd name="connsiteX1" fmla="*/ 371391 w 371391"/>
              <a:gd name="connsiteY1" fmla="*/ 350202 h 677163"/>
              <a:gd name="connsiteX2" fmla="*/ 0 w 371391"/>
              <a:gd name="connsiteY2" fmla="*/ 677163 h 677163"/>
              <a:gd name="connsiteX0" fmla="*/ 9416 w 759347"/>
              <a:gd name="connsiteY0" fmla="*/ 0 h 677163"/>
              <a:gd name="connsiteX1" fmla="*/ 759347 w 759347"/>
              <a:gd name="connsiteY1" fmla="*/ 342709 h 677163"/>
              <a:gd name="connsiteX2" fmla="*/ 0 w 759347"/>
              <a:gd name="connsiteY2" fmla="*/ 677163 h 677163"/>
            </a:gdLst>
            <a:ahLst/>
            <a:cxnLst>
              <a:cxn ang="0">
                <a:pos x="connsiteX0" y="connsiteY0"/>
              </a:cxn>
              <a:cxn ang="0">
                <a:pos x="connsiteX1" y="connsiteY1"/>
              </a:cxn>
              <a:cxn ang="0">
                <a:pos x="connsiteX2" y="connsiteY2"/>
              </a:cxn>
            </a:cxnLst>
            <a:rect l="l" t="t" r="r" b="b"/>
            <a:pathLst>
              <a:path w="759347" h="677163">
                <a:moveTo>
                  <a:pt x="9416" y="0"/>
                </a:moveTo>
                <a:lnTo>
                  <a:pt x="759347" y="342709"/>
                </a:lnTo>
                <a:lnTo>
                  <a:pt x="0" y="677163"/>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Tree>
    <p:extLst>
      <p:ext uri="{BB962C8B-B14F-4D97-AF65-F5344CB8AC3E}">
        <p14:creationId xmlns:p14="http://schemas.microsoft.com/office/powerpoint/2010/main" val="974361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E0B81-1C4F-6918-9E5E-4F3646F2C9CE}"/>
            </a:ext>
          </a:extLst>
        </p:cNvPr>
        <p:cNvGrpSpPr/>
        <p:nvPr/>
      </p:nvGrpSpPr>
      <p:grpSpPr>
        <a:xfrm>
          <a:off x="0" y="0"/>
          <a:ext cx="0" cy="0"/>
          <a:chOff x="0" y="0"/>
          <a:chExt cx="0" cy="0"/>
        </a:xfrm>
      </p:grpSpPr>
      <p:sp>
        <p:nvSpPr>
          <p:cNvPr id="54274" name="Slide Number Placeholder 1">
            <a:extLst>
              <a:ext uri="{FF2B5EF4-FFF2-40B4-BE49-F238E27FC236}">
                <a16:creationId xmlns:a16="http://schemas.microsoft.com/office/drawing/2014/main" id="{E08CD6FA-B513-EDFA-D764-7CBF61F8B8FD}"/>
              </a:ext>
            </a:extLst>
          </p:cNvPr>
          <p:cNvSpPr>
            <a:spLocks noGrp="1"/>
          </p:cNvSpPr>
          <p:nvPr>
            <p:ph type="sldNum" sz="quarter" idx="12"/>
          </p:nvPr>
        </p:nvSpPr>
        <p:spPr>
          <a:xfrm>
            <a:off x="2209800" y="6248400"/>
            <a:ext cx="1905000" cy="457200"/>
          </a:xfrm>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eaLnBrk="1" hangingPunct="1"/>
            <a:fld id="{227E3644-EF05-42DC-BB86-41ED0309543B}" type="slidenum">
              <a:rPr lang="en-GB" altLang="en-US" sz="1400"/>
              <a:pPr algn="l" eaLnBrk="1" hangingPunct="1"/>
              <a:t>30</a:t>
            </a:fld>
            <a:endParaRPr lang="en-GB" altLang="en-US" sz="1400"/>
          </a:p>
        </p:txBody>
      </p:sp>
      <p:pic>
        <p:nvPicPr>
          <p:cNvPr id="76803" name="Picture 2" descr="Optic FibreFinal">
            <a:extLst>
              <a:ext uri="{FF2B5EF4-FFF2-40B4-BE49-F238E27FC236}">
                <a16:creationId xmlns:a16="http://schemas.microsoft.com/office/drawing/2014/main" id="{CF736925-511D-D186-78C0-288BB4FB4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32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Text Box 3">
            <a:extLst>
              <a:ext uri="{FF2B5EF4-FFF2-40B4-BE49-F238E27FC236}">
                <a16:creationId xmlns:a16="http://schemas.microsoft.com/office/drawing/2014/main" id="{D10F74A6-9B8B-81CC-5046-BE4A04BDF16C}"/>
              </a:ext>
            </a:extLst>
          </p:cNvPr>
          <p:cNvSpPr txBox="1">
            <a:spLocks noChangeArrowheads="1"/>
          </p:cNvSpPr>
          <p:nvPr/>
        </p:nvSpPr>
        <p:spPr bwMode="auto">
          <a:xfrm>
            <a:off x="1981200" y="304801"/>
            <a:ext cx="2133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IE" altLang="en-US" sz="2800" b="1">
                <a:solidFill>
                  <a:schemeClr val="hlink"/>
                </a:solidFill>
              </a:rPr>
              <a:t>Optic Fibre</a:t>
            </a:r>
            <a:endParaRPr lang="en-GB" altLang="en-US" sz="2800" b="1">
              <a:solidFill>
                <a:schemeClr val="hlink"/>
              </a:solidFill>
            </a:endParaRPr>
          </a:p>
        </p:txBody>
      </p:sp>
      <p:sp>
        <p:nvSpPr>
          <p:cNvPr id="76805" name="Line 4">
            <a:extLst>
              <a:ext uri="{FF2B5EF4-FFF2-40B4-BE49-F238E27FC236}">
                <a16:creationId xmlns:a16="http://schemas.microsoft.com/office/drawing/2014/main" id="{B776FA33-8C5F-20C9-6E45-DCF475616789}"/>
              </a:ext>
            </a:extLst>
          </p:cNvPr>
          <p:cNvSpPr>
            <a:spLocks noChangeShapeType="1"/>
          </p:cNvSpPr>
          <p:nvPr/>
        </p:nvSpPr>
        <p:spPr bwMode="auto">
          <a:xfrm flipV="1">
            <a:off x="8382000" y="2133600"/>
            <a:ext cx="76200" cy="1524000"/>
          </a:xfrm>
          <a:prstGeom prst="line">
            <a:avLst/>
          </a:prstGeom>
          <a:noFill/>
          <a:ln w="38100">
            <a:solidFill>
              <a:schemeClr val="hlink"/>
            </a:solidFill>
            <a:round/>
            <a:headEnd type="arrow" w="med" len="med"/>
            <a:tailEnd/>
          </a:ln>
          <a:extLst>
            <a:ext uri="{909E8E84-426E-40DD-AFC4-6F175D3DCCD1}">
              <a14:hiddenFill xmlns:a14="http://schemas.microsoft.com/office/drawing/2010/main">
                <a:noFill/>
              </a14:hiddenFill>
            </a:ext>
          </a:extLst>
        </p:spPr>
        <p:txBody>
          <a:bodyPr/>
          <a:lstStyle/>
          <a:p>
            <a:endParaRPr lang="en-IE"/>
          </a:p>
        </p:txBody>
      </p:sp>
      <p:sp>
        <p:nvSpPr>
          <p:cNvPr id="76806" name="Line 5">
            <a:extLst>
              <a:ext uri="{FF2B5EF4-FFF2-40B4-BE49-F238E27FC236}">
                <a16:creationId xmlns:a16="http://schemas.microsoft.com/office/drawing/2014/main" id="{38E1151D-D85B-C839-4C82-09C9F0ACD84B}"/>
              </a:ext>
            </a:extLst>
          </p:cNvPr>
          <p:cNvSpPr>
            <a:spLocks noChangeShapeType="1"/>
          </p:cNvSpPr>
          <p:nvPr/>
        </p:nvSpPr>
        <p:spPr bwMode="auto">
          <a:xfrm flipV="1">
            <a:off x="5715000" y="1524000"/>
            <a:ext cx="1219200" cy="1143000"/>
          </a:xfrm>
          <a:prstGeom prst="line">
            <a:avLst/>
          </a:prstGeom>
          <a:noFill/>
          <a:ln w="38100">
            <a:solidFill>
              <a:schemeClr val="hlink"/>
            </a:solidFill>
            <a:round/>
            <a:headEnd type="arrow" w="med" len="med"/>
            <a:tailEnd/>
          </a:ln>
          <a:extLst>
            <a:ext uri="{909E8E84-426E-40DD-AFC4-6F175D3DCCD1}">
              <a14:hiddenFill xmlns:a14="http://schemas.microsoft.com/office/drawing/2010/main">
                <a:noFill/>
              </a14:hiddenFill>
            </a:ext>
          </a:extLst>
        </p:spPr>
        <p:txBody>
          <a:bodyPr/>
          <a:lstStyle/>
          <a:p>
            <a:endParaRPr lang="en-IE"/>
          </a:p>
        </p:txBody>
      </p:sp>
      <p:sp>
        <p:nvSpPr>
          <p:cNvPr id="76807" name="Text Box 6">
            <a:extLst>
              <a:ext uri="{FF2B5EF4-FFF2-40B4-BE49-F238E27FC236}">
                <a16:creationId xmlns:a16="http://schemas.microsoft.com/office/drawing/2014/main" id="{A56B4508-907B-706E-CA94-6462E856583B}"/>
              </a:ext>
            </a:extLst>
          </p:cNvPr>
          <p:cNvSpPr txBox="1">
            <a:spLocks noChangeArrowheads="1"/>
          </p:cNvSpPr>
          <p:nvPr/>
        </p:nvSpPr>
        <p:spPr bwMode="auto">
          <a:xfrm>
            <a:off x="7848600" y="1371601"/>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IE" altLang="en-US">
                <a:solidFill>
                  <a:schemeClr val="bg1"/>
                </a:solidFill>
              </a:rPr>
              <a:t>Glass core of high refractive index</a:t>
            </a:r>
            <a:endParaRPr lang="en-GB" altLang="en-US">
              <a:solidFill>
                <a:schemeClr val="bg1"/>
              </a:solidFill>
            </a:endParaRPr>
          </a:p>
        </p:txBody>
      </p:sp>
      <p:sp>
        <p:nvSpPr>
          <p:cNvPr id="76808" name="Text Box 7">
            <a:extLst>
              <a:ext uri="{FF2B5EF4-FFF2-40B4-BE49-F238E27FC236}">
                <a16:creationId xmlns:a16="http://schemas.microsoft.com/office/drawing/2014/main" id="{70DBA5B8-E3D5-4314-6CB9-77FEF0559794}"/>
              </a:ext>
            </a:extLst>
          </p:cNvPr>
          <p:cNvSpPr txBox="1">
            <a:spLocks noChangeArrowheads="1"/>
          </p:cNvSpPr>
          <p:nvPr/>
        </p:nvSpPr>
        <p:spPr bwMode="auto">
          <a:xfrm>
            <a:off x="4419600" y="914401"/>
            <a:ext cx="28194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spcBef>
                <a:spcPct val="50000"/>
              </a:spcBef>
            </a:pPr>
            <a:r>
              <a:rPr lang="en-IE" altLang="en-US">
                <a:solidFill>
                  <a:schemeClr val="bg1"/>
                </a:solidFill>
              </a:rPr>
              <a:t>Glass cladding of low refractive index</a:t>
            </a:r>
            <a:endParaRPr lang="en-GB" altLang="en-US">
              <a:solidFill>
                <a:schemeClr val="bg1"/>
              </a:solidFill>
            </a:endParaRPr>
          </a:p>
        </p:txBody>
      </p:sp>
    </p:spTree>
    <p:extLst>
      <p:ext uri="{BB962C8B-B14F-4D97-AF65-F5344CB8AC3E}">
        <p14:creationId xmlns:p14="http://schemas.microsoft.com/office/powerpoint/2010/main" val="82243361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B04E5EE-64E5-DC4C-554E-ECAEBC42E1ED}"/>
              </a:ext>
            </a:extLst>
          </p:cNvPr>
          <p:cNvSpPr>
            <a:spLocks noGrp="1"/>
          </p:cNvSpPr>
          <p:nvPr>
            <p:ph type="title"/>
          </p:nvPr>
        </p:nvSpPr>
        <p:spPr/>
        <p:txBody>
          <a:bodyPr>
            <a:normAutofit fontScale="90000"/>
          </a:bodyPr>
          <a:lstStyle/>
          <a:p>
            <a:r>
              <a:rPr lang="en-GB" dirty="0"/>
              <a:t>Exercise</a:t>
            </a:r>
          </a:p>
        </p:txBody>
      </p:sp>
      <p:sp>
        <p:nvSpPr>
          <p:cNvPr id="4" name="Text Placeholder 3">
            <a:extLst>
              <a:ext uri="{FF2B5EF4-FFF2-40B4-BE49-F238E27FC236}">
                <a16:creationId xmlns:a16="http://schemas.microsoft.com/office/drawing/2014/main" id="{74E2E785-52FA-FC9F-E4BF-00DB444C8B35}"/>
              </a:ext>
            </a:extLst>
          </p:cNvPr>
          <p:cNvSpPr>
            <a:spLocks noGrp="1"/>
          </p:cNvSpPr>
          <p:nvPr>
            <p:ph type="body" sz="quarter" idx="10"/>
          </p:nvPr>
        </p:nvSpPr>
        <p:spPr>
          <a:xfrm>
            <a:off x="1646293" y="461664"/>
            <a:ext cx="8899415" cy="1255728"/>
          </a:xfrm>
        </p:spPr>
        <p:txBody>
          <a:bodyPr/>
          <a:lstStyle/>
          <a:p>
            <a:r>
              <a:rPr lang="en-IE" dirty="0"/>
              <a:t>The inner core and outer cladding of an optic fibre have refractive indices of 1.42 and 1.47 respectively. What is the Critical angle for light travelling in the core?</a:t>
            </a:r>
          </a:p>
        </p:txBody>
      </p:sp>
      <p:sp>
        <p:nvSpPr>
          <p:cNvPr id="6" name="TextBox 5">
            <a:extLst>
              <a:ext uri="{FF2B5EF4-FFF2-40B4-BE49-F238E27FC236}">
                <a16:creationId xmlns:a16="http://schemas.microsoft.com/office/drawing/2014/main" id="{A3E7BC5E-BE80-626D-5822-82C50300FCE4}"/>
              </a:ext>
            </a:extLst>
          </p:cNvPr>
          <p:cNvSpPr txBox="1"/>
          <p:nvPr/>
        </p:nvSpPr>
        <p:spPr>
          <a:xfrm>
            <a:off x="9499600" y="6211670"/>
            <a:ext cx="1046108" cy="369332"/>
          </a:xfrm>
          <a:prstGeom prst="rect">
            <a:avLst/>
          </a:prstGeom>
          <a:noFill/>
        </p:spPr>
        <p:txBody>
          <a:bodyPr wrap="square">
            <a:spAutoFit/>
          </a:bodyPr>
          <a:lstStyle/>
          <a:p>
            <a:r>
              <a:rPr lang="en-IE" dirty="0"/>
              <a:t>75.01</a:t>
            </a:r>
            <a:r>
              <a:rPr lang="en-IE" baseline="30000" dirty="0"/>
              <a:t>o</a:t>
            </a:r>
          </a:p>
        </p:txBody>
      </p:sp>
      <p:grpSp>
        <p:nvGrpSpPr>
          <p:cNvPr id="19" name="Group 18">
            <a:extLst>
              <a:ext uri="{FF2B5EF4-FFF2-40B4-BE49-F238E27FC236}">
                <a16:creationId xmlns:a16="http://schemas.microsoft.com/office/drawing/2014/main" id="{6F0AA080-F384-DE1E-978F-F6115E229916}"/>
              </a:ext>
            </a:extLst>
          </p:cNvPr>
          <p:cNvGrpSpPr/>
          <p:nvPr/>
        </p:nvGrpSpPr>
        <p:grpSpPr>
          <a:xfrm>
            <a:off x="4066236" y="2006601"/>
            <a:ext cx="5956418" cy="1175610"/>
            <a:chOff x="-884863" y="2006600"/>
            <a:chExt cx="9597063" cy="1894159"/>
          </a:xfrm>
        </p:grpSpPr>
        <p:sp>
          <p:nvSpPr>
            <p:cNvPr id="7" name="Freeform: Shape 6">
              <a:extLst>
                <a:ext uri="{FF2B5EF4-FFF2-40B4-BE49-F238E27FC236}">
                  <a16:creationId xmlns:a16="http://schemas.microsoft.com/office/drawing/2014/main" id="{B29FEACA-8A9C-6ED3-6449-54F93C6A0B34}"/>
                </a:ext>
              </a:extLst>
            </p:cNvPr>
            <p:cNvSpPr/>
            <p:nvPr/>
          </p:nvSpPr>
          <p:spPr>
            <a:xfrm>
              <a:off x="2730501" y="2006600"/>
              <a:ext cx="5728284" cy="1422400"/>
            </a:xfrm>
            <a:custGeom>
              <a:avLst/>
              <a:gdLst>
                <a:gd name="connsiteX0" fmla="*/ 38100 w 5740400"/>
                <a:gd name="connsiteY0" fmla="*/ 0 h 1422400"/>
                <a:gd name="connsiteX1" fmla="*/ 5511800 w 5740400"/>
                <a:gd name="connsiteY1" fmla="*/ 0 h 1422400"/>
                <a:gd name="connsiteX2" fmla="*/ 5740400 w 5740400"/>
                <a:gd name="connsiteY2" fmla="*/ 762000 h 1422400"/>
                <a:gd name="connsiteX3" fmla="*/ 5537200 w 5740400"/>
                <a:gd name="connsiteY3" fmla="*/ 1384300 h 1422400"/>
                <a:gd name="connsiteX4" fmla="*/ 0 w 5740400"/>
                <a:gd name="connsiteY4" fmla="*/ 1422400 h 1422400"/>
                <a:gd name="connsiteX0" fmla="*/ 38100 w 5740400"/>
                <a:gd name="connsiteY0" fmla="*/ 0 h 1422400"/>
                <a:gd name="connsiteX1" fmla="*/ 5511800 w 5740400"/>
                <a:gd name="connsiteY1" fmla="*/ 0 h 1422400"/>
                <a:gd name="connsiteX2" fmla="*/ 5740400 w 5740400"/>
                <a:gd name="connsiteY2" fmla="*/ 762000 h 1422400"/>
                <a:gd name="connsiteX3" fmla="*/ 5537200 w 5740400"/>
                <a:gd name="connsiteY3" fmla="*/ 1384300 h 1422400"/>
                <a:gd name="connsiteX4" fmla="*/ 0 w 5740400"/>
                <a:gd name="connsiteY4" fmla="*/ 1422400 h 1422400"/>
                <a:gd name="connsiteX0" fmla="*/ 38100 w 5715000"/>
                <a:gd name="connsiteY0" fmla="*/ 0 h 1422400"/>
                <a:gd name="connsiteX1" fmla="*/ 5511800 w 5715000"/>
                <a:gd name="connsiteY1" fmla="*/ 0 h 1422400"/>
                <a:gd name="connsiteX2" fmla="*/ 5715000 w 5715000"/>
                <a:gd name="connsiteY2" fmla="*/ 685800 h 1422400"/>
                <a:gd name="connsiteX3" fmla="*/ 5537200 w 5715000"/>
                <a:gd name="connsiteY3" fmla="*/ 1384300 h 1422400"/>
                <a:gd name="connsiteX4" fmla="*/ 0 w 5715000"/>
                <a:gd name="connsiteY4" fmla="*/ 1422400 h 1422400"/>
                <a:gd name="connsiteX0" fmla="*/ 38100 w 5715000"/>
                <a:gd name="connsiteY0" fmla="*/ 0 h 1422400"/>
                <a:gd name="connsiteX1" fmla="*/ 5511800 w 5715000"/>
                <a:gd name="connsiteY1" fmla="*/ 0 h 1422400"/>
                <a:gd name="connsiteX2" fmla="*/ 5715000 w 5715000"/>
                <a:gd name="connsiteY2" fmla="*/ 685800 h 1422400"/>
                <a:gd name="connsiteX3" fmla="*/ 5537200 w 5715000"/>
                <a:gd name="connsiteY3" fmla="*/ 1384300 h 1422400"/>
                <a:gd name="connsiteX4" fmla="*/ 0 w 5715000"/>
                <a:gd name="connsiteY4" fmla="*/ 1422400 h 1422400"/>
                <a:gd name="connsiteX0" fmla="*/ 38100 w 5718281"/>
                <a:gd name="connsiteY0" fmla="*/ 0 h 1422400"/>
                <a:gd name="connsiteX1" fmla="*/ 5511800 w 5718281"/>
                <a:gd name="connsiteY1" fmla="*/ 0 h 1422400"/>
                <a:gd name="connsiteX2" fmla="*/ 5715000 w 5718281"/>
                <a:gd name="connsiteY2" fmla="*/ 685800 h 1422400"/>
                <a:gd name="connsiteX3" fmla="*/ 5613400 w 5718281"/>
                <a:gd name="connsiteY3" fmla="*/ 1409700 h 1422400"/>
                <a:gd name="connsiteX4" fmla="*/ 0 w 5718281"/>
                <a:gd name="connsiteY4" fmla="*/ 1422400 h 1422400"/>
                <a:gd name="connsiteX0" fmla="*/ 38100 w 5728284"/>
                <a:gd name="connsiteY0" fmla="*/ 0 h 1422400"/>
                <a:gd name="connsiteX1" fmla="*/ 5511800 w 5728284"/>
                <a:gd name="connsiteY1" fmla="*/ 0 h 1422400"/>
                <a:gd name="connsiteX2" fmla="*/ 5715000 w 5728284"/>
                <a:gd name="connsiteY2" fmla="*/ 685800 h 1422400"/>
                <a:gd name="connsiteX3" fmla="*/ 5613400 w 5728284"/>
                <a:gd name="connsiteY3" fmla="*/ 1409700 h 1422400"/>
                <a:gd name="connsiteX4" fmla="*/ 0 w 5728284"/>
                <a:gd name="connsiteY4" fmla="*/ 1422400 h 1422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28284" h="1422400">
                  <a:moveTo>
                    <a:pt x="38100" y="0"/>
                  </a:moveTo>
                  <a:lnTo>
                    <a:pt x="5511800" y="0"/>
                  </a:lnTo>
                  <a:cubicBezTo>
                    <a:pt x="5651500" y="165100"/>
                    <a:pt x="5698067" y="450850"/>
                    <a:pt x="5715000" y="685800"/>
                  </a:cubicBezTo>
                  <a:cubicBezTo>
                    <a:pt x="5731933" y="920750"/>
                    <a:pt x="5757333" y="1202267"/>
                    <a:pt x="5613400" y="1409700"/>
                  </a:cubicBezTo>
                  <a:lnTo>
                    <a:pt x="0" y="1422400"/>
                  </a:lnTo>
                </a:path>
              </a:pathLst>
            </a:cu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Oval 7">
              <a:extLst>
                <a:ext uri="{FF2B5EF4-FFF2-40B4-BE49-F238E27FC236}">
                  <a16:creationId xmlns:a16="http://schemas.microsoft.com/office/drawing/2014/main" id="{00C5FBD3-7652-F7DF-5399-0A03B52170A4}"/>
                </a:ext>
              </a:extLst>
            </p:cNvPr>
            <p:cNvSpPr/>
            <p:nvPr/>
          </p:nvSpPr>
          <p:spPr>
            <a:xfrm>
              <a:off x="2514600" y="2019039"/>
              <a:ext cx="508000" cy="1403048"/>
            </a:xfrm>
            <a:prstGeom prst="ellipse">
              <a:avLst/>
            </a:prstGeom>
            <a:solidFill>
              <a:schemeClr val="bg2"/>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a:extLst>
                <a:ext uri="{FF2B5EF4-FFF2-40B4-BE49-F238E27FC236}">
                  <a16:creationId xmlns:a16="http://schemas.microsoft.com/office/drawing/2014/main" id="{75718211-53EF-5FF6-C9AB-3A48056E83DB}"/>
                </a:ext>
              </a:extLst>
            </p:cNvPr>
            <p:cNvSpPr/>
            <p:nvPr/>
          </p:nvSpPr>
          <p:spPr>
            <a:xfrm>
              <a:off x="2641600" y="2374900"/>
              <a:ext cx="266700" cy="736600"/>
            </a:xfrm>
            <a:prstGeom prst="ellipse">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CECBE5C6-2E9C-E6CB-9A8F-04FB871C841B}"/>
                </a:ext>
              </a:extLst>
            </p:cNvPr>
            <p:cNvSpPr txBox="1"/>
            <p:nvPr/>
          </p:nvSpPr>
          <p:spPr>
            <a:xfrm>
              <a:off x="-884863" y="2219981"/>
              <a:ext cx="3113706" cy="843020"/>
            </a:xfrm>
            <a:prstGeom prst="rect">
              <a:avLst/>
            </a:prstGeom>
            <a:noFill/>
          </p:spPr>
          <p:txBody>
            <a:bodyPr wrap="square" rtlCol="0">
              <a:spAutoFit/>
            </a:bodyPr>
            <a:lstStyle/>
            <a:p>
              <a:pPr>
                <a:spcAft>
                  <a:spcPts val="1200"/>
                </a:spcAft>
              </a:pPr>
              <a:r>
                <a:rPr lang="en-GB" sz="2800" dirty="0">
                  <a:latin typeface="Arial" panose="020B0604020202020204" pitchFamily="34" charset="0"/>
                  <a:cs typeface="Arial" panose="020B0604020202020204" pitchFamily="34" charset="0"/>
                </a:rPr>
                <a:t>Inner core</a:t>
              </a:r>
            </a:p>
          </p:txBody>
        </p:sp>
        <p:sp>
          <p:nvSpPr>
            <p:cNvPr id="11" name="TextBox 10">
              <a:extLst>
                <a:ext uri="{FF2B5EF4-FFF2-40B4-BE49-F238E27FC236}">
                  <a16:creationId xmlns:a16="http://schemas.microsoft.com/office/drawing/2014/main" id="{991942FA-AB28-CEA8-7882-16173DB912D9}"/>
                </a:ext>
              </a:extLst>
            </p:cNvPr>
            <p:cNvSpPr txBox="1"/>
            <p:nvPr/>
          </p:nvSpPr>
          <p:spPr>
            <a:xfrm>
              <a:off x="-884863" y="3057740"/>
              <a:ext cx="2715566" cy="843019"/>
            </a:xfrm>
            <a:prstGeom prst="rect">
              <a:avLst/>
            </a:prstGeom>
            <a:noFill/>
          </p:spPr>
          <p:txBody>
            <a:bodyPr wrap="square" rtlCol="0">
              <a:spAutoFit/>
            </a:bodyPr>
            <a:lstStyle/>
            <a:p>
              <a:pPr>
                <a:spcAft>
                  <a:spcPts val="1200"/>
                </a:spcAft>
              </a:pPr>
              <a:r>
                <a:rPr lang="en-GB" sz="2800" dirty="0">
                  <a:latin typeface="Arial" panose="020B0604020202020204" pitchFamily="34" charset="0"/>
                  <a:cs typeface="Arial" panose="020B0604020202020204" pitchFamily="34" charset="0"/>
                </a:rPr>
                <a:t>Cladding</a:t>
              </a:r>
            </a:p>
          </p:txBody>
        </p:sp>
        <p:cxnSp>
          <p:nvCxnSpPr>
            <p:cNvPr id="12" name="Straight Arrow Connector 11">
              <a:extLst>
                <a:ext uri="{FF2B5EF4-FFF2-40B4-BE49-F238E27FC236}">
                  <a16:creationId xmlns:a16="http://schemas.microsoft.com/office/drawing/2014/main" id="{916B5DF0-8D9D-9403-063C-E4F713BCED63}"/>
                </a:ext>
              </a:extLst>
            </p:cNvPr>
            <p:cNvCxnSpPr>
              <a:cxnSpLocks/>
            </p:cNvCxnSpPr>
            <p:nvPr/>
          </p:nvCxnSpPr>
          <p:spPr>
            <a:xfrm>
              <a:off x="2084701" y="2743200"/>
              <a:ext cx="696599" cy="0"/>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F07C25F0-DB08-FBBB-2CBA-B30E188A936B}"/>
                </a:ext>
              </a:extLst>
            </p:cNvPr>
            <p:cNvCxnSpPr>
              <a:cxnSpLocks/>
              <a:endCxn id="8" idx="3"/>
            </p:cNvCxnSpPr>
            <p:nvPr/>
          </p:nvCxnSpPr>
          <p:spPr>
            <a:xfrm flipV="1">
              <a:off x="1945002" y="3216615"/>
              <a:ext cx="643993" cy="205472"/>
            </a:xfrm>
            <a:prstGeom prst="straightConnector1">
              <a:avLst/>
            </a:prstGeom>
            <a:ln w="28575">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70894573-AF28-6F40-6EF1-A7B34AF09391}"/>
                </a:ext>
              </a:extLst>
            </p:cNvPr>
            <p:cNvCxnSpPr>
              <a:stCxn id="9" idx="0"/>
            </p:cNvCxnSpPr>
            <p:nvPr/>
          </p:nvCxnSpPr>
          <p:spPr>
            <a:xfrm>
              <a:off x="2774950" y="2374900"/>
              <a:ext cx="5416550" cy="0"/>
            </a:xfrm>
            <a:prstGeom prst="line">
              <a:avLst/>
            </a:prstGeom>
            <a:ln w="28575">
              <a:solidFill>
                <a:schemeClr val="tx1"/>
              </a:solidFill>
              <a:prstDash val="dash"/>
              <a:tailEnd type="none" w="med" len="lg"/>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04DF3904-11D0-5C2F-3908-7C3BB807F33F}"/>
                </a:ext>
              </a:extLst>
            </p:cNvPr>
            <p:cNvCxnSpPr/>
            <p:nvPr/>
          </p:nvCxnSpPr>
          <p:spPr>
            <a:xfrm>
              <a:off x="2768600" y="3111500"/>
              <a:ext cx="5416550" cy="0"/>
            </a:xfrm>
            <a:prstGeom prst="line">
              <a:avLst/>
            </a:prstGeom>
            <a:ln w="28575">
              <a:solidFill>
                <a:schemeClr val="tx1"/>
              </a:solidFill>
              <a:prstDash val="dash"/>
              <a:tailEnd type="none" w="med" len="lg"/>
            </a:ln>
          </p:spPr>
          <p:style>
            <a:lnRef idx="2">
              <a:schemeClr val="accent1"/>
            </a:lnRef>
            <a:fillRef idx="0">
              <a:schemeClr val="accent1"/>
            </a:fillRef>
            <a:effectRef idx="1">
              <a:schemeClr val="accent1"/>
            </a:effectRef>
            <a:fontRef idx="minor">
              <a:schemeClr val="tx1"/>
            </a:fontRef>
          </p:style>
        </p:cxnSp>
        <p:sp>
          <p:nvSpPr>
            <p:cNvPr id="16" name="Freeform: Shape 15">
              <a:extLst>
                <a:ext uri="{FF2B5EF4-FFF2-40B4-BE49-F238E27FC236}">
                  <a16:creationId xmlns:a16="http://schemas.microsoft.com/office/drawing/2014/main" id="{1F66C309-2B6C-5282-B02E-340DFD8A2682}"/>
                </a:ext>
              </a:extLst>
            </p:cNvPr>
            <p:cNvSpPr/>
            <p:nvPr/>
          </p:nvSpPr>
          <p:spPr>
            <a:xfrm>
              <a:off x="2781300" y="2387600"/>
              <a:ext cx="5930900" cy="355600"/>
            </a:xfrm>
            <a:custGeom>
              <a:avLst/>
              <a:gdLst>
                <a:gd name="connsiteX0" fmla="*/ 0 w 5930900"/>
                <a:gd name="connsiteY0" fmla="*/ 355600 h 355600"/>
                <a:gd name="connsiteX1" fmla="*/ 3340100 w 5930900"/>
                <a:gd name="connsiteY1" fmla="*/ 0 h 355600"/>
                <a:gd name="connsiteX2" fmla="*/ 5930900 w 5930900"/>
                <a:gd name="connsiteY2" fmla="*/ 342900 h 355600"/>
              </a:gdLst>
              <a:ahLst/>
              <a:cxnLst>
                <a:cxn ang="0">
                  <a:pos x="connsiteX0" y="connsiteY0"/>
                </a:cxn>
                <a:cxn ang="0">
                  <a:pos x="connsiteX1" y="connsiteY1"/>
                </a:cxn>
                <a:cxn ang="0">
                  <a:pos x="connsiteX2" y="connsiteY2"/>
                </a:cxn>
              </a:cxnLst>
              <a:rect l="l" t="t" r="r" b="b"/>
              <a:pathLst>
                <a:path w="5930900" h="355600">
                  <a:moveTo>
                    <a:pt x="0" y="355600"/>
                  </a:moveTo>
                  <a:lnTo>
                    <a:pt x="3340100" y="0"/>
                  </a:lnTo>
                  <a:lnTo>
                    <a:pt x="5930900" y="342900"/>
                  </a:lnTo>
                </a:path>
              </a:pathLst>
            </a:cu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Freeform: Shape 16">
              <a:extLst>
                <a:ext uri="{FF2B5EF4-FFF2-40B4-BE49-F238E27FC236}">
                  <a16:creationId xmlns:a16="http://schemas.microsoft.com/office/drawing/2014/main" id="{C5187662-C67B-6824-98DF-2CF98597855D}"/>
                </a:ext>
              </a:extLst>
            </p:cNvPr>
            <p:cNvSpPr/>
            <p:nvPr/>
          </p:nvSpPr>
          <p:spPr>
            <a:xfrm rot="21007098">
              <a:off x="4116546" y="2452329"/>
              <a:ext cx="218969" cy="294541"/>
            </a:xfrm>
            <a:custGeom>
              <a:avLst/>
              <a:gdLst>
                <a:gd name="connsiteX0" fmla="*/ 0 w 697230"/>
                <a:gd name="connsiteY0" fmla="*/ 0 h 617220"/>
                <a:gd name="connsiteX1" fmla="*/ 697230 w 697230"/>
                <a:gd name="connsiteY1" fmla="*/ 331470 h 617220"/>
                <a:gd name="connsiteX2" fmla="*/ 68580 w 697230"/>
                <a:gd name="connsiteY2" fmla="*/ 617220 h 617220"/>
                <a:gd name="connsiteX3" fmla="*/ 68580 w 697230"/>
                <a:gd name="connsiteY3" fmla="*/ 617220 h 617220"/>
                <a:gd name="connsiteX0" fmla="*/ 14143 w 711373"/>
                <a:gd name="connsiteY0" fmla="*/ 0 h 617220"/>
                <a:gd name="connsiteX1" fmla="*/ 711373 w 711373"/>
                <a:gd name="connsiteY1" fmla="*/ 331470 h 617220"/>
                <a:gd name="connsiteX2" fmla="*/ 82723 w 711373"/>
                <a:gd name="connsiteY2" fmla="*/ 617220 h 617220"/>
                <a:gd name="connsiteX3" fmla="*/ 0 w 711373"/>
                <a:gd name="connsiteY3" fmla="*/ 306266 h 617220"/>
                <a:gd name="connsiteX0" fmla="*/ 0 w 697230"/>
                <a:gd name="connsiteY0" fmla="*/ 0 h 617220"/>
                <a:gd name="connsiteX1" fmla="*/ 697230 w 697230"/>
                <a:gd name="connsiteY1" fmla="*/ 331470 h 617220"/>
                <a:gd name="connsiteX2" fmla="*/ 68580 w 697230"/>
                <a:gd name="connsiteY2" fmla="*/ 617220 h 617220"/>
                <a:gd name="connsiteX0" fmla="*/ 9416 w 706646"/>
                <a:gd name="connsiteY0" fmla="*/ 0 h 677163"/>
                <a:gd name="connsiteX1" fmla="*/ 706646 w 706646"/>
                <a:gd name="connsiteY1" fmla="*/ 331470 h 677163"/>
                <a:gd name="connsiteX2" fmla="*/ 0 w 706646"/>
                <a:gd name="connsiteY2" fmla="*/ 677163 h 677163"/>
                <a:gd name="connsiteX0" fmla="*/ 9416 w 704282"/>
                <a:gd name="connsiteY0" fmla="*/ 0 h 677163"/>
                <a:gd name="connsiteX1" fmla="*/ 704282 w 704282"/>
                <a:gd name="connsiteY1" fmla="*/ 323977 h 677163"/>
                <a:gd name="connsiteX2" fmla="*/ 0 w 704282"/>
                <a:gd name="connsiteY2" fmla="*/ 677163 h 677163"/>
                <a:gd name="connsiteX0" fmla="*/ 9416 w 371391"/>
                <a:gd name="connsiteY0" fmla="*/ 0 h 677163"/>
                <a:gd name="connsiteX1" fmla="*/ 371391 w 371391"/>
                <a:gd name="connsiteY1" fmla="*/ 350202 h 677163"/>
                <a:gd name="connsiteX2" fmla="*/ 0 w 371391"/>
                <a:gd name="connsiteY2" fmla="*/ 677163 h 677163"/>
                <a:gd name="connsiteX0" fmla="*/ 9416 w 759347"/>
                <a:gd name="connsiteY0" fmla="*/ 0 h 677163"/>
                <a:gd name="connsiteX1" fmla="*/ 759347 w 759347"/>
                <a:gd name="connsiteY1" fmla="*/ 342709 h 677163"/>
                <a:gd name="connsiteX2" fmla="*/ 0 w 759347"/>
                <a:gd name="connsiteY2" fmla="*/ 677163 h 677163"/>
              </a:gdLst>
              <a:ahLst/>
              <a:cxnLst>
                <a:cxn ang="0">
                  <a:pos x="connsiteX0" y="connsiteY0"/>
                </a:cxn>
                <a:cxn ang="0">
                  <a:pos x="connsiteX1" y="connsiteY1"/>
                </a:cxn>
                <a:cxn ang="0">
                  <a:pos x="connsiteX2" y="connsiteY2"/>
                </a:cxn>
              </a:cxnLst>
              <a:rect l="l" t="t" r="r" b="b"/>
              <a:pathLst>
                <a:path w="759347" h="677163">
                  <a:moveTo>
                    <a:pt x="9416" y="0"/>
                  </a:moveTo>
                  <a:lnTo>
                    <a:pt x="759347" y="342709"/>
                  </a:lnTo>
                  <a:lnTo>
                    <a:pt x="0" y="677163"/>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18" name="Freeform: Shape 17">
              <a:extLst>
                <a:ext uri="{FF2B5EF4-FFF2-40B4-BE49-F238E27FC236}">
                  <a16:creationId xmlns:a16="http://schemas.microsoft.com/office/drawing/2014/main" id="{58F4DD03-AC3A-EFE9-15D6-9A145FCA8341}"/>
                </a:ext>
              </a:extLst>
            </p:cNvPr>
            <p:cNvSpPr/>
            <p:nvPr/>
          </p:nvSpPr>
          <p:spPr>
            <a:xfrm rot="699804">
              <a:off x="7672546" y="2452328"/>
              <a:ext cx="218969" cy="294541"/>
            </a:xfrm>
            <a:custGeom>
              <a:avLst/>
              <a:gdLst>
                <a:gd name="connsiteX0" fmla="*/ 0 w 697230"/>
                <a:gd name="connsiteY0" fmla="*/ 0 h 617220"/>
                <a:gd name="connsiteX1" fmla="*/ 697230 w 697230"/>
                <a:gd name="connsiteY1" fmla="*/ 331470 h 617220"/>
                <a:gd name="connsiteX2" fmla="*/ 68580 w 697230"/>
                <a:gd name="connsiteY2" fmla="*/ 617220 h 617220"/>
                <a:gd name="connsiteX3" fmla="*/ 68580 w 697230"/>
                <a:gd name="connsiteY3" fmla="*/ 617220 h 617220"/>
                <a:gd name="connsiteX0" fmla="*/ 14143 w 711373"/>
                <a:gd name="connsiteY0" fmla="*/ 0 h 617220"/>
                <a:gd name="connsiteX1" fmla="*/ 711373 w 711373"/>
                <a:gd name="connsiteY1" fmla="*/ 331470 h 617220"/>
                <a:gd name="connsiteX2" fmla="*/ 82723 w 711373"/>
                <a:gd name="connsiteY2" fmla="*/ 617220 h 617220"/>
                <a:gd name="connsiteX3" fmla="*/ 0 w 711373"/>
                <a:gd name="connsiteY3" fmla="*/ 306266 h 617220"/>
                <a:gd name="connsiteX0" fmla="*/ 0 w 697230"/>
                <a:gd name="connsiteY0" fmla="*/ 0 h 617220"/>
                <a:gd name="connsiteX1" fmla="*/ 697230 w 697230"/>
                <a:gd name="connsiteY1" fmla="*/ 331470 h 617220"/>
                <a:gd name="connsiteX2" fmla="*/ 68580 w 697230"/>
                <a:gd name="connsiteY2" fmla="*/ 617220 h 617220"/>
                <a:gd name="connsiteX0" fmla="*/ 9416 w 706646"/>
                <a:gd name="connsiteY0" fmla="*/ 0 h 677163"/>
                <a:gd name="connsiteX1" fmla="*/ 706646 w 706646"/>
                <a:gd name="connsiteY1" fmla="*/ 331470 h 677163"/>
                <a:gd name="connsiteX2" fmla="*/ 0 w 706646"/>
                <a:gd name="connsiteY2" fmla="*/ 677163 h 677163"/>
                <a:gd name="connsiteX0" fmla="*/ 9416 w 704282"/>
                <a:gd name="connsiteY0" fmla="*/ 0 h 677163"/>
                <a:gd name="connsiteX1" fmla="*/ 704282 w 704282"/>
                <a:gd name="connsiteY1" fmla="*/ 323977 h 677163"/>
                <a:gd name="connsiteX2" fmla="*/ 0 w 704282"/>
                <a:gd name="connsiteY2" fmla="*/ 677163 h 677163"/>
                <a:gd name="connsiteX0" fmla="*/ 9416 w 371391"/>
                <a:gd name="connsiteY0" fmla="*/ 0 h 677163"/>
                <a:gd name="connsiteX1" fmla="*/ 371391 w 371391"/>
                <a:gd name="connsiteY1" fmla="*/ 350202 h 677163"/>
                <a:gd name="connsiteX2" fmla="*/ 0 w 371391"/>
                <a:gd name="connsiteY2" fmla="*/ 677163 h 677163"/>
                <a:gd name="connsiteX0" fmla="*/ 9416 w 759347"/>
                <a:gd name="connsiteY0" fmla="*/ 0 h 677163"/>
                <a:gd name="connsiteX1" fmla="*/ 759347 w 759347"/>
                <a:gd name="connsiteY1" fmla="*/ 342709 h 677163"/>
                <a:gd name="connsiteX2" fmla="*/ 0 w 759347"/>
                <a:gd name="connsiteY2" fmla="*/ 677163 h 677163"/>
              </a:gdLst>
              <a:ahLst/>
              <a:cxnLst>
                <a:cxn ang="0">
                  <a:pos x="connsiteX0" y="connsiteY0"/>
                </a:cxn>
                <a:cxn ang="0">
                  <a:pos x="connsiteX1" y="connsiteY1"/>
                </a:cxn>
                <a:cxn ang="0">
                  <a:pos x="connsiteX2" y="connsiteY2"/>
                </a:cxn>
              </a:cxnLst>
              <a:rect l="l" t="t" r="r" b="b"/>
              <a:pathLst>
                <a:path w="759347" h="677163">
                  <a:moveTo>
                    <a:pt x="9416" y="0"/>
                  </a:moveTo>
                  <a:lnTo>
                    <a:pt x="759347" y="342709"/>
                  </a:lnTo>
                  <a:lnTo>
                    <a:pt x="0" y="677163"/>
                  </a:lnTo>
                </a:path>
              </a:pathLst>
            </a:cu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grpSp>
    </p:spTree>
    <p:extLst>
      <p:ext uri="{BB962C8B-B14F-4D97-AF65-F5344CB8AC3E}">
        <p14:creationId xmlns:p14="http://schemas.microsoft.com/office/powerpoint/2010/main" val="396455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2" name="Picture 1">
            <a:extLst>
              <a:ext uri="{FF2B5EF4-FFF2-40B4-BE49-F238E27FC236}">
                <a16:creationId xmlns:a16="http://schemas.microsoft.com/office/drawing/2014/main" id="{17898BA7-2D25-DCD3-BDB0-3240A94C717D}"/>
              </a:ext>
            </a:extLst>
          </p:cNvPr>
          <p:cNvPicPr>
            <a:picLocks noChangeAspect="1"/>
          </p:cNvPicPr>
          <p:nvPr/>
        </p:nvPicPr>
        <p:blipFill>
          <a:blip r:embed="rId2"/>
          <a:srcRect t="19"/>
          <a:stretch>
            <a:fillRect/>
          </a:stretch>
        </p:blipFill>
        <p:spPr>
          <a:xfrm>
            <a:off x="20" y="1282"/>
            <a:ext cx="12191980" cy="6856718"/>
          </a:xfrm>
          <a:prstGeom prst="rect">
            <a:avLst/>
          </a:prstGeom>
        </p:spPr>
      </p:pic>
    </p:spTree>
    <p:extLst>
      <p:ext uri="{BB962C8B-B14F-4D97-AF65-F5344CB8AC3E}">
        <p14:creationId xmlns:p14="http://schemas.microsoft.com/office/powerpoint/2010/main" val="19446879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DAAE396-ADE6-91A0-8B92-66BE8D648C03}"/>
              </a:ext>
            </a:extLst>
          </p:cNvPr>
          <p:cNvPicPr>
            <a:picLocks noChangeAspect="1"/>
          </p:cNvPicPr>
          <p:nvPr/>
        </p:nvPicPr>
        <p:blipFill>
          <a:blip r:embed="rId2"/>
          <a:stretch>
            <a:fillRect/>
          </a:stretch>
        </p:blipFill>
        <p:spPr>
          <a:xfrm>
            <a:off x="2239675" y="857250"/>
            <a:ext cx="7716194" cy="5143500"/>
          </a:xfrm>
          <a:prstGeom prst="rect">
            <a:avLst/>
          </a:prstGeom>
        </p:spPr>
      </p:pic>
    </p:spTree>
    <p:extLst>
      <p:ext uri="{BB962C8B-B14F-4D97-AF65-F5344CB8AC3E}">
        <p14:creationId xmlns:p14="http://schemas.microsoft.com/office/powerpoint/2010/main" val="17429332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800" name="Rectangle 33799">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DA662803-FF28-DE99-7324-419D9429DBDE}"/>
              </a:ext>
            </a:extLst>
          </p:cNvPr>
          <p:cNvPicPr>
            <a:picLocks noChangeAspect="1"/>
          </p:cNvPicPr>
          <p:nvPr/>
        </p:nvPicPr>
        <p:blipFill>
          <a:blip r:embed="rId2"/>
          <a:srcRect r="2778" b="1"/>
          <a:stretch>
            <a:fillRect/>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33802" name="Freeform: Shape 33801">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804" name="Freeform: Shape 33803">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795" name="Text Box 6">
            <a:extLst>
              <a:ext uri="{FF2B5EF4-FFF2-40B4-BE49-F238E27FC236}">
                <a16:creationId xmlns:a16="http://schemas.microsoft.com/office/drawing/2014/main" id="{E262C240-5D06-98CB-BE3E-2311B603C1FD}"/>
              </a:ext>
            </a:extLst>
          </p:cNvPr>
          <p:cNvSpPr txBox="1">
            <a:spLocks noChangeArrowheads="1"/>
          </p:cNvSpPr>
          <p:nvPr/>
        </p:nvSpPr>
        <p:spPr bwMode="auto">
          <a:xfrm>
            <a:off x="477981" y="1122363"/>
            <a:ext cx="4023360" cy="3204134"/>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0"/>
              </a:spcBef>
              <a:spcAft>
                <a:spcPts val="600"/>
              </a:spcAft>
            </a:pPr>
            <a:r>
              <a:rPr lang="en-US" altLang="en-US" sz="4800" b="1">
                <a:latin typeface="+mj-lt"/>
                <a:ea typeface="+mj-ea"/>
                <a:cs typeface="+mj-cs"/>
              </a:rPr>
              <a:t>Endoscopic Image of a Human Foetus</a:t>
            </a:r>
          </a:p>
        </p:txBody>
      </p:sp>
      <p:sp>
        <p:nvSpPr>
          <p:cNvPr id="33806" name="Rectangle 33805">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808" name="Rectangle 33807">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5">
            <a:extLst>
              <a:ext uri="{FF2B5EF4-FFF2-40B4-BE49-F238E27FC236}">
                <a16:creationId xmlns:a16="http://schemas.microsoft.com/office/drawing/2014/main" id="{F97ECD97-5D54-244A-9762-7338DB971751}"/>
              </a:ext>
            </a:extLst>
          </p:cNvPr>
          <p:cNvSpPr txBox="1">
            <a:spLocks noChangeArrowheads="1"/>
          </p:cNvSpPr>
          <p:nvPr/>
        </p:nvSpPr>
        <p:spPr bwMode="auto">
          <a:xfrm>
            <a:off x="1919288" y="260350"/>
            <a:ext cx="8280400" cy="2014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en-US"/>
              <a:t>Hot air has a lower refractive index than cool air. A ray of light from the sky heading towards the road travels from a denser to a rarer medium and will be refracted away from the normal. It bends as shown. If, at some point, the angle of incidence is greater than the critical angle the ray will undergo </a:t>
            </a:r>
            <a:r>
              <a:rPr lang="en-GB" altLang="en-US" b="1"/>
              <a:t>total internal reflection </a:t>
            </a:r>
            <a:r>
              <a:rPr lang="en-GB" altLang="en-US"/>
              <a:t>and be reflected upwards. An observer will see an image of the sky in the ground. This is the shiny puddle, i.e., the mirage. An nearby object may be seen upside down in the puddle due to the same effect.</a:t>
            </a:r>
          </a:p>
        </p:txBody>
      </p:sp>
      <p:pic>
        <p:nvPicPr>
          <p:cNvPr id="34819" name="Picture 1">
            <a:extLst>
              <a:ext uri="{FF2B5EF4-FFF2-40B4-BE49-F238E27FC236}">
                <a16:creationId xmlns:a16="http://schemas.microsoft.com/office/drawing/2014/main" id="{819AE2EC-A968-F35B-7667-5BD12622F1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60513" y="2522538"/>
            <a:ext cx="9144000"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CF9935FD-01F1-4E6B-98EA-A408876F069A}"/>
              </a:ext>
            </a:extLst>
          </p:cNvPr>
          <p:cNvSpPr>
            <a:spLocks noGrp="1" noChangeArrowheads="1"/>
          </p:cNvSpPr>
          <p:nvPr>
            <p:ph type="title"/>
          </p:nvPr>
        </p:nvSpPr>
        <p:spPr>
          <a:xfrm>
            <a:off x="1981200" y="228600"/>
            <a:ext cx="8153400" cy="1143000"/>
          </a:xfrm>
        </p:spPr>
        <p:txBody>
          <a:bodyPr/>
          <a:lstStyle/>
          <a:p>
            <a:pPr eaLnBrk="1" hangingPunct="1"/>
            <a:r>
              <a:rPr lang="en-GB" altLang="en-US"/>
              <a:t>Structure of an Optic Fibre</a:t>
            </a:r>
          </a:p>
        </p:txBody>
      </p:sp>
      <p:pic>
        <p:nvPicPr>
          <p:cNvPr id="82947" name="Picture 3">
            <a:extLst>
              <a:ext uri="{FF2B5EF4-FFF2-40B4-BE49-F238E27FC236}">
                <a16:creationId xmlns:a16="http://schemas.microsoft.com/office/drawing/2014/main" id="{C6F9A500-39BE-4152-B4FC-5FC435840B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752601"/>
            <a:ext cx="7943850" cy="460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6F9759B-333A-4A07-B130-3D582E5C1BF9}"/>
              </a:ext>
            </a:extLst>
          </p:cNvPr>
          <p:cNvSpPr>
            <a:spLocks noGrp="1" noChangeArrowheads="1"/>
          </p:cNvSpPr>
          <p:nvPr>
            <p:ph type="title"/>
          </p:nvPr>
        </p:nvSpPr>
        <p:spPr>
          <a:xfrm>
            <a:off x="1828800" y="152400"/>
            <a:ext cx="8153400" cy="1143000"/>
          </a:xfrm>
        </p:spPr>
        <p:txBody>
          <a:bodyPr/>
          <a:lstStyle/>
          <a:p>
            <a:pPr eaLnBrk="1" hangingPunct="1"/>
            <a:r>
              <a:rPr lang="en-GB" altLang="en-US"/>
              <a:t>Optic Fibre</a:t>
            </a:r>
            <a:r>
              <a:rPr lang="en-IE" altLang="en-US"/>
              <a:t>s: “light pipes”??</a:t>
            </a:r>
            <a:endParaRPr lang="en-GB" altLang="en-US"/>
          </a:p>
        </p:txBody>
      </p:sp>
      <p:sp>
        <p:nvSpPr>
          <p:cNvPr id="83971" name="Rectangle 3">
            <a:extLst>
              <a:ext uri="{FF2B5EF4-FFF2-40B4-BE49-F238E27FC236}">
                <a16:creationId xmlns:a16="http://schemas.microsoft.com/office/drawing/2014/main" id="{9315D3C5-A148-41D7-AE15-DA1E4B0BE9EE}"/>
              </a:ext>
            </a:extLst>
          </p:cNvPr>
          <p:cNvSpPr>
            <a:spLocks noGrp="1" noChangeArrowheads="1"/>
          </p:cNvSpPr>
          <p:nvPr>
            <p:ph type="body" idx="1"/>
          </p:nvPr>
        </p:nvSpPr>
        <p:spPr>
          <a:xfrm>
            <a:off x="2133600" y="3657600"/>
            <a:ext cx="7772400" cy="2971800"/>
          </a:xfrm>
          <a:ln w="38100">
            <a:solidFill>
              <a:srgbClr val="CC0099"/>
            </a:solidFill>
            <a:miter lim="800000"/>
            <a:headEnd/>
            <a:tailEnd/>
          </a:ln>
        </p:spPr>
        <p:txBody>
          <a:bodyPr/>
          <a:lstStyle/>
          <a:p>
            <a:pPr eaLnBrk="1" hangingPunct="1"/>
            <a:r>
              <a:rPr lang="en-IE" altLang="en-US" dirty="0"/>
              <a:t>“Light pipe” is really a misnomer, since the glass through which the light is </a:t>
            </a:r>
            <a:r>
              <a:rPr lang="en-IE" altLang="en-US" dirty="0" err="1"/>
              <a:t>travellling</a:t>
            </a:r>
            <a:r>
              <a:rPr lang="en-IE" altLang="en-US" dirty="0"/>
              <a:t> is solid.  It is normally made from silica glass which has a relatively high refractive index.</a:t>
            </a:r>
          </a:p>
          <a:p>
            <a:pPr eaLnBrk="1" hangingPunct="1"/>
            <a:r>
              <a:rPr lang="en-IE" altLang="en-US" dirty="0"/>
              <a:t>The outer cladding is made from a glass of lower refractive index. </a:t>
            </a:r>
            <a:endParaRPr lang="en-GB" altLang="en-US" dirty="0"/>
          </a:p>
        </p:txBody>
      </p:sp>
      <p:pic>
        <p:nvPicPr>
          <p:cNvPr id="83972" name="Picture 4" descr="C:\WINDOWS\Desktop\Physics 1      O'Regan\O'Regan Chapter 04 - Refraction\Fibre Optic 2.JPG">
            <a:extLst>
              <a:ext uri="{FF2B5EF4-FFF2-40B4-BE49-F238E27FC236}">
                <a16:creationId xmlns:a16="http://schemas.microsoft.com/office/drawing/2014/main" id="{940CB2A0-5951-4EED-B822-64FC18F1B5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295401"/>
            <a:ext cx="3879850" cy="2200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3" name="Rectangle 6">
            <a:extLst>
              <a:ext uri="{FF2B5EF4-FFF2-40B4-BE49-F238E27FC236}">
                <a16:creationId xmlns:a16="http://schemas.microsoft.com/office/drawing/2014/main" id="{6D8F1B1B-E3DD-42DD-B786-437EC96644B2}"/>
              </a:ext>
            </a:extLst>
          </p:cNvPr>
          <p:cNvSpPr>
            <a:spLocks noChangeArrowheads="1"/>
          </p:cNvSpPr>
          <p:nvPr/>
        </p:nvSpPr>
        <p:spPr bwMode="auto">
          <a:xfrm>
            <a:off x="2209800" y="2667000"/>
            <a:ext cx="1752600" cy="533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IE" altLang="en-US"/>
          </a:p>
        </p:txBody>
      </p:sp>
      <p:sp>
        <p:nvSpPr>
          <p:cNvPr id="83974" name="Text Box 7">
            <a:extLst>
              <a:ext uri="{FF2B5EF4-FFF2-40B4-BE49-F238E27FC236}">
                <a16:creationId xmlns:a16="http://schemas.microsoft.com/office/drawing/2014/main" id="{498A99F8-8258-4659-8ED7-39298AA17AA3}"/>
              </a:ext>
            </a:extLst>
          </p:cNvPr>
          <p:cNvSpPr txBox="1">
            <a:spLocks noChangeArrowheads="1"/>
          </p:cNvSpPr>
          <p:nvPr/>
        </p:nvSpPr>
        <p:spPr bwMode="auto">
          <a:xfrm>
            <a:off x="6324600" y="1524000"/>
            <a:ext cx="3962400" cy="1739900"/>
          </a:xfrm>
          <a:prstGeom prst="rect">
            <a:avLst/>
          </a:prstGeom>
          <a:solidFill>
            <a:srgbClr val="99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IE" altLang="en-US" sz="3600"/>
              <a:t>Some people refer to an optic fibre as a “light pipe.” </a:t>
            </a:r>
            <a:endParaRPr lang="en-GB" altLang="en-US" sz="36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6F38421-FE44-451A-A254-1FAD8D232470}"/>
              </a:ext>
            </a:extLst>
          </p:cNvPr>
          <p:cNvSpPr>
            <a:spLocks noGrp="1" noChangeArrowheads="1"/>
          </p:cNvSpPr>
          <p:nvPr>
            <p:ph type="title"/>
          </p:nvPr>
        </p:nvSpPr>
        <p:spPr>
          <a:xfrm>
            <a:off x="1828800" y="76200"/>
            <a:ext cx="8305800" cy="1752600"/>
          </a:xfrm>
        </p:spPr>
        <p:txBody>
          <a:bodyPr/>
          <a:lstStyle/>
          <a:p>
            <a:pPr eaLnBrk="1" hangingPunct="1"/>
            <a:r>
              <a:rPr lang="en-GB" altLang="en-US"/>
              <a:t>Optical Fibres in Telecommunications</a:t>
            </a:r>
          </a:p>
        </p:txBody>
      </p:sp>
      <p:sp>
        <p:nvSpPr>
          <p:cNvPr id="87043" name="Rectangle 3">
            <a:extLst>
              <a:ext uri="{FF2B5EF4-FFF2-40B4-BE49-F238E27FC236}">
                <a16:creationId xmlns:a16="http://schemas.microsoft.com/office/drawing/2014/main" id="{1EB94CE3-A7A1-45FC-8CFB-720B6F949036}"/>
              </a:ext>
            </a:extLst>
          </p:cNvPr>
          <p:cNvSpPr>
            <a:spLocks noGrp="1" noChangeArrowheads="1"/>
          </p:cNvSpPr>
          <p:nvPr>
            <p:ph type="body" idx="1"/>
          </p:nvPr>
        </p:nvSpPr>
        <p:spPr>
          <a:xfrm>
            <a:off x="5562600" y="1676400"/>
            <a:ext cx="4800600" cy="4876800"/>
          </a:xfrm>
          <a:ln>
            <a:solidFill>
              <a:srgbClr val="00FF00"/>
            </a:solidFill>
            <a:miter lim="800000"/>
            <a:headEnd/>
            <a:tailEnd/>
          </a:ln>
        </p:spPr>
        <p:txBody>
          <a:bodyPr>
            <a:normAutofit lnSpcReduction="10000"/>
          </a:bodyPr>
          <a:lstStyle/>
          <a:p>
            <a:pPr marL="609600" indent="-609600"/>
            <a:r>
              <a:rPr lang="en-GB" altLang="en-US"/>
              <a:t>Advantages of using optical fibres in telecommunication.</a:t>
            </a:r>
          </a:p>
          <a:p>
            <a:pPr marL="609600" indent="-609600">
              <a:buNone/>
            </a:pPr>
            <a:r>
              <a:rPr lang="en-GB" altLang="en-US"/>
              <a:t>       systems:</a:t>
            </a:r>
          </a:p>
          <a:p>
            <a:pPr marL="609600" indent="-609600">
              <a:buFontTx/>
              <a:buAutoNum type="arabicPeriod"/>
            </a:pPr>
            <a:r>
              <a:rPr lang="en-GB" altLang="en-US"/>
              <a:t>Up to 2,000 telephone calls per fibre.</a:t>
            </a:r>
          </a:p>
          <a:p>
            <a:pPr marL="609600" indent="-609600">
              <a:buFontTx/>
              <a:buAutoNum type="arabicPeriod"/>
            </a:pPr>
            <a:r>
              <a:rPr lang="en-GB" altLang="en-US"/>
              <a:t>Much less boosting required compared to an electrical signal.</a:t>
            </a:r>
          </a:p>
          <a:p>
            <a:pPr marL="609600" indent="-609600">
              <a:buFontTx/>
              <a:buAutoNum type="arabicPeriod"/>
            </a:pPr>
            <a:r>
              <a:rPr lang="en-GB" altLang="en-US"/>
              <a:t>Optical system </a:t>
            </a:r>
            <a:r>
              <a:rPr lang="en-GB" altLang="en-US">
                <a:sym typeface="Symbol" panose="05050102010706020507" pitchFamily="18" charset="2"/>
              </a:rPr>
              <a:t></a:t>
            </a:r>
            <a:r>
              <a:rPr lang="en-GB" altLang="en-US"/>
              <a:t> no “tapping”</a:t>
            </a:r>
            <a:r>
              <a:rPr lang="en-GB" altLang="en-US">
                <a:sym typeface="Symbol" panose="05050102010706020507" pitchFamily="18" charset="2"/>
              </a:rPr>
              <a:t></a:t>
            </a:r>
            <a:r>
              <a:rPr lang="en-GB" altLang="en-US"/>
              <a:t> more security.</a:t>
            </a:r>
          </a:p>
        </p:txBody>
      </p:sp>
      <p:pic>
        <p:nvPicPr>
          <p:cNvPr id="2" name="Picture 1">
            <a:extLst>
              <a:ext uri="{FF2B5EF4-FFF2-40B4-BE49-F238E27FC236}">
                <a16:creationId xmlns:a16="http://schemas.microsoft.com/office/drawing/2014/main" id="{E06145CD-800D-FC1C-273E-44B7C8809F46}"/>
              </a:ext>
            </a:extLst>
          </p:cNvPr>
          <p:cNvPicPr>
            <a:picLocks noChangeAspect="1"/>
          </p:cNvPicPr>
          <p:nvPr/>
        </p:nvPicPr>
        <p:blipFill>
          <a:blip r:embed="rId3"/>
          <a:stretch>
            <a:fillRect/>
          </a:stretch>
        </p:blipFill>
        <p:spPr>
          <a:xfrm>
            <a:off x="607841" y="1581665"/>
            <a:ext cx="4726159" cy="3969464"/>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6265" name="Rectangle 96264">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58" name="Rectangle 2">
            <a:extLst>
              <a:ext uri="{FF2B5EF4-FFF2-40B4-BE49-F238E27FC236}">
                <a16:creationId xmlns:a16="http://schemas.microsoft.com/office/drawing/2014/main" id="{7D7874EB-9E5D-415C-88BC-2B672EDF2FA3}"/>
              </a:ext>
            </a:extLst>
          </p:cNvPr>
          <p:cNvSpPr>
            <a:spLocks noGrp="1" noChangeArrowheads="1"/>
          </p:cNvSpPr>
          <p:nvPr>
            <p:ph type="title"/>
          </p:nvPr>
        </p:nvSpPr>
        <p:spPr>
          <a:xfrm>
            <a:off x="640080" y="325369"/>
            <a:ext cx="4368602" cy="1956841"/>
          </a:xfrm>
        </p:spPr>
        <p:txBody>
          <a:bodyPr anchor="b">
            <a:normAutofit/>
          </a:bodyPr>
          <a:lstStyle/>
          <a:p>
            <a:pPr eaLnBrk="1" hangingPunct="1"/>
            <a:r>
              <a:rPr lang="en-GB" altLang="en-US" sz="5400"/>
              <a:t>TIR –Prism</a:t>
            </a:r>
            <a:r>
              <a:rPr lang="en-IE" altLang="en-US" sz="5400"/>
              <a:t> &amp;</a:t>
            </a:r>
            <a:r>
              <a:rPr lang="en-GB" altLang="en-US" sz="5400"/>
              <a:t> Ruler</a:t>
            </a:r>
          </a:p>
        </p:txBody>
      </p:sp>
      <p:sp>
        <p:nvSpPr>
          <p:cNvPr id="96267"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259" name="Rectangle 3">
            <a:extLst>
              <a:ext uri="{FF2B5EF4-FFF2-40B4-BE49-F238E27FC236}">
                <a16:creationId xmlns:a16="http://schemas.microsoft.com/office/drawing/2014/main" id="{57C92D61-DC1A-4C8E-B16B-677431B61B25}"/>
              </a:ext>
            </a:extLst>
          </p:cNvPr>
          <p:cNvSpPr>
            <a:spLocks noGrp="1" noChangeArrowheads="1"/>
          </p:cNvSpPr>
          <p:nvPr>
            <p:ph type="body" idx="1"/>
          </p:nvPr>
        </p:nvSpPr>
        <p:spPr>
          <a:xfrm>
            <a:off x="640080" y="2872899"/>
            <a:ext cx="4243589" cy="3320668"/>
          </a:xfrm>
        </p:spPr>
        <p:txBody>
          <a:bodyPr>
            <a:normAutofit/>
          </a:bodyPr>
          <a:lstStyle/>
          <a:p>
            <a:pPr eaLnBrk="1" hangingPunct="1"/>
            <a:r>
              <a:rPr lang="en-IE" altLang="en-US" sz="2200"/>
              <a:t>When the angle of incidence exceeds the critical angle, light is totally internally reflected.  </a:t>
            </a:r>
          </a:p>
          <a:p>
            <a:pPr eaLnBrk="1" hangingPunct="1"/>
            <a:r>
              <a:rPr lang="en-IE" altLang="en-US" sz="2200"/>
              <a:t>Here we see that the image of a ruler is totally reflected from the back surface of a triangular prism.</a:t>
            </a:r>
            <a:endParaRPr lang="en-GB" altLang="en-US" sz="2200"/>
          </a:p>
        </p:txBody>
      </p:sp>
      <p:pic>
        <p:nvPicPr>
          <p:cNvPr id="96260" name="Picture 4" descr="C:\WINDOWS\Desktop\Physics 1      O'Regan\O'Regan Chapter 04 - Refraction\TIR -Prism1.JPG">
            <a:extLst>
              <a:ext uri="{FF2B5EF4-FFF2-40B4-BE49-F238E27FC236}">
                <a16:creationId xmlns:a16="http://schemas.microsoft.com/office/drawing/2014/main" id="{BCA91396-0B1C-412C-8D5C-C1749E9AF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970" r="25694" b="1"/>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A530597-DC8C-4475-BE3D-83A61DCB05F5}"/>
              </a:ext>
            </a:extLst>
          </p:cNvPr>
          <p:cNvSpPr>
            <a:spLocks noGrp="1" noChangeArrowheads="1"/>
          </p:cNvSpPr>
          <p:nvPr>
            <p:ph type="title"/>
          </p:nvPr>
        </p:nvSpPr>
        <p:spPr>
          <a:xfrm>
            <a:off x="1828800" y="228600"/>
            <a:ext cx="8229600" cy="1371600"/>
          </a:xfrm>
        </p:spPr>
        <p:txBody>
          <a:bodyPr/>
          <a:lstStyle/>
          <a:p>
            <a:pPr eaLnBrk="1" hangingPunct="1"/>
            <a:r>
              <a:rPr lang="en-GB" altLang="en-US"/>
              <a:t>Another application of T.I.R.: </a:t>
            </a:r>
            <a:br>
              <a:rPr lang="en-GB" altLang="en-US"/>
            </a:br>
            <a:r>
              <a:rPr lang="en-GB" altLang="en-US"/>
              <a:t>A fibre optic lamp</a:t>
            </a:r>
          </a:p>
        </p:txBody>
      </p:sp>
      <p:pic>
        <p:nvPicPr>
          <p:cNvPr id="97283" name="Picture 3" descr="C:\WINDOWS\Desktop\Physics      O'Regan\O'Regan Chapter 04 - Refraction\TIR - Fibre Optic lamp1.JPG">
            <a:extLst>
              <a:ext uri="{FF2B5EF4-FFF2-40B4-BE49-F238E27FC236}">
                <a16:creationId xmlns:a16="http://schemas.microsoft.com/office/drawing/2014/main" id="{D4F70B96-C8AE-4481-97EA-F719F5C387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5564" y="2006600"/>
            <a:ext cx="4287837" cy="462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4" name="Picture 4" descr="C:\WINDOWS\Desktop\Physics 1      O'Regan\O'Regan Chapter 04 - Refraction\Fibre Optic 5.JPG">
            <a:extLst>
              <a:ext uri="{FF2B5EF4-FFF2-40B4-BE49-F238E27FC236}">
                <a16:creationId xmlns:a16="http://schemas.microsoft.com/office/drawing/2014/main" id="{B1457685-6579-4B1F-94D2-4DA35E3EED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3352800"/>
            <a:ext cx="19812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E7324974-F522-4AF5-A8FF-ABA2D3FD755E}"/>
              </a:ext>
            </a:extLst>
          </p:cNvPr>
          <p:cNvSpPr>
            <a:spLocks noGrp="1" noChangeArrowheads="1"/>
          </p:cNvSpPr>
          <p:nvPr>
            <p:ph type="title"/>
          </p:nvPr>
        </p:nvSpPr>
        <p:spPr/>
        <p:txBody>
          <a:bodyPr/>
          <a:lstStyle/>
          <a:p>
            <a:pPr eaLnBrk="1" hangingPunct="1"/>
            <a:r>
              <a:rPr lang="en-GB" altLang="en-US"/>
              <a:t>T.I.R. : The Mirage</a:t>
            </a:r>
          </a:p>
        </p:txBody>
      </p:sp>
      <p:pic>
        <p:nvPicPr>
          <p:cNvPr id="103427" name="Picture 3" descr="C:\WINDOWS\Desktop\Physics      O'Regan\O'Regan Chapter 04 - Refraction\Car Mirage 1.JPG">
            <a:extLst>
              <a:ext uri="{FF2B5EF4-FFF2-40B4-BE49-F238E27FC236}">
                <a16:creationId xmlns:a16="http://schemas.microsoft.com/office/drawing/2014/main" id="{555E740F-E21D-4A30-8C47-A871522389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6564" y="2508251"/>
            <a:ext cx="8809037"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ext Box 4">
            <a:extLst>
              <a:ext uri="{FF2B5EF4-FFF2-40B4-BE49-F238E27FC236}">
                <a16:creationId xmlns:a16="http://schemas.microsoft.com/office/drawing/2014/main" id="{852AE474-8B24-452C-B415-ADDA9F525E0C}"/>
              </a:ext>
            </a:extLst>
          </p:cNvPr>
          <p:cNvSpPr txBox="1">
            <a:spLocks noChangeArrowheads="1"/>
          </p:cNvSpPr>
          <p:nvPr/>
        </p:nvSpPr>
        <p:spPr bwMode="auto">
          <a:xfrm>
            <a:off x="2498725" y="3470275"/>
            <a:ext cx="1081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IE" altLang="en-US"/>
              <a:t>(dense)</a:t>
            </a:r>
            <a:endParaRPr lang="en-GB" altLang="en-US"/>
          </a:p>
        </p:txBody>
      </p:sp>
      <p:sp>
        <p:nvSpPr>
          <p:cNvPr id="103429" name="Text Box 5">
            <a:extLst>
              <a:ext uri="{FF2B5EF4-FFF2-40B4-BE49-F238E27FC236}">
                <a16:creationId xmlns:a16="http://schemas.microsoft.com/office/drawing/2014/main" id="{50447D81-74CE-4977-BDF2-BBFC878AEE23}"/>
              </a:ext>
            </a:extLst>
          </p:cNvPr>
          <p:cNvSpPr txBox="1">
            <a:spLocks noChangeArrowheads="1"/>
          </p:cNvSpPr>
          <p:nvPr/>
        </p:nvSpPr>
        <p:spPr bwMode="auto">
          <a:xfrm>
            <a:off x="2514601" y="3886200"/>
            <a:ext cx="962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r>
              <a:rPr lang="en-IE" altLang="en-US"/>
              <a:t>(rarer)</a:t>
            </a:r>
            <a:endParaRPr lang="en-GB"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1">
            <a:extLst>
              <a:ext uri="{FF2B5EF4-FFF2-40B4-BE49-F238E27FC236}">
                <a16:creationId xmlns:a16="http://schemas.microsoft.com/office/drawing/2014/main" id="{AD47FE5E-00AF-4936-A4F3-F11BE02752AD}"/>
              </a:ext>
            </a:extLst>
          </p:cNvPr>
          <p:cNvSpPr>
            <a:spLocks noGrp="1"/>
          </p:cNvSpPr>
          <p:nvPr>
            <p:ph type="sldNum" sz="quarter" idx="12"/>
          </p:nvPr>
        </p:nvSpPr>
        <p:spPr>
          <a:xfrm>
            <a:off x="2209800" y="6248400"/>
            <a:ext cx="1905000" cy="457200"/>
          </a:xfrm>
        </p:spPr>
        <p:txBody>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l" eaLnBrk="1" hangingPunct="1"/>
            <a:fld id="{BC3853F8-6EF0-47AB-B103-44EE0ABBCA8A}" type="slidenum">
              <a:rPr lang="en-GB" altLang="en-US" sz="1400"/>
              <a:pPr algn="l" eaLnBrk="1" hangingPunct="1"/>
              <a:t>42</a:t>
            </a:fld>
            <a:endParaRPr lang="en-GB" altLang="en-US" sz="1400"/>
          </a:p>
        </p:txBody>
      </p:sp>
      <p:grpSp>
        <p:nvGrpSpPr>
          <p:cNvPr id="104451" name="Group 37">
            <a:extLst>
              <a:ext uri="{FF2B5EF4-FFF2-40B4-BE49-F238E27FC236}">
                <a16:creationId xmlns:a16="http://schemas.microsoft.com/office/drawing/2014/main" id="{263E2213-8E3D-46D0-BFDA-73595AAD2E42}"/>
              </a:ext>
            </a:extLst>
          </p:cNvPr>
          <p:cNvGrpSpPr>
            <a:grpSpLocks/>
          </p:cNvGrpSpPr>
          <p:nvPr/>
        </p:nvGrpSpPr>
        <p:grpSpPr bwMode="auto">
          <a:xfrm>
            <a:off x="1524000" y="4419601"/>
            <a:ext cx="9525000" cy="1966913"/>
            <a:chOff x="0" y="2784"/>
            <a:chExt cx="6000" cy="1239"/>
          </a:xfrm>
        </p:grpSpPr>
        <p:sp>
          <p:nvSpPr>
            <p:cNvPr id="104462" name="Rectangle 2">
              <a:extLst>
                <a:ext uri="{FF2B5EF4-FFF2-40B4-BE49-F238E27FC236}">
                  <a16:creationId xmlns:a16="http://schemas.microsoft.com/office/drawing/2014/main" id="{98D3C8E3-C785-49BF-AB6C-BB9EA56999D3}"/>
                </a:ext>
              </a:extLst>
            </p:cNvPr>
            <p:cNvSpPr>
              <a:spLocks noChangeArrowheads="1"/>
            </p:cNvSpPr>
            <p:nvPr/>
          </p:nvSpPr>
          <p:spPr bwMode="auto">
            <a:xfrm>
              <a:off x="0" y="3456"/>
              <a:ext cx="5760" cy="336"/>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IE" altLang="en-US"/>
            </a:p>
          </p:txBody>
        </p:sp>
        <p:sp>
          <p:nvSpPr>
            <p:cNvPr id="104463" name="Rectangle 3">
              <a:extLst>
                <a:ext uri="{FF2B5EF4-FFF2-40B4-BE49-F238E27FC236}">
                  <a16:creationId xmlns:a16="http://schemas.microsoft.com/office/drawing/2014/main" id="{FA149354-265E-483D-BBC5-2A9E89FDED15}"/>
                </a:ext>
              </a:extLst>
            </p:cNvPr>
            <p:cNvSpPr>
              <a:spLocks noChangeArrowheads="1"/>
            </p:cNvSpPr>
            <p:nvPr/>
          </p:nvSpPr>
          <p:spPr bwMode="auto">
            <a:xfrm>
              <a:off x="0" y="3792"/>
              <a:ext cx="5760" cy="192"/>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IE" altLang="en-US"/>
            </a:p>
          </p:txBody>
        </p:sp>
        <p:sp>
          <p:nvSpPr>
            <p:cNvPr id="104464" name="Rectangle 4">
              <a:extLst>
                <a:ext uri="{FF2B5EF4-FFF2-40B4-BE49-F238E27FC236}">
                  <a16:creationId xmlns:a16="http://schemas.microsoft.com/office/drawing/2014/main" id="{63E1AAA8-78A6-4578-BA14-A6F27F4D3C08}"/>
                </a:ext>
              </a:extLst>
            </p:cNvPr>
            <p:cNvSpPr>
              <a:spLocks noChangeArrowheads="1"/>
            </p:cNvSpPr>
            <p:nvPr/>
          </p:nvSpPr>
          <p:spPr bwMode="auto">
            <a:xfrm>
              <a:off x="0" y="3120"/>
              <a:ext cx="5760" cy="336"/>
            </a:xfrm>
            <a:prstGeom prst="rect">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IE" altLang="en-US"/>
            </a:p>
          </p:txBody>
        </p:sp>
        <p:sp>
          <p:nvSpPr>
            <p:cNvPr id="104465" name="Text Box 6">
              <a:extLst>
                <a:ext uri="{FF2B5EF4-FFF2-40B4-BE49-F238E27FC236}">
                  <a16:creationId xmlns:a16="http://schemas.microsoft.com/office/drawing/2014/main" id="{45CB36FF-6EA6-4E4E-83AA-75937FA8372C}"/>
                </a:ext>
              </a:extLst>
            </p:cNvPr>
            <p:cNvSpPr txBox="1">
              <a:spLocks noChangeArrowheads="1"/>
            </p:cNvSpPr>
            <p:nvPr/>
          </p:nvSpPr>
          <p:spPr bwMode="auto">
            <a:xfrm>
              <a:off x="144" y="3456"/>
              <a:ext cx="10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Hot air </a:t>
              </a:r>
              <a:endParaRPr lang="en-GB" altLang="en-US"/>
            </a:p>
          </p:txBody>
        </p:sp>
        <p:sp>
          <p:nvSpPr>
            <p:cNvPr id="104466" name="Text Box 7">
              <a:extLst>
                <a:ext uri="{FF2B5EF4-FFF2-40B4-BE49-F238E27FC236}">
                  <a16:creationId xmlns:a16="http://schemas.microsoft.com/office/drawing/2014/main" id="{F907D670-AAA6-4BA1-8C6B-40B8FE52853D}"/>
                </a:ext>
              </a:extLst>
            </p:cNvPr>
            <p:cNvSpPr txBox="1">
              <a:spLocks noChangeArrowheads="1"/>
            </p:cNvSpPr>
            <p:nvPr/>
          </p:nvSpPr>
          <p:spPr bwMode="auto">
            <a:xfrm>
              <a:off x="96" y="3168"/>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Warm air</a:t>
              </a:r>
              <a:endParaRPr lang="en-GB" altLang="en-US"/>
            </a:p>
          </p:txBody>
        </p:sp>
        <p:sp>
          <p:nvSpPr>
            <p:cNvPr id="104467" name="Text Box 10">
              <a:extLst>
                <a:ext uri="{FF2B5EF4-FFF2-40B4-BE49-F238E27FC236}">
                  <a16:creationId xmlns:a16="http://schemas.microsoft.com/office/drawing/2014/main" id="{458AB51A-C5E2-4FFE-BC17-8054D76A1CE3}"/>
                </a:ext>
              </a:extLst>
            </p:cNvPr>
            <p:cNvSpPr txBox="1">
              <a:spLocks noChangeArrowheads="1"/>
            </p:cNvSpPr>
            <p:nvPr/>
          </p:nvSpPr>
          <p:spPr bwMode="auto">
            <a:xfrm>
              <a:off x="4656" y="3504"/>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solidFill>
                    <a:schemeClr val="accent2"/>
                  </a:solidFill>
                </a:rPr>
                <a:t>Low density</a:t>
              </a:r>
              <a:endParaRPr lang="en-GB" altLang="en-US">
                <a:solidFill>
                  <a:schemeClr val="accent2"/>
                </a:solidFill>
              </a:endParaRPr>
            </a:p>
          </p:txBody>
        </p:sp>
        <p:sp>
          <p:nvSpPr>
            <p:cNvPr id="104468" name="Rectangle 5">
              <a:extLst>
                <a:ext uri="{FF2B5EF4-FFF2-40B4-BE49-F238E27FC236}">
                  <a16:creationId xmlns:a16="http://schemas.microsoft.com/office/drawing/2014/main" id="{328BB87A-4BB1-4FA1-93CB-08A2E335D500}"/>
                </a:ext>
              </a:extLst>
            </p:cNvPr>
            <p:cNvSpPr>
              <a:spLocks noChangeArrowheads="1"/>
            </p:cNvSpPr>
            <p:nvPr/>
          </p:nvSpPr>
          <p:spPr bwMode="auto">
            <a:xfrm>
              <a:off x="0" y="2784"/>
              <a:ext cx="5760" cy="33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endParaRPr lang="en-IE" altLang="en-US"/>
            </a:p>
          </p:txBody>
        </p:sp>
        <p:sp>
          <p:nvSpPr>
            <p:cNvPr id="104469" name="Text Box 11">
              <a:extLst>
                <a:ext uri="{FF2B5EF4-FFF2-40B4-BE49-F238E27FC236}">
                  <a16:creationId xmlns:a16="http://schemas.microsoft.com/office/drawing/2014/main" id="{6EC383B9-D942-48D8-875A-A94B2581CD8C}"/>
                </a:ext>
              </a:extLst>
            </p:cNvPr>
            <p:cNvSpPr txBox="1">
              <a:spLocks noChangeArrowheads="1"/>
            </p:cNvSpPr>
            <p:nvPr/>
          </p:nvSpPr>
          <p:spPr bwMode="auto">
            <a:xfrm>
              <a:off x="4464" y="2784"/>
              <a:ext cx="12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solidFill>
                    <a:schemeClr val="accent2"/>
                  </a:solidFill>
                </a:rPr>
                <a:t> High density</a:t>
              </a:r>
              <a:endParaRPr lang="en-GB" altLang="en-US">
                <a:solidFill>
                  <a:schemeClr val="accent2"/>
                </a:solidFill>
              </a:endParaRPr>
            </a:p>
          </p:txBody>
        </p:sp>
        <p:sp>
          <p:nvSpPr>
            <p:cNvPr id="104470" name="Text Box 8">
              <a:extLst>
                <a:ext uri="{FF2B5EF4-FFF2-40B4-BE49-F238E27FC236}">
                  <a16:creationId xmlns:a16="http://schemas.microsoft.com/office/drawing/2014/main" id="{9DD75AE9-81DE-4547-9A37-54CB7435D16A}"/>
                </a:ext>
              </a:extLst>
            </p:cNvPr>
            <p:cNvSpPr txBox="1">
              <a:spLocks noChangeArrowheads="1"/>
            </p:cNvSpPr>
            <p:nvPr/>
          </p:nvSpPr>
          <p:spPr bwMode="auto">
            <a:xfrm>
              <a:off x="96" y="2784"/>
              <a:ext cx="13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Cool air</a:t>
              </a:r>
              <a:endParaRPr lang="en-GB" altLang="en-US"/>
            </a:p>
          </p:txBody>
        </p:sp>
        <p:sp>
          <p:nvSpPr>
            <p:cNvPr id="104471" name="Text Box 9">
              <a:extLst>
                <a:ext uri="{FF2B5EF4-FFF2-40B4-BE49-F238E27FC236}">
                  <a16:creationId xmlns:a16="http://schemas.microsoft.com/office/drawing/2014/main" id="{27887322-4326-4E0D-99DA-974E455EBD4E}"/>
                </a:ext>
              </a:extLst>
            </p:cNvPr>
            <p:cNvSpPr txBox="1">
              <a:spLocks noChangeArrowheads="1"/>
            </p:cNvSpPr>
            <p:nvPr/>
          </p:nvSpPr>
          <p:spPr bwMode="auto">
            <a:xfrm>
              <a:off x="2304" y="3792"/>
              <a:ext cx="124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1800" b="1"/>
                <a:t>Hot ground</a:t>
              </a:r>
              <a:endParaRPr lang="en-GB" altLang="en-US" sz="1800" b="1"/>
            </a:p>
          </p:txBody>
        </p:sp>
        <p:sp>
          <p:nvSpPr>
            <p:cNvPr id="104472" name="Line 35">
              <a:extLst>
                <a:ext uri="{FF2B5EF4-FFF2-40B4-BE49-F238E27FC236}">
                  <a16:creationId xmlns:a16="http://schemas.microsoft.com/office/drawing/2014/main" id="{3BA5FF16-9F1B-4468-8D1F-1FD41A5959E5}"/>
                </a:ext>
              </a:extLst>
            </p:cNvPr>
            <p:cNvSpPr>
              <a:spLocks noChangeShapeType="1"/>
            </p:cNvSpPr>
            <p:nvPr/>
          </p:nvSpPr>
          <p:spPr bwMode="auto">
            <a:xfrm flipV="1">
              <a:off x="4896" y="302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sp>
          <p:nvSpPr>
            <p:cNvPr id="104473" name="Line 36">
              <a:extLst>
                <a:ext uri="{FF2B5EF4-FFF2-40B4-BE49-F238E27FC236}">
                  <a16:creationId xmlns:a16="http://schemas.microsoft.com/office/drawing/2014/main" id="{8A75AA57-5539-4139-8718-CDDBEC4A364B}"/>
                </a:ext>
              </a:extLst>
            </p:cNvPr>
            <p:cNvSpPr>
              <a:spLocks noChangeShapeType="1"/>
            </p:cNvSpPr>
            <p:nvPr/>
          </p:nvSpPr>
          <p:spPr bwMode="auto">
            <a:xfrm flipV="1">
              <a:off x="5424" y="302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E"/>
            </a:p>
          </p:txBody>
        </p:sp>
      </p:grpSp>
      <p:grpSp>
        <p:nvGrpSpPr>
          <p:cNvPr id="104452" name="Group 32">
            <a:extLst>
              <a:ext uri="{FF2B5EF4-FFF2-40B4-BE49-F238E27FC236}">
                <a16:creationId xmlns:a16="http://schemas.microsoft.com/office/drawing/2014/main" id="{A24C4505-5696-486E-AEE6-089DA8EDE1EC}"/>
              </a:ext>
            </a:extLst>
          </p:cNvPr>
          <p:cNvGrpSpPr>
            <a:grpSpLocks/>
          </p:cNvGrpSpPr>
          <p:nvPr/>
        </p:nvGrpSpPr>
        <p:grpSpPr bwMode="auto">
          <a:xfrm>
            <a:off x="1524001" y="0"/>
            <a:ext cx="9147175" cy="4648200"/>
            <a:chOff x="0" y="0"/>
            <a:chExt cx="5762" cy="2928"/>
          </a:xfrm>
        </p:grpSpPr>
        <p:graphicFrame>
          <p:nvGraphicFramePr>
            <p:cNvPr id="104460" name="Object 18">
              <a:extLst>
                <a:ext uri="{FF2B5EF4-FFF2-40B4-BE49-F238E27FC236}">
                  <a16:creationId xmlns:a16="http://schemas.microsoft.com/office/drawing/2014/main" id="{8577372C-4D94-4425-82E7-78FBC9FC4AB7}"/>
                </a:ext>
              </a:extLst>
            </p:cNvPr>
            <p:cNvGraphicFramePr>
              <a:graphicFrameLocks noChangeAspect="1"/>
            </p:cNvGraphicFramePr>
            <p:nvPr/>
          </p:nvGraphicFramePr>
          <p:xfrm>
            <a:off x="0" y="0"/>
            <a:ext cx="5760" cy="2784"/>
          </p:xfrm>
          <a:graphic>
            <a:graphicData uri="http://schemas.openxmlformats.org/presentationml/2006/ole">
              <mc:AlternateContent xmlns:mc="http://schemas.openxmlformats.org/markup-compatibility/2006">
                <mc:Choice xmlns:v="urn:schemas-microsoft-com:vml" Requires="v">
                  <p:oleObj name="Image" r:id="rId2" imgW="7619048" imgH="8304762" progId="Photoshop.Image.8">
                    <p:embed/>
                  </p:oleObj>
                </mc:Choice>
                <mc:Fallback>
                  <p:oleObj name="Image" r:id="rId2" imgW="7619048" imgH="8304762" progId="Photoshop.Image.8">
                    <p:embed/>
                    <p:pic>
                      <p:nvPicPr>
                        <p:cNvPr id="104460" name="Object 18">
                          <a:extLst>
                            <a:ext uri="{FF2B5EF4-FFF2-40B4-BE49-F238E27FC236}">
                              <a16:creationId xmlns:a16="http://schemas.microsoft.com/office/drawing/2014/main" id="{8577372C-4D94-4425-82E7-78FBC9FC4AB7}"/>
                            </a:ext>
                          </a:extLst>
                        </p:cNvPr>
                        <p:cNvPicPr>
                          <a:picLocks noChangeAspect="1" noChangeArrowheads="1"/>
                        </p:cNvPicPr>
                        <p:nvPr/>
                      </p:nvPicPr>
                      <p:blipFill>
                        <a:blip r:embed="rId3">
                          <a:lum bright="36000"/>
                          <a:extLst>
                            <a:ext uri="{28A0092B-C50C-407E-A947-70E740481C1C}">
                              <a14:useLocalDpi xmlns:a14="http://schemas.microsoft.com/office/drawing/2010/main" val="0"/>
                            </a:ext>
                          </a:extLst>
                        </a:blip>
                        <a:srcRect/>
                        <a:stretch>
                          <a:fillRect/>
                        </a:stretch>
                      </p:blipFill>
                      <p:spPr bwMode="auto">
                        <a:xfrm>
                          <a:off x="0" y="0"/>
                          <a:ext cx="5760" cy="2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4461" name="Picture 23" descr="climber">
              <a:extLst>
                <a:ext uri="{FF2B5EF4-FFF2-40B4-BE49-F238E27FC236}">
                  <a16:creationId xmlns:a16="http://schemas.microsoft.com/office/drawing/2014/main" id="{E9C65355-C654-46F7-A4D4-478AAA8815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2" y="1819"/>
              <a:ext cx="770" cy="1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4453" name="Line 12">
            <a:extLst>
              <a:ext uri="{FF2B5EF4-FFF2-40B4-BE49-F238E27FC236}">
                <a16:creationId xmlns:a16="http://schemas.microsoft.com/office/drawing/2014/main" id="{DB6CB51D-8A15-4C50-854E-99198565E476}"/>
              </a:ext>
            </a:extLst>
          </p:cNvPr>
          <p:cNvSpPr>
            <a:spLocks noChangeShapeType="1"/>
          </p:cNvSpPr>
          <p:nvPr/>
        </p:nvSpPr>
        <p:spPr bwMode="auto">
          <a:xfrm flipH="1" flipV="1">
            <a:off x="9448800" y="4800600"/>
            <a:ext cx="0" cy="838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type="triangle" w="med" len="med"/>
              </a14:hiddenLine>
            </a:ext>
          </a:extLst>
        </p:spPr>
        <p:txBody>
          <a:bodyPr/>
          <a:lstStyle/>
          <a:p>
            <a:endParaRPr lang="en-IE"/>
          </a:p>
        </p:txBody>
      </p:sp>
      <p:sp>
        <p:nvSpPr>
          <p:cNvPr id="104454" name="Line 13">
            <a:extLst>
              <a:ext uri="{FF2B5EF4-FFF2-40B4-BE49-F238E27FC236}">
                <a16:creationId xmlns:a16="http://schemas.microsoft.com/office/drawing/2014/main" id="{435AE821-081C-4A5B-AE6A-2A5F0F3FE898}"/>
              </a:ext>
            </a:extLst>
          </p:cNvPr>
          <p:cNvSpPr>
            <a:spLocks noChangeShapeType="1"/>
          </p:cNvSpPr>
          <p:nvPr/>
        </p:nvSpPr>
        <p:spPr bwMode="auto">
          <a:xfrm flipH="1" flipV="1">
            <a:off x="10363200" y="4800600"/>
            <a:ext cx="0" cy="8382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type="triangle" w="med" len="med"/>
              </a14:hiddenLine>
            </a:ext>
          </a:extLst>
        </p:spPr>
        <p:txBody>
          <a:bodyPr/>
          <a:lstStyle/>
          <a:p>
            <a:endParaRPr lang="en-IE"/>
          </a:p>
        </p:txBody>
      </p:sp>
      <p:sp>
        <p:nvSpPr>
          <p:cNvPr id="23582" name="Cloud">
            <a:extLst>
              <a:ext uri="{FF2B5EF4-FFF2-40B4-BE49-F238E27FC236}">
                <a16:creationId xmlns:a16="http://schemas.microsoft.com/office/drawing/2014/main" id="{DB7FB2E2-BBC9-4D9B-9FD8-39C6F188F708}"/>
              </a:ext>
            </a:extLst>
          </p:cNvPr>
          <p:cNvSpPr>
            <a:spLocks noChangeAspect="1" noEditPoints="1" noChangeArrowheads="1"/>
          </p:cNvSpPr>
          <p:nvPr/>
        </p:nvSpPr>
        <p:spPr bwMode="auto">
          <a:xfrm>
            <a:off x="4419600" y="5410200"/>
            <a:ext cx="2743200" cy="7620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2147483647 h 21600"/>
              <a:gd name="T8" fmla="*/ 0 60000 65536"/>
              <a:gd name="T9" fmla="*/ 0 60000 65536"/>
              <a:gd name="T10" fmla="*/ 0 60000 65536"/>
              <a:gd name="T11" fmla="*/ 0 60000 65536"/>
              <a:gd name="T12" fmla="*/ 2977 w 21600"/>
              <a:gd name="T13" fmla="*/ 3262 h 21600"/>
              <a:gd name="T14" fmla="*/ 17087 w 21600"/>
              <a:gd name="T15" fmla="*/ 17337 h 21600"/>
            </a:gdLst>
            <a:ahLst/>
            <a:cxnLst>
              <a:cxn ang="T8">
                <a:pos x="T0" y="T1"/>
              </a:cxn>
              <a:cxn ang="T9">
                <a:pos x="T2" y="T3"/>
              </a:cxn>
              <a:cxn ang="T10">
                <a:pos x="T4" y="T5"/>
              </a:cxn>
              <a:cxn ang="T11">
                <a:pos x="T6" y="T7"/>
              </a:cxn>
            </a:cxnLst>
            <a:rect l="T12" t="T13" r="T14" b="T15"/>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FFFF"/>
          </a:solidFill>
          <a:ln w="9525">
            <a:solidFill>
              <a:srgbClr val="000000"/>
            </a:solidFill>
            <a:miter lim="800000"/>
            <a:headEnd/>
            <a:tailEnd/>
          </a:ln>
          <a:effectLst>
            <a:outerShdw dist="107763" dir="2700000" algn="ctr" rotWithShape="0">
              <a:srgbClr val="808080"/>
            </a:outerShdw>
          </a:effectLst>
        </p:spPr>
        <p:txBody>
          <a:bodyPr/>
          <a:lstStyle/>
          <a:p>
            <a:endParaRPr lang="en-IE"/>
          </a:p>
        </p:txBody>
      </p:sp>
      <p:sp>
        <p:nvSpPr>
          <p:cNvPr id="23585" name="Text Box 33">
            <a:extLst>
              <a:ext uri="{FF2B5EF4-FFF2-40B4-BE49-F238E27FC236}">
                <a16:creationId xmlns:a16="http://schemas.microsoft.com/office/drawing/2014/main" id="{2F6CE626-D657-4570-AFB2-3DE2F83CA5F0}"/>
              </a:ext>
            </a:extLst>
          </p:cNvPr>
          <p:cNvSpPr txBox="1">
            <a:spLocks noChangeArrowheads="1"/>
          </p:cNvSpPr>
          <p:nvPr/>
        </p:nvSpPr>
        <p:spPr bwMode="auto">
          <a:xfrm rot="2321067">
            <a:off x="1981200" y="3748088"/>
            <a:ext cx="2286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1800" b="1"/>
              <a:t>Light rays from sky</a:t>
            </a:r>
            <a:endParaRPr lang="en-GB" altLang="en-US" sz="1800" b="1"/>
          </a:p>
        </p:txBody>
      </p:sp>
      <p:sp>
        <p:nvSpPr>
          <p:cNvPr id="23586" name="Text Box 34">
            <a:extLst>
              <a:ext uri="{FF2B5EF4-FFF2-40B4-BE49-F238E27FC236}">
                <a16:creationId xmlns:a16="http://schemas.microsoft.com/office/drawing/2014/main" id="{B209E0D7-E028-43F3-98B2-E14B41C4EFC4}"/>
              </a:ext>
            </a:extLst>
          </p:cNvPr>
          <p:cNvSpPr txBox="1">
            <a:spLocks noChangeArrowheads="1"/>
          </p:cNvSpPr>
          <p:nvPr/>
        </p:nvSpPr>
        <p:spPr bwMode="auto">
          <a:xfrm>
            <a:off x="2133600" y="533400"/>
            <a:ext cx="7543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a:t>Mirage    ----     Total Internal Reflection of light from sky</a:t>
            </a:r>
            <a:endParaRPr lang="en-GB" altLang="en-US"/>
          </a:p>
        </p:txBody>
      </p:sp>
      <p:sp>
        <p:nvSpPr>
          <p:cNvPr id="23593" name="Arc 41">
            <a:extLst>
              <a:ext uri="{FF2B5EF4-FFF2-40B4-BE49-F238E27FC236}">
                <a16:creationId xmlns:a16="http://schemas.microsoft.com/office/drawing/2014/main" id="{4D8F8090-4062-42A9-8292-EE7B3CE04B66}"/>
              </a:ext>
            </a:extLst>
          </p:cNvPr>
          <p:cNvSpPr>
            <a:spLocks/>
          </p:cNvSpPr>
          <p:nvPr/>
        </p:nvSpPr>
        <p:spPr bwMode="auto">
          <a:xfrm flipV="1">
            <a:off x="6019800" y="3124200"/>
            <a:ext cx="3962400" cy="23622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E"/>
          </a:p>
        </p:txBody>
      </p:sp>
      <p:sp>
        <p:nvSpPr>
          <p:cNvPr id="23594" name="Arc 42">
            <a:extLst>
              <a:ext uri="{FF2B5EF4-FFF2-40B4-BE49-F238E27FC236}">
                <a16:creationId xmlns:a16="http://schemas.microsoft.com/office/drawing/2014/main" id="{DD210F9D-5961-4A3B-B7DB-9DCA4AD25DDF}"/>
              </a:ext>
            </a:extLst>
          </p:cNvPr>
          <p:cNvSpPr>
            <a:spLocks/>
          </p:cNvSpPr>
          <p:nvPr/>
        </p:nvSpPr>
        <p:spPr bwMode="auto">
          <a:xfrm flipH="1" flipV="1">
            <a:off x="1524000" y="2133600"/>
            <a:ext cx="4419600" cy="3352800"/>
          </a:xfrm>
          <a:custGeom>
            <a:avLst/>
            <a:gdLst>
              <a:gd name="T0" fmla="*/ 0 w 21600"/>
              <a:gd name="T1" fmla="*/ 0 h 21600"/>
              <a:gd name="T2" fmla="*/ 2147483647 w 21600"/>
              <a:gd name="T3" fmla="*/ 2147483647 h 21600"/>
              <a:gd name="T4" fmla="*/ 0 w 21600"/>
              <a:gd name="T5" fmla="*/ 2147483647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anchor="ctr"/>
          <a:lstStyle/>
          <a:p>
            <a:endParaRPr lang="en-IE"/>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6" fill="hold" grpId="0" nodeType="clickEffect">
                                  <p:stCondLst>
                                    <p:cond delay="0"/>
                                  </p:stCondLst>
                                  <p:iterate type="wd">
                                    <p:tmPct val="100000"/>
                                  </p:iterate>
                                  <p:childTnLst>
                                    <p:set>
                                      <p:cBhvr>
                                        <p:cTn id="6" dur="1" fill="hold">
                                          <p:stCondLst>
                                            <p:cond delay="0"/>
                                          </p:stCondLst>
                                        </p:cTn>
                                        <p:tgtEl>
                                          <p:spTgt spid="23586"/>
                                        </p:tgtEl>
                                        <p:attrNameLst>
                                          <p:attrName>style.visibility</p:attrName>
                                        </p:attrNameLst>
                                      </p:cBhvr>
                                      <p:to>
                                        <p:strVal val="visible"/>
                                      </p:to>
                                    </p:set>
                                    <p:animEffect transition="in" filter="barn(inHorizontal)">
                                      <p:cBhvr>
                                        <p:cTn id="7" dur="300"/>
                                        <p:tgtEl>
                                          <p:spTgt spid="235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23594"/>
                                        </p:tgtEl>
                                        <p:attrNameLst>
                                          <p:attrName>style.visibility</p:attrName>
                                        </p:attrNameLst>
                                      </p:cBhvr>
                                      <p:to>
                                        <p:strVal val="visible"/>
                                      </p:to>
                                    </p:set>
                                    <p:animEffect transition="in" filter="wipe(up)">
                                      <p:cBhvr>
                                        <p:cTn id="12" dur="500"/>
                                        <p:tgtEl>
                                          <p:spTgt spid="235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6" fill="hold" grpId="0" nodeType="clickEffect">
                                  <p:stCondLst>
                                    <p:cond delay="0"/>
                                  </p:stCondLst>
                                  <p:iterate type="wd">
                                    <p:tmPct val="100000"/>
                                  </p:iterate>
                                  <p:childTnLst>
                                    <p:set>
                                      <p:cBhvr>
                                        <p:cTn id="16" dur="1" fill="hold">
                                          <p:stCondLst>
                                            <p:cond delay="0"/>
                                          </p:stCondLst>
                                        </p:cTn>
                                        <p:tgtEl>
                                          <p:spTgt spid="23585"/>
                                        </p:tgtEl>
                                        <p:attrNameLst>
                                          <p:attrName>style.visibility</p:attrName>
                                        </p:attrNameLst>
                                      </p:cBhvr>
                                      <p:to>
                                        <p:strVal val="visible"/>
                                      </p:to>
                                    </p:set>
                                    <p:animEffect transition="in" filter="barn(inHorizontal)">
                                      <p:cBhvr>
                                        <p:cTn id="17" dur="300"/>
                                        <p:tgtEl>
                                          <p:spTgt spid="235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23593"/>
                                        </p:tgtEl>
                                        <p:attrNameLst>
                                          <p:attrName>style.visibility</p:attrName>
                                        </p:attrNameLst>
                                      </p:cBhvr>
                                      <p:to>
                                        <p:strVal val="visible"/>
                                      </p:to>
                                    </p:set>
                                    <p:animEffect transition="in" filter="wipe(down)">
                                      <p:cBhvr>
                                        <p:cTn id="22" dur="500"/>
                                        <p:tgtEl>
                                          <p:spTgt spid="235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3582"/>
                                        </p:tgtEl>
                                        <p:attrNameLst>
                                          <p:attrName>style.visibility</p:attrName>
                                        </p:attrNameLst>
                                      </p:cBhvr>
                                      <p:to>
                                        <p:strVal val="visible"/>
                                      </p:to>
                                    </p:set>
                                    <p:animEffect transition="in" filter="dissolve">
                                      <p:cBhvr>
                                        <p:cTn id="27" dur="500"/>
                                        <p:tgtEl>
                                          <p:spTgt spid="23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85" grpId="0" autoUpdateAnimBg="0"/>
      <p:bldP spid="23586"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8553" name="Rectangle 108552">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46" name="Rectangle 2">
            <a:extLst>
              <a:ext uri="{FF2B5EF4-FFF2-40B4-BE49-F238E27FC236}">
                <a16:creationId xmlns:a16="http://schemas.microsoft.com/office/drawing/2014/main" id="{5DC0C671-19C0-4F8E-9B87-7B02D04ACED6}"/>
              </a:ext>
            </a:extLst>
          </p:cNvPr>
          <p:cNvSpPr>
            <a:spLocks noGrp="1" noChangeArrowheads="1"/>
          </p:cNvSpPr>
          <p:nvPr>
            <p:ph type="title"/>
          </p:nvPr>
        </p:nvSpPr>
        <p:spPr>
          <a:xfrm>
            <a:off x="640080" y="325369"/>
            <a:ext cx="4368602" cy="1956841"/>
          </a:xfrm>
        </p:spPr>
        <p:txBody>
          <a:bodyPr anchor="b">
            <a:normAutofit/>
          </a:bodyPr>
          <a:lstStyle/>
          <a:p>
            <a:pPr eaLnBrk="1" hangingPunct="1"/>
            <a:r>
              <a:rPr lang="en-GB" altLang="en-US" sz="4200"/>
              <a:t>T</a:t>
            </a:r>
            <a:r>
              <a:rPr lang="en-IE" altLang="en-US" sz="4200"/>
              <a:t>otal </a:t>
            </a:r>
            <a:r>
              <a:rPr lang="en-GB" altLang="en-US" sz="4200"/>
              <a:t>I</a:t>
            </a:r>
            <a:r>
              <a:rPr lang="en-IE" altLang="en-US" sz="4200"/>
              <a:t>nternal </a:t>
            </a:r>
            <a:r>
              <a:rPr lang="en-GB" altLang="en-US" sz="4200"/>
              <a:t>R</a:t>
            </a:r>
            <a:r>
              <a:rPr lang="en-IE" altLang="en-US" sz="4200"/>
              <a:t>eflection:</a:t>
            </a:r>
            <a:r>
              <a:rPr lang="en-GB" altLang="en-US" sz="4200"/>
              <a:t> </a:t>
            </a:r>
            <a:br>
              <a:rPr lang="en-IE" altLang="en-US" sz="4200"/>
            </a:br>
            <a:r>
              <a:rPr lang="en-IE" altLang="en-US" sz="4200"/>
              <a:t>A </a:t>
            </a:r>
            <a:r>
              <a:rPr lang="en-GB" altLang="en-US" sz="4200"/>
              <a:t>Mirage on Water</a:t>
            </a:r>
          </a:p>
        </p:txBody>
      </p:sp>
      <p:sp>
        <p:nvSpPr>
          <p:cNvPr id="108555"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547" name="Rectangle 3">
            <a:extLst>
              <a:ext uri="{FF2B5EF4-FFF2-40B4-BE49-F238E27FC236}">
                <a16:creationId xmlns:a16="http://schemas.microsoft.com/office/drawing/2014/main" id="{FC87B7BD-1F88-49D8-ABF1-C6FF11ECF4B4}"/>
              </a:ext>
            </a:extLst>
          </p:cNvPr>
          <p:cNvSpPr>
            <a:spLocks noGrp="1" noChangeArrowheads="1"/>
          </p:cNvSpPr>
          <p:nvPr>
            <p:ph type="body" idx="1"/>
          </p:nvPr>
        </p:nvSpPr>
        <p:spPr>
          <a:xfrm>
            <a:off x="640080" y="2872899"/>
            <a:ext cx="4243589" cy="3320668"/>
          </a:xfrm>
        </p:spPr>
        <p:txBody>
          <a:bodyPr>
            <a:normAutofit/>
          </a:bodyPr>
          <a:lstStyle/>
          <a:p>
            <a:pPr eaLnBrk="1" hangingPunct="1">
              <a:spcBef>
                <a:spcPct val="30000"/>
              </a:spcBef>
            </a:pPr>
            <a:r>
              <a:rPr lang="en-IE" altLang="en-US" sz="2200"/>
              <a:t>The shining surface of water seen as a mirage.</a:t>
            </a:r>
          </a:p>
          <a:p>
            <a:pPr eaLnBrk="1" hangingPunct="1">
              <a:spcBef>
                <a:spcPct val="30000"/>
              </a:spcBef>
            </a:pPr>
            <a:r>
              <a:rPr lang="en-IE" altLang="en-US" sz="2200"/>
              <a:t>The mirage is slightly elevated above the horizon and appears more yellow than the real surface of water.</a:t>
            </a:r>
            <a:endParaRPr lang="en-GB" altLang="en-US" sz="2200"/>
          </a:p>
        </p:txBody>
      </p:sp>
      <p:pic>
        <p:nvPicPr>
          <p:cNvPr id="108548" name="Picture 4" descr="C:\WINDOWS\Desktop\Physics 1      O'Regan\O'Regan Chapter 04 - Refraction\TIR- Mirage1.JPG">
            <a:extLst>
              <a:ext uri="{FF2B5EF4-FFF2-40B4-BE49-F238E27FC236}">
                <a16:creationId xmlns:a16="http://schemas.microsoft.com/office/drawing/2014/main" id="{91947790-D426-41EC-90FD-63206F06D7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1933" r="14800" b="2"/>
          <a:stretch>
            <a:fillRect/>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454CC86-EF91-4A49-B2B5-05948B80EAC2}"/>
              </a:ext>
            </a:extLst>
          </p:cNvPr>
          <p:cNvSpPr>
            <a:spLocks noGrp="1" noChangeArrowheads="1"/>
          </p:cNvSpPr>
          <p:nvPr>
            <p:ph type="title"/>
          </p:nvPr>
        </p:nvSpPr>
        <p:spPr>
          <a:xfrm>
            <a:off x="1981200" y="-304800"/>
            <a:ext cx="8229600" cy="1143000"/>
          </a:xfrm>
        </p:spPr>
        <p:txBody>
          <a:bodyPr/>
          <a:lstStyle/>
          <a:p>
            <a:r>
              <a:rPr lang="en-IE" altLang="en-US">
                <a:solidFill>
                  <a:srgbClr val="FF6600"/>
                </a:solidFill>
              </a:rPr>
              <a:t>Mirages</a:t>
            </a:r>
            <a:endParaRPr lang="en-GB" altLang="en-US">
              <a:solidFill>
                <a:srgbClr val="FF6600"/>
              </a:solidFill>
            </a:endParaRPr>
          </a:p>
        </p:txBody>
      </p:sp>
      <p:pic>
        <p:nvPicPr>
          <p:cNvPr id="111619" name="Picture 3" descr="C:\science &amp; maths\physics\pics\mirage-intro.jpg">
            <a:extLst>
              <a:ext uri="{FF2B5EF4-FFF2-40B4-BE49-F238E27FC236}">
                <a16:creationId xmlns:a16="http://schemas.microsoft.com/office/drawing/2014/main" id="{11725411-AD3F-4E02-AB3F-51A7A2C1BA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667"/>
          <a:stretch>
            <a:fillRect/>
          </a:stretch>
        </p:blipFill>
        <p:spPr bwMode="auto">
          <a:xfrm>
            <a:off x="1828800" y="1295400"/>
            <a:ext cx="3048000"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9157" name="Object 5">
            <a:extLst>
              <a:ext uri="{FF2B5EF4-FFF2-40B4-BE49-F238E27FC236}">
                <a16:creationId xmlns:a16="http://schemas.microsoft.com/office/drawing/2014/main" id="{981D6DB2-2FDD-4D63-B5B6-0D25B7F6202E}"/>
              </a:ext>
            </a:extLst>
          </p:cNvPr>
          <p:cNvGraphicFramePr>
            <a:graphicFrameLocks noChangeAspect="1"/>
          </p:cNvGraphicFramePr>
          <p:nvPr/>
        </p:nvGraphicFramePr>
        <p:xfrm>
          <a:off x="5334000" y="1304926"/>
          <a:ext cx="5105400" cy="2822575"/>
        </p:xfrm>
        <a:graphic>
          <a:graphicData uri="http://schemas.openxmlformats.org/presentationml/2006/ole">
            <mc:AlternateContent xmlns:mc="http://schemas.openxmlformats.org/markup-compatibility/2006">
              <mc:Choice xmlns:v="urn:schemas-microsoft-com:vml" Requires="v">
                <p:oleObj name="Bitmap Image" r:id="rId3" imgW="6152381" imgH="3400900" progId="Paint.Picture">
                  <p:embed/>
                </p:oleObj>
              </mc:Choice>
              <mc:Fallback>
                <p:oleObj name="Bitmap Image" r:id="rId3" imgW="6152381" imgH="3400900" progId="Paint.Picture">
                  <p:embed/>
                  <p:pic>
                    <p:nvPicPr>
                      <p:cNvPr id="49157" name="Object 5">
                        <a:extLst>
                          <a:ext uri="{FF2B5EF4-FFF2-40B4-BE49-F238E27FC236}">
                            <a16:creationId xmlns:a16="http://schemas.microsoft.com/office/drawing/2014/main" id="{981D6DB2-2FDD-4D63-B5B6-0D25B7F6202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1304926"/>
                        <a:ext cx="5105400" cy="282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58" name="Text Box 6">
            <a:extLst>
              <a:ext uri="{FF2B5EF4-FFF2-40B4-BE49-F238E27FC236}">
                <a16:creationId xmlns:a16="http://schemas.microsoft.com/office/drawing/2014/main" id="{48E7386D-5549-4CA6-9FE6-082BD896A1F7}"/>
              </a:ext>
            </a:extLst>
          </p:cNvPr>
          <p:cNvSpPr txBox="1">
            <a:spLocks noChangeArrowheads="1"/>
          </p:cNvSpPr>
          <p:nvPr/>
        </p:nvSpPr>
        <p:spPr bwMode="auto">
          <a:xfrm>
            <a:off x="1828800" y="4419600"/>
            <a:ext cx="8458200" cy="1798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Times New Roman" panose="02020603050405020304" pitchFamily="18" charset="0"/>
                <a:cs typeface="Arial" panose="020B0604020202020204" pitchFamily="34" charset="0"/>
              </a:defRPr>
            </a:lvl1pPr>
            <a:lvl2pPr marL="742950" indent="-285750" eaLnBrk="0" hangingPunct="0">
              <a:defRPr sz="2400">
                <a:solidFill>
                  <a:schemeClr val="tx1"/>
                </a:solidFill>
                <a:latin typeface="Times New Roman" panose="02020603050405020304" pitchFamily="18" charset="0"/>
                <a:cs typeface="Arial" panose="020B0604020202020204" pitchFamily="34" charset="0"/>
              </a:defRPr>
            </a:lvl2pPr>
            <a:lvl3pPr marL="1143000" indent="-228600" eaLnBrk="0" hangingPunct="0">
              <a:defRPr sz="2400">
                <a:solidFill>
                  <a:schemeClr val="tx1"/>
                </a:solidFill>
                <a:latin typeface="Times New Roman" panose="02020603050405020304" pitchFamily="18" charset="0"/>
                <a:cs typeface="Arial" panose="020B0604020202020204" pitchFamily="34" charset="0"/>
              </a:defRPr>
            </a:lvl3pPr>
            <a:lvl4pPr marL="1600200" indent="-228600" eaLnBrk="0" hangingPunct="0">
              <a:defRPr sz="2400">
                <a:solidFill>
                  <a:schemeClr val="tx1"/>
                </a:solidFill>
                <a:latin typeface="Times New Roman" panose="02020603050405020304" pitchFamily="18" charset="0"/>
                <a:cs typeface="Arial" panose="020B0604020202020204" pitchFamily="34" charset="0"/>
              </a:defRPr>
            </a:lvl4pPr>
            <a:lvl5pPr marL="2057400" indent="-228600" eaLnBrk="0" hangingPunct="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spcBef>
                <a:spcPct val="50000"/>
              </a:spcBef>
            </a:pPr>
            <a:r>
              <a:rPr lang="en-IE" altLang="en-US" sz="3200">
                <a:solidFill>
                  <a:schemeClr val="bg1"/>
                </a:solidFill>
              </a:rPr>
              <a:t>Hot air has a lower density than cold air so refraction of the incident light occurs.</a:t>
            </a:r>
          </a:p>
          <a:p>
            <a:pPr eaLnBrk="1" hangingPunct="1">
              <a:spcBef>
                <a:spcPct val="50000"/>
              </a:spcBef>
            </a:pPr>
            <a:endParaRPr lang="en-GB" altLang="en-US" sz="320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49157"/>
                                        </p:tgtEl>
                                        <p:attrNameLst>
                                          <p:attrName>style.visibility</p:attrName>
                                        </p:attrNameLst>
                                      </p:cBhvr>
                                      <p:to>
                                        <p:strVal val="visible"/>
                                      </p:to>
                                    </p:set>
                                    <p:anim calcmode="lin" valueType="num">
                                      <p:cBhvr>
                                        <p:cTn id="7" dur="500" fill="hold"/>
                                        <p:tgtEl>
                                          <p:spTgt spid="49157"/>
                                        </p:tgtEl>
                                        <p:attrNameLst>
                                          <p:attrName>ppt_w</p:attrName>
                                        </p:attrNameLst>
                                      </p:cBhvr>
                                      <p:tavLst>
                                        <p:tav tm="0">
                                          <p:val>
                                            <p:fltVal val="0"/>
                                          </p:val>
                                        </p:tav>
                                        <p:tav tm="100000">
                                          <p:val>
                                            <p:strVal val="#ppt_w"/>
                                          </p:val>
                                        </p:tav>
                                      </p:tavLst>
                                    </p:anim>
                                    <p:anim calcmode="lin" valueType="num">
                                      <p:cBhvr>
                                        <p:cTn id="8" dur="500" fill="hold"/>
                                        <p:tgtEl>
                                          <p:spTgt spid="49157"/>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491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EE16FEC-3B19-4E12-8BE2-442AB9A85DE1}"/>
              </a:ext>
            </a:extLst>
          </p:cNvPr>
          <p:cNvSpPr>
            <a:spLocks noGrp="1" noChangeArrowheads="1"/>
          </p:cNvSpPr>
          <p:nvPr>
            <p:ph type="title"/>
          </p:nvPr>
        </p:nvSpPr>
        <p:spPr/>
        <p:txBody>
          <a:bodyPr/>
          <a:lstStyle/>
          <a:p>
            <a:r>
              <a:rPr lang="en-US" altLang="en-US" sz="3600">
                <a:latin typeface="Verdana" panose="020B0604030504040204" pitchFamily="34" charset="0"/>
              </a:rPr>
              <a:t>Does the “little star” actually twinkle?</a:t>
            </a:r>
          </a:p>
        </p:txBody>
      </p:sp>
      <p:sp>
        <p:nvSpPr>
          <p:cNvPr id="3076" name="Rectangle 4">
            <a:extLst>
              <a:ext uri="{FF2B5EF4-FFF2-40B4-BE49-F238E27FC236}">
                <a16:creationId xmlns:a16="http://schemas.microsoft.com/office/drawing/2014/main" id="{3437CFEA-B25E-4D5D-83FD-F02530F025A1}"/>
              </a:ext>
            </a:extLst>
          </p:cNvPr>
          <p:cNvSpPr>
            <a:spLocks noGrp="1" noChangeArrowheads="1"/>
          </p:cNvSpPr>
          <p:nvPr>
            <p:ph type="body" sz="half" idx="1"/>
          </p:nvPr>
        </p:nvSpPr>
        <p:spPr>
          <a:xfrm>
            <a:off x="1981200" y="1981201"/>
            <a:ext cx="8229600" cy="4149725"/>
          </a:xfrm>
        </p:spPr>
        <p:txBody>
          <a:bodyPr/>
          <a:lstStyle/>
          <a:p>
            <a:r>
              <a:rPr lang="en-US" altLang="en-US">
                <a:solidFill>
                  <a:srgbClr val="00FF00"/>
                </a:solidFill>
              </a:rPr>
              <a:t>When looking at a star you are looking through the earth’s entire atmosphere, made up of many layers of air</a:t>
            </a:r>
          </a:p>
          <a:p>
            <a:r>
              <a:rPr lang="en-US" altLang="en-US">
                <a:solidFill>
                  <a:srgbClr val="FF6699"/>
                </a:solidFill>
              </a:rPr>
              <a:t>All  moving</a:t>
            </a:r>
          </a:p>
          <a:p>
            <a:r>
              <a:rPr lang="en-US" altLang="en-US">
                <a:solidFill>
                  <a:srgbClr val="00FFFF"/>
                </a:solidFill>
              </a:rPr>
              <a:t>At various temperatures</a:t>
            </a:r>
          </a:p>
          <a:p>
            <a:r>
              <a:rPr lang="en-US" altLang="en-US"/>
              <a:t>Having various densities</a:t>
            </a:r>
          </a:p>
          <a:p>
            <a:r>
              <a:rPr lang="en-US" altLang="en-US">
                <a:solidFill>
                  <a:srgbClr val="FF3300"/>
                </a:solidFill>
              </a:rPr>
              <a:t>Giving multiple </a:t>
            </a:r>
            <a:r>
              <a:rPr lang="en-US" altLang="en-US" b="1" i="1">
                <a:solidFill>
                  <a:srgbClr val="FF3300"/>
                </a:solidFill>
              </a:rPr>
              <a:t>refractions</a:t>
            </a:r>
          </a:p>
        </p:txBody>
      </p:sp>
      <p:pic>
        <p:nvPicPr>
          <p:cNvPr id="112644" name="Picture 6" descr="animated-large-star">
            <a:extLst>
              <a:ext uri="{FF2B5EF4-FFF2-40B4-BE49-F238E27FC236}">
                <a16:creationId xmlns:a16="http://schemas.microsoft.com/office/drawing/2014/main" id="{C58DE5F2-6DDD-435B-A32B-CFB808DBB753}"/>
              </a:ext>
            </a:extLst>
          </p:cNvPr>
          <p:cNvPicPr>
            <a:picLocks noGrp="1" noChangeAspect="1" noChangeArrowheads="1" noCrop="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1905001" y="381001"/>
            <a:ext cx="866775" cy="904875"/>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2645" name="Rectangle 10">
            <a:extLst>
              <a:ext uri="{FF2B5EF4-FFF2-40B4-BE49-F238E27FC236}">
                <a16:creationId xmlns:a16="http://schemas.microsoft.com/office/drawing/2014/main" id="{7CCB674C-D98F-4CC8-990B-0C52D8CEA328}"/>
              </a:ext>
            </a:extLst>
          </p:cNvPr>
          <p:cNvSpPr>
            <a:spLocks noGrp="1" noChangeArrowheads="1"/>
          </p:cNvSpPr>
          <p:nvPr>
            <p:ph sz="quarter" idx="3"/>
          </p:nvPr>
        </p:nvSpPr>
        <p:spPr/>
        <p:txBody>
          <a:bodyPr/>
          <a:lstStyle/>
          <a:p>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2000"/>
                                        <p:tgtEl>
                                          <p:spTgt spid="30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76">
                                            <p:txEl>
                                              <p:pRg st="0" end="0"/>
                                            </p:txEl>
                                          </p:spTgt>
                                        </p:tgtEl>
                                        <p:attrNameLst>
                                          <p:attrName>style.visibility</p:attrName>
                                        </p:attrNameLst>
                                      </p:cBhvr>
                                      <p:to>
                                        <p:strVal val="visible"/>
                                      </p:to>
                                    </p:set>
                                    <p:animEffect transition="in" filter="fade">
                                      <p:cBhvr>
                                        <p:cTn id="12" dur="2000"/>
                                        <p:tgtEl>
                                          <p:spTgt spid="307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76">
                                            <p:txEl>
                                              <p:pRg st="1" end="1"/>
                                            </p:txEl>
                                          </p:spTgt>
                                        </p:tgtEl>
                                        <p:attrNameLst>
                                          <p:attrName>style.visibility</p:attrName>
                                        </p:attrNameLst>
                                      </p:cBhvr>
                                      <p:to>
                                        <p:strVal val="visible"/>
                                      </p:to>
                                    </p:set>
                                    <p:animEffect transition="in" filter="fade">
                                      <p:cBhvr>
                                        <p:cTn id="17" dur="2000"/>
                                        <p:tgtEl>
                                          <p:spTgt spid="307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076">
                                            <p:txEl>
                                              <p:pRg st="2" end="2"/>
                                            </p:txEl>
                                          </p:spTgt>
                                        </p:tgtEl>
                                        <p:attrNameLst>
                                          <p:attrName>style.visibility</p:attrName>
                                        </p:attrNameLst>
                                      </p:cBhvr>
                                      <p:to>
                                        <p:strVal val="visible"/>
                                      </p:to>
                                    </p:set>
                                    <p:animEffect transition="in" filter="fade">
                                      <p:cBhvr>
                                        <p:cTn id="22" dur="2000"/>
                                        <p:tgtEl>
                                          <p:spTgt spid="307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076">
                                            <p:txEl>
                                              <p:pRg st="3" end="3"/>
                                            </p:txEl>
                                          </p:spTgt>
                                        </p:tgtEl>
                                        <p:attrNameLst>
                                          <p:attrName>style.visibility</p:attrName>
                                        </p:attrNameLst>
                                      </p:cBhvr>
                                      <p:to>
                                        <p:strVal val="visible"/>
                                      </p:to>
                                    </p:set>
                                    <p:animEffect transition="in" filter="fade">
                                      <p:cBhvr>
                                        <p:cTn id="27" dur="2000"/>
                                        <p:tgtEl>
                                          <p:spTgt spid="307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076">
                                            <p:txEl>
                                              <p:pRg st="4" end="4"/>
                                            </p:txEl>
                                          </p:spTgt>
                                        </p:tgtEl>
                                        <p:attrNameLst>
                                          <p:attrName>style.visibility</p:attrName>
                                        </p:attrNameLst>
                                      </p:cBhvr>
                                      <p:to>
                                        <p:strVal val="visible"/>
                                      </p:to>
                                    </p:set>
                                    <p:animEffect transition="in" filter="fade">
                                      <p:cBhvr>
                                        <p:cTn id="32" dur="2000"/>
                                        <p:tgtEl>
                                          <p:spTgt spid="307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6"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666" name="Picture 9" descr="Twinkle">
            <a:extLst>
              <a:ext uri="{FF2B5EF4-FFF2-40B4-BE49-F238E27FC236}">
                <a16:creationId xmlns:a16="http://schemas.microsoft.com/office/drawing/2014/main" id="{BD41FCA3-4744-4378-83DC-B784758C7510}"/>
              </a:ext>
            </a:extLst>
          </p:cNvPr>
          <p:cNvPicPr>
            <a:picLocks noGrp="1" noChangeAspect="1" noChangeArrowheads="1" noCrop="1"/>
          </p:cNvPicPr>
          <p:nvPr>
            <p:ph/>
          </p:nvPr>
        </p:nvPicPr>
        <p:blipFill>
          <a:blip r:embed="rId2">
            <a:extLst>
              <a:ext uri="{28A0092B-C50C-407E-A947-70E740481C1C}">
                <a14:useLocalDpi xmlns:a14="http://schemas.microsoft.com/office/drawing/2010/main" val="0"/>
              </a:ext>
            </a:extLst>
          </a:blip>
          <a:srcRect/>
          <a:stretch>
            <a:fillRect/>
          </a:stretch>
        </p:blipFill>
        <p:spPr>
          <a:xfrm>
            <a:off x="2971800" y="682626"/>
            <a:ext cx="6172200" cy="5180013"/>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90" name="Picture 5" descr="shimmering-multistars">
            <a:extLst>
              <a:ext uri="{FF2B5EF4-FFF2-40B4-BE49-F238E27FC236}">
                <a16:creationId xmlns:a16="http://schemas.microsoft.com/office/drawing/2014/main" id="{B09B147C-555F-49CD-9896-7DC4F21B5183}"/>
              </a:ext>
            </a:extLst>
          </p:cNvPr>
          <p:cNvPicPr>
            <a:picLocks noGrp="1" noChangeAspect="1" noChangeArrowheads="1" noCrop="1"/>
          </p:cNvPicPr>
          <p:nvPr>
            <p:ph/>
          </p:nvPr>
        </p:nvPicPr>
        <p:blipFill>
          <a:blip r:embed="rId2">
            <a:extLst>
              <a:ext uri="{28A0092B-C50C-407E-A947-70E740481C1C}">
                <a14:useLocalDpi xmlns:a14="http://schemas.microsoft.com/office/drawing/2010/main" val="0"/>
              </a:ext>
            </a:extLst>
          </a:blip>
          <a:srcRect/>
          <a:stretch>
            <a:fillRect/>
          </a:stretch>
        </p:blipFill>
        <p:spPr>
          <a:xfrm>
            <a:off x="2743200" y="685800"/>
            <a:ext cx="6172200" cy="5029200"/>
          </a:xfrm>
          <a:noFill/>
          <a:extLs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4136</TotalTime>
  <Words>1338</Words>
  <Application>Microsoft Macintosh PowerPoint</Application>
  <PresentationFormat>Widescreen</PresentationFormat>
  <Paragraphs>159</Paragraphs>
  <Slides>47</Slides>
  <Notes>17</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47</vt:i4>
      </vt:variant>
    </vt:vector>
  </HeadingPairs>
  <TitlesOfParts>
    <vt:vector size="58" baseType="lpstr">
      <vt:lpstr>Aptos</vt:lpstr>
      <vt:lpstr>Aptos Display</vt:lpstr>
      <vt:lpstr>Arial</vt:lpstr>
      <vt:lpstr>Calibri</vt:lpstr>
      <vt:lpstr>Symbol</vt:lpstr>
      <vt:lpstr>Times New Roman</vt:lpstr>
      <vt:lpstr>Verdana</vt:lpstr>
      <vt:lpstr>Wingdings</vt:lpstr>
      <vt:lpstr>Office Theme</vt:lpstr>
      <vt:lpstr>Image</vt:lpstr>
      <vt:lpstr>Bitmap Image</vt:lpstr>
      <vt:lpstr>Total Internal Reflection</vt:lpstr>
      <vt:lpstr>Snell’s Window</vt:lpstr>
      <vt:lpstr>Snell’s Window</vt:lpstr>
      <vt:lpstr>Prisms</vt:lpstr>
      <vt:lpstr>rainbow</vt:lpstr>
      <vt:lpstr>7 colours ?</vt:lpstr>
      <vt:lpstr>Uses of prisms</vt:lpstr>
      <vt:lpstr>Using T.I.R. in a prism to deviate light through 90</vt:lpstr>
      <vt:lpstr>PowerPoint Presentation</vt:lpstr>
      <vt:lpstr>PowerPoint Presentation</vt:lpstr>
      <vt:lpstr>Using T.I.R. in a prism to deviate light through 180</vt:lpstr>
      <vt:lpstr>PowerPoint Presentation</vt:lpstr>
      <vt:lpstr>TIR –Prism &amp; Ruler</vt:lpstr>
      <vt:lpstr>Applications of T.I.R.</vt:lpstr>
      <vt:lpstr>T.I.R. is Used in  Car/Bicycle Reflectors</vt:lpstr>
      <vt:lpstr>Example: Prism reflectors</vt:lpstr>
      <vt:lpstr>Retro reflectors on the moon </vt:lpstr>
      <vt:lpstr>T.I.R. is used in  prism binoculars</vt:lpstr>
      <vt:lpstr>Uses of prisms</vt:lpstr>
      <vt:lpstr>PowerPoint Presentation</vt:lpstr>
      <vt:lpstr>What is an Optical Fibre</vt:lpstr>
      <vt:lpstr>Use of Optical Fibres</vt:lpstr>
      <vt:lpstr>How do Optical Fibres transmit information?</vt:lpstr>
      <vt:lpstr>PowerPoint Presentation</vt:lpstr>
      <vt:lpstr>PowerPoint Presentation</vt:lpstr>
      <vt:lpstr>PowerPoint Presentation</vt:lpstr>
      <vt:lpstr>PowerPoint Presentation</vt:lpstr>
      <vt:lpstr>What is cladding on an optic fibre?</vt:lpstr>
      <vt:lpstr>Where does the total internal reflection occur?</vt:lpstr>
      <vt:lpstr>PowerPoint Presentation</vt:lpstr>
      <vt:lpstr>Exercise</vt:lpstr>
      <vt:lpstr>PowerPoint Presentation</vt:lpstr>
      <vt:lpstr>PowerPoint Presentation</vt:lpstr>
      <vt:lpstr>PowerPoint Presentation</vt:lpstr>
      <vt:lpstr>PowerPoint Presentation</vt:lpstr>
      <vt:lpstr>Structure of an Optic Fibre</vt:lpstr>
      <vt:lpstr>Optic Fibres: “light pipes”??</vt:lpstr>
      <vt:lpstr>Optical Fibres in Telecommunications</vt:lpstr>
      <vt:lpstr>TIR –Prism &amp; Ruler</vt:lpstr>
      <vt:lpstr>Another application of T.I.R.:  A fibre optic lamp</vt:lpstr>
      <vt:lpstr>T.I.R. : The Mirage</vt:lpstr>
      <vt:lpstr>PowerPoint Presentation</vt:lpstr>
      <vt:lpstr>Total Internal Reflection:  A Mirage on Water</vt:lpstr>
      <vt:lpstr>Mirages</vt:lpstr>
      <vt:lpstr>Does the “little star” actually twinkle?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 Casey</dc:creator>
  <cp:lastModifiedBy>A Casey</cp:lastModifiedBy>
  <cp:revision>3</cp:revision>
  <dcterms:created xsi:type="dcterms:W3CDTF">2026-10-08T19:03:00Z</dcterms:created>
  <dcterms:modified xsi:type="dcterms:W3CDTF">2026-10-11T15:59:15Z</dcterms:modified>
</cp:coreProperties>
</file>