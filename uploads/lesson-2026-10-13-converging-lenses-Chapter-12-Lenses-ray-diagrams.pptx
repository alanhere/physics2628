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5"/>
  </p:notesMasterIdLst>
  <p:sldIdLst>
    <p:sldId id="450" r:id="rId2"/>
    <p:sldId id="449" r:id="rId3"/>
    <p:sldId id="438" r:id="rId4"/>
    <p:sldId id="363" r:id="rId5"/>
    <p:sldId id="437" r:id="rId6"/>
    <p:sldId id="294" r:id="rId7"/>
    <p:sldId id="353" r:id="rId8"/>
    <p:sldId id="295" r:id="rId9"/>
    <p:sldId id="448" r:id="rId10"/>
    <p:sldId id="439" r:id="rId11"/>
    <p:sldId id="296" r:id="rId12"/>
    <p:sldId id="366" r:id="rId13"/>
    <p:sldId id="297" r:id="rId14"/>
    <p:sldId id="436" r:id="rId15"/>
    <p:sldId id="445" r:id="rId16"/>
    <p:sldId id="446" r:id="rId17"/>
    <p:sldId id="328" r:id="rId18"/>
    <p:sldId id="329" r:id="rId19"/>
    <p:sldId id="330" r:id="rId20"/>
    <p:sldId id="331" r:id="rId21"/>
    <p:sldId id="440" r:id="rId22"/>
    <p:sldId id="332" r:id="rId23"/>
    <p:sldId id="333" r:id="rId24"/>
    <p:sldId id="441" r:id="rId25"/>
    <p:sldId id="334" r:id="rId26"/>
    <p:sldId id="442" r:id="rId27"/>
    <p:sldId id="335" r:id="rId28"/>
    <p:sldId id="352" r:id="rId29"/>
    <p:sldId id="443" r:id="rId30"/>
    <p:sldId id="444" r:id="rId31"/>
    <p:sldId id="432" r:id="rId32"/>
    <p:sldId id="401" r:id="rId33"/>
    <p:sldId id="447" r:id="rId34"/>
    <p:sldId id="266" r:id="rId35"/>
    <p:sldId id="299" r:id="rId36"/>
    <p:sldId id="420" r:id="rId37"/>
    <p:sldId id="421" r:id="rId38"/>
    <p:sldId id="422" r:id="rId39"/>
    <p:sldId id="381" r:id="rId40"/>
    <p:sldId id="322" r:id="rId41"/>
    <p:sldId id="373" r:id="rId42"/>
    <p:sldId id="407" r:id="rId43"/>
    <p:sldId id="409" r:id="rId44"/>
    <p:sldId id="408" r:id="rId45"/>
    <p:sldId id="387" r:id="rId46"/>
    <p:sldId id="402" r:id="rId47"/>
    <p:sldId id="298" r:id="rId48"/>
    <p:sldId id="300" r:id="rId49"/>
    <p:sldId id="301" r:id="rId50"/>
    <p:sldId id="302" r:id="rId51"/>
    <p:sldId id="303" r:id="rId52"/>
    <p:sldId id="304" r:id="rId53"/>
    <p:sldId id="305" r:id="rId5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jpztIkIkKany49gjF57kgTNOP0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0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C4FBEC8B-65A2-E70E-8177-92B339FAA7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C66775BD-6348-C2C0-AE88-936B3AC6BC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829CE586-3783-DA6E-D14B-05ABB78E8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0CAB77C-B904-6D46-BEC8-47963EAC2FCB}" type="slidenum">
              <a:rPr lang="en-IE" altLang="en-US" sz="1200"/>
              <a:pPr eaLnBrk="1" hangingPunct="1"/>
              <a:t>3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7" name="Google Shape;37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5" name="Google Shape;38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2" name="Google Shape;39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1" name="Google Shape;40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 1.1 new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E0E37-5F31-4073-8F35-FD795A54992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842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84F93254-E4B8-2E93-9E39-3062FA4E9B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5833E353-CB44-6642-3F7E-9DBE1A9325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AC4F3059-E9ED-53CF-8944-EB755DCC3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283A7D4-6385-8847-BDD4-3409C6F3EB6A}" type="slidenum">
              <a:rPr lang="en-IE" altLang="en-US" sz="1200"/>
              <a:pPr eaLnBrk="1" hangingPunct="1"/>
              <a:t>17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B8F80B8C-F9A3-3B54-BA47-F181C469E7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76341164-3F6C-FD40-5F24-E34DBD9FEC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6A43E94A-2481-CBC5-3D09-9E1C0A818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CDDAABE-9A52-DD47-BC7D-9C907A14385C}" type="slidenum">
              <a:rPr lang="en-IE" altLang="en-US" sz="1200"/>
              <a:pPr eaLnBrk="1" hangingPunct="1"/>
              <a:t>18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E5476A79-6CCA-4DD4-9602-5946F989B9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78FBC524-4E14-44F9-CF39-747FFA150F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55354302-AD13-8EDC-5B0A-7E2EC3CBC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39DC427-C63E-6E43-AFC9-57336C88C147}" type="slidenum">
              <a:rPr lang="en-IE" altLang="en-US" sz="1200"/>
              <a:pPr eaLnBrk="1" hangingPunct="1"/>
              <a:t>19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889285F2-6D1E-C92D-B8FE-ADDB36252B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C9AC201A-655B-6FAA-F023-65D0E93012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39080E13-EB3C-1D51-FA9F-15582BC7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0E4CB44-3B42-C446-8F1F-BED0B70D18B9}" type="slidenum">
              <a:rPr lang="en-IE" altLang="en-US" sz="1200"/>
              <a:pPr eaLnBrk="1" hangingPunct="1"/>
              <a:t>20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85A4E85F-9A8D-0C8D-19B1-DA0DD6A87C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FAC42BBF-4190-B4E1-5074-D0773CB663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9D0D83B8-6E05-CA01-3B33-368E515088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56A2B82-D770-3246-A2DA-AD2394D6CE70}" type="slidenum">
              <a:rPr lang="en-IE" altLang="en-US" sz="1200"/>
              <a:pPr eaLnBrk="1" hangingPunct="1"/>
              <a:t>21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D18DCB51-9340-479B-5A23-9D363BA0F7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84F8575D-C43E-8EC5-6F83-965366ECD8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E99D0010-FB6A-DCD2-8B65-2D0426716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1D91EDE-863E-1743-BDA4-14B359F31202}" type="slidenum">
              <a:rPr lang="en-IE" altLang="en-US" sz="1200"/>
              <a:pPr eaLnBrk="1" hangingPunct="1"/>
              <a:t>22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DEA5B1CC-0DEB-464E-1966-767866F0DC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3A97A102-1C92-4526-2D5B-0AFBA5420B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48DE0650-D02A-A5F7-9D03-BC3C85DE8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67C6B9D-602F-D246-B92A-9BB1A2C32C81}" type="slidenum">
              <a:rPr lang="en-IE" altLang="en-US" sz="1200"/>
              <a:pPr eaLnBrk="1" hangingPunct="1"/>
              <a:t>23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7045A9F0-3EC6-7259-56D3-C376C10544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B64A50EA-98CE-EA96-72FA-1CEF2D2308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4002B3EA-3CF3-ADD0-A40C-C93C76061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5DB5F7B-4F55-EE45-82F1-72AE1AF7481E}" type="slidenum">
              <a:rPr lang="en-IE" altLang="en-US" sz="1200"/>
              <a:pPr eaLnBrk="1" hangingPunct="1"/>
              <a:t>24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F5DA9E5D-6D49-5977-35E8-EE66A79EE0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>
            <a:extLst>
              <a:ext uri="{FF2B5EF4-FFF2-40B4-BE49-F238E27FC236}">
                <a16:creationId xmlns:a16="http://schemas.microsoft.com/office/drawing/2014/main" id="{DC9A0E61-AFC8-57A4-696E-00C22B850A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4467D8B0-8060-A549-4A0B-3A8267454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6DDE735-BE97-8441-8CE7-988E74DE2437}" type="slidenum">
              <a:rPr lang="en-IE" altLang="en-US" sz="1200"/>
              <a:pPr eaLnBrk="1" hangingPunct="1"/>
              <a:t>25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80749694-BD1D-E9CD-19F9-CB985DD87E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0B868378-DAEC-FEC8-F1E3-0297C2E2FE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CFF6FF46-4FF1-2CEC-3A47-CC6DEEAC7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A0C86F2-2EA0-784A-AF86-A22DC1CEB1BA}" type="slidenum">
              <a:rPr lang="en-IE" altLang="en-US" sz="1200"/>
              <a:pPr eaLnBrk="1" hangingPunct="1"/>
              <a:t>26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E2843753-97EC-24FF-EA42-5FE068CB23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A520E84E-59C8-1039-CF6B-235BCD5003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BCE9A1B5-E67C-E032-13E8-3A3983CAA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226F72F-397E-704E-AC0B-F598D60EA28F}" type="slidenum">
              <a:rPr lang="en-IE" altLang="en-US" sz="1200"/>
              <a:pPr eaLnBrk="1" hangingPunct="1"/>
              <a:t>27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>
            <a:extLst>
              <a:ext uri="{FF2B5EF4-FFF2-40B4-BE49-F238E27FC236}">
                <a16:creationId xmlns:a16="http://schemas.microsoft.com/office/drawing/2014/main" id="{21DCE587-63B2-908F-0CDC-8D6934A2F4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>
            <a:extLst>
              <a:ext uri="{FF2B5EF4-FFF2-40B4-BE49-F238E27FC236}">
                <a16:creationId xmlns:a16="http://schemas.microsoft.com/office/drawing/2014/main" id="{DFBC04CD-25C6-E438-1622-2161F38E94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80900" name="Slide Number Placeholder 3">
            <a:extLst>
              <a:ext uri="{FF2B5EF4-FFF2-40B4-BE49-F238E27FC236}">
                <a16:creationId xmlns:a16="http://schemas.microsoft.com/office/drawing/2014/main" id="{7A5F8B00-5CD6-E0D1-2932-E0D3608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48EEF66-ED86-714F-B60B-38488A9DEC21}" type="slidenum">
              <a:rPr lang="en-IE" altLang="en-US" sz="1200"/>
              <a:pPr eaLnBrk="1" hangingPunct="1"/>
              <a:t>28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49C5333C-0B5A-F4B8-9E96-514444E16A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13E4DAF6-E10D-7C40-CB70-5BA7BEC82B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623386AB-3580-1E49-802D-3F89A11D8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41772CE-349C-C140-934D-5CF7EDF35DCA}" type="slidenum">
              <a:rPr lang="en-IE" altLang="en-US" sz="1200"/>
              <a:pPr eaLnBrk="1" hangingPunct="1"/>
              <a:t>29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>
            <a:extLst>
              <a:ext uri="{FF2B5EF4-FFF2-40B4-BE49-F238E27FC236}">
                <a16:creationId xmlns:a16="http://schemas.microsoft.com/office/drawing/2014/main" id="{CFC29472-3DA4-C526-45BE-6E34477E8B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es Placeholder 2">
            <a:extLst>
              <a:ext uri="{FF2B5EF4-FFF2-40B4-BE49-F238E27FC236}">
                <a16:creationId xmlns:a16="http://schemas.microsoft.com/office/drawing/2014/main" id="{7844A84D-FF82-6604-9930-7D4754ED3D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82948" name="Slide Number Placeholder 3">
            <a:extLst>
              <a:ext uri="{FF2B5EF4-FFF2-40B4-BE49-F238E27FC236}">
                <a16:creationId xmlns:a16="http://schemas.microsoft.com/office/drawing/2014/main" id="{E56F0C05-11F6-1FA1-9543-109437F77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C20A1A4-8B06-F341-B622-9D36EFBF67E4}" type="slidenum">
              <a:rPr lang="en-IE" altLang="en-US" sz="1200"/>
              <a:pPr eaLnBrk="1" hangingPunct="1"/>
              <a:t>30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A43EE-C188-25CC-823A-429A6A702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0ED7E-B850-F27B-9603-1A994FAAF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43FAA-E85F-EA10-709B-8F80CE0F6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78FB9-50BF-1B0E-6A9D-BB4263A01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E0E37-5F31-4073-8F35-FD795A549926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4434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A43EE-C188-25CC-823A-429A6A702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0ED7E-B850-F27B-9603-1A994FAAF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43FAA-E85F-EA10-709B-8F80CE0F6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78FB9-50BF-1B0E-6A9D-BB4263A01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E0E37-5F31-4073-8F35-FD795A549926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4434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E0E37-5F31-4073-8F35-FD795A549926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7200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4" name="Google Shape;41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8" name="Google Shape;40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0" name="Google Shape;42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6" name="Google Shape;42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5" name="Google Shape;43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2" name="Google Shape;46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8" name="Google Shape;18;p5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5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6" name="Google Shape;36;p5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7" name="Google Shape;37;p5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4" name="Google Shape;44;p5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6" name="Google Shape;46;p5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57" name="Google Shape;57;p6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6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6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1" name="Google Shape;71;p6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7" name="Google Shape;77;p6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ini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C173-FD9A-E750-4E92-06C76F94D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89858"/>
            <a:ext cx="8686800" cy="921104"/>
          </a:xfrm>
          <a:ln w="76200" cmpd="thickThin">
            <a:solidFill>
              <a:srgbClr val="C00000">
                <a:alpha val="95000"/>
              </a:srgbClr>
            </a:solidFill>
          </a:ln>
        </p:spPr>
        <p:txBody>
          <a:bodyPr wrap="square" lIns="180000" tIns="180000" rIns="180000" bIns="180000">
            <a:sp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Definition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7139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 Section">
    <p:bg>
      <p:bgPr>
        <a:gradFill flip="none" rotWithShape="1">
          <a:gsLst>
            <a:gs pos="32000">
              <a:schemeClr val="tx2">
                <a:lumMod val="10000"/>
                <a:lumOff val="90000"/>
              </a:schemeClr>
            </a:gs>
            <a:gs pos="100000">
              <a:schemeClr val="tx2">
                <a:lumMod val="25000"/>
                <a:lumOff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C173-FD9A-E750-4E92-06C76F94D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329070"/>
            <a:ext cx="7886700" cy="2099930"/>
          </a:xfrm>
        </p:spPr>
        <p:txBody>
          <a:bodyPr>
            <a:normAutofit/>
          </a:bodyPr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Sub Section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0977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5C233-D9BE-E225-F7BE-7698F79F30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293" y="-1"/>
            <a:ext cx="6608118" cy="461665"/>
          </a:xfrm>
        </p:spPr>
        <p:txBody>
          <a:bodyPr>
            <a:normAutofit/>
          </a:bodyPr>
          <a:lstStyle>
            <a:lvl1pPr>
              <a:defRPr sz="2800" b="0"/>
            </a:lvl1pPr>
          </a:lstStyle>
          <a:p>
            <a:r>
              <a:rPr lang="en-US" dirty="0"/>
              <a:t>Input Example Number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ED2E70-2916-C899-0337-ABD454C299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292" y="461664"/>
            <a:ext cx="8899415" cy="482633"/>
          </a:xfr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question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24211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erc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5C233-D9BE-E225-F7BE-7698F79F30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293" y="-1"/>
            <a:ext cx="6608118" cy="461665"/>
          </a:xfrm>
        </p:spPr>
        <p:txBody>
          <a:bodyPr>
            <a:normAutofit/>
          </a:bodyPr>
          <a:lstStyle>
            <a:lvl1pPr>
              <a:defRPr sz="2800" b="0"/>
            </a:lvl1pPr>
          </a:lstStyle>
          <a:p>
            <a:r>
              <a:rPr lang="en-US" dirty="0"/>
              <a:t>Input exercise Number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ED2E70-2916-C899-0337-ABD454C299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292" y="461664"/>
            <a:ext cx="8899415" cy="482633"/>
          </a:xfr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question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738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5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5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5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Relationship Id="rId1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phet.colorado.edu/sims/html/geometric-optics-basics/latest/geometric-optics-basics_all.html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emf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3.emf"/><Relationship Id="rId4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oleObject" Target="../embeddings/oleObject5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.png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.png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130.png"/><Relationship Id="rId7" Type="http://schemas.openxmlformats.org/officeDocument/2006/relationships/image" Target="../media/image20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7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906170-F177-3AC0-222E-200B569D6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251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2E89-19C6-663B-675A-5225DAB73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LENSES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E3D8EAC-867B-697D-3843-457EDC1FAEC1}"/>
              </a:ext>
            </a:extLst>
          </p:cNvPr>
          <p:cNvGrpSpPr/>
          <p:nvPr/>
        </p:nvGrpSpPr>
        <p:grpSpPr>
          <a:xfrm>
            <a:off x="1881904" y="2827751"/>
            <a:ext cx="5380191" cy="2705124"/>
            <a:chOff x="1966496" y="1910469"/>
            <a:chExt cx="5380191" cy="2705124"/>
          </a:xfrm>
        </p:grpSpPr>
        <p:pic>
          <p:nvPicPr>
            <p:cNvPr id="4" name="Picture 6">
              <a:extLst>
                <a:ext uri="{FF2B5EF4-FFF2-40B4-BE49-F238E27FC236}">
                  <a16:creationId xmlns:a16="http://schemas.microsoft.com/office/drawing/2014/main" id="{B2B771DF-0018-0DFA-79D9-92DF372420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6496" y="1910469"/>
              <a:ext cx="5380191" cy="27051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0D5BF5A-250C-5D50-A6F8-742C61C28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3040" y="4328307"/>
              <a:ext cx="445264" cy="2249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5667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71918B6-D5B8-7B96-35E8-1A1020AB5C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84463" y="366713"/>
            <a:ext cx="2895600" cy="685800"/>
          </a:xfrm>
          <a:noFill/>
        </p:spPr>
        <p:txBody>
          <a:bodyPr/>
          <a:lstStyle/>
          <a:p>
            <a:pPr eaLnBrk="1" hangingPunct="1"/>
            <a:r>
              <a:rPr lang="en-GB" altLang="en-US">
                <a:solidFill>
                  <a:schemeClr val="tx1"/>
                </a:solidFill>
              </a:rPr>
              <a:t>Lenses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BF15EF9-9DFE-4AE4-DCA2-0A63E80655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239838"/>
            <a:ext cx="4256088" cy="3773487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3600" dirty="0"/>
              <a:t>A lens is a piece of glass which has at least one curved surface.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3600" dirty="0"/>
              <a:t>Light is </a:t>
            </a:r>
            <a:r>
              <a:rPr lang="en-GB" altLang="en-US" sz="3600" b="1" u="sng" dirty="0"/>
              <a:t>refracted</a:t>
            </a:r>
            <a:r>
              <a:rPr lang="en-GB" altLang="en-US" sz="3600" dirty="0"/>
              <a:t> as it passes through the lens.</a:t>
            </a:r>
          </a:p>
        </p:txBody>
      </p:sp>
      <p:pic>
        <p:nvPicPr>
          <p:cNvPr id="4100" name="Picture 4" descr="Both types of Lenses (Lo)">
            <a:extLst>
              <a:ext uri="{FF2B5EF4-FFF2-40B4-BE49-F238E27FC236}">
                <a16:creationId xmlns:a16="http://schemas.microsoft.com/office/drawing/2014/main" id="{33015F82-BDDC-958C-376D-95BFDF91C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-26988"/>
            <a:ext cx="2403475" cy="10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15" descr="http://t1.gstatic.com/images?q=tbn:ANd9GcRULQOPBrkX2L5vuiUdz1t5sjATrbdAs4UQBBBkkBpgGSQP3kACMw">
            <a:extLst>
              <a:ext uri="{FF2B5EF4-FFF2-40B4-BE49-F238E27FC236}">
                <a16:creationId xmlns:a16="http://schemas.microsoft.com/office/drawing/2014/main" id="{C7AD1AFE-FCD0-D85C-686B-D889D06DF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25" y="5084763"/>
            <a:ext cx="15494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3" name="Picture 17" descr="http://t2.gstatic.com/images?q=tbn:ANd9GcQwNhcxV74zWcQCcgVbBJKlIY9r51pPuuOPcxmAVRef6HSxCOU2">
            <a:extLst>
              <a:ext uri="{FF2B5EF4-FFF2-40B4-BE49-F238E27FC236}">
                <a16:creationId xmlns:a16="http://schemas.microsoft.com/office/drawing/2014/main" id="{B61B5692-9EBE-7622-4DDD-9CB1CCABB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1268413"/>
            <a:ext cx="1744662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21" descr="http://t1.gstatic.com/images?q=tbn:ANd9GcTa5c7Mngn0ctV3Al10s_MpgxPBoiEEBbBsKccG0DowJGikhhyLyg">
            <a:extLst>
              <a:ext uri="{FF2B5EF4-FFF2-40B4-BE49-F238E27FC236}">
                <a16:creationId xmlns:a16="http://schemas.microsoft.com/office/drawing/2014/main" id="{3C464E5C-4477-D80C-B52C-039F6D330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438" y="4005263"/>
            <a:ext cx="1779587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23" descr="http://t3.gstatic.com/images?q=tbn:ANd9GcQJ9keeUfjOLh0rlbKEsK5UgCCGczaJMaeP_-pEnKdh9q5hNSbIfw">
            <a:extLst>
              <a:ext uri="{FF2B5EF4-FFF2-40B4-BE49-F238E27FC236}">
                <a16:creationId xmlns:a16="http://schemas.microsoft.com/office/drawing/2014/main" id="{E5E0700F-193A-72D7-0364-8BEF1B201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163" y="5373688"/>
            <a:ext cx="1862137" cy="127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25" descr="http://t0.gstatic.com/images?q=tbn:ANd9GcQFCYX68maI33pC3iRzeNd6MmzTU6RneZpcq0VS5PNWG1vvtm-m">
            <a:extLst>
              <a:ext uri="{FF2B5EF4-FFF2-40B4-BE49-F238E27FC236}">
                <a16:creationId xmlns:a16="http://schemas.microsoft.com/office/drawing/2014/main" id="{E8DB2548-5965-7B5F-1B78-852AD96C4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988" y="5591175"/>
            <a:ext cx="2151062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7" descr="http://t1.gstatic.com/images?q=tbn:ANd9GcQQgtk-dwy96yTPhHd53cOcqi3p_P30OJzoxhF9c6hLhFTEXG_u_w">
            <a:extLst>
              <a:ext uri="{FF2B5EF4-FFF2-40B4-BE49-F238E27FC236}">
                <a16:creationId xmlns:a16="http://schemas.microsoft.com/office/drawing/2014/main" id="{CFE47054-D399-9543-CB5A-DFBFD9C2E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613" y="4005263"/>
            <a:ext cx="2103437" cy="137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3" name="Picture 29" descr="http://t0.gstatic.com/images?q=tbn:ANd9GcR-P0wXIh0RWcGKw3Sk-YhtXhL1ekYcZE28AU_UUcxzYGrFwIXW">
            <a:extLst>
              <a:ext uri="{FF2B5EF4-FFF2-40B4-BE49-F238E27FC236}">
                <a16:creationId xmlns:a16="http://schemas.microsoft.com/office/drawing/2014/main" id="{8FEE3B1C-3AE3-4FE3-5A24-1516DB264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1536700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" name="Picture 31" descr="http://t0.gstatic.com/images?q=tbn:ANd9GcTTFlUActhEp-CXQuC5697NwfEBY8onPgkDE9i2R0Fp2Znc9rLm0foz7UAj5A">
            <a:extLst>
              <a:ext uri="{FF2B5EF4-FFF2-40B4-BE49-F238E27FC236}">
                <a16:creationId xmlns:a16="http://schemas.microsoft.com/office/drawing/2014/main" id="{3FD10620-9D53-0C3A-8FAF-7A3B4F6D7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2600325"/>
            <a:ext cx="1744662" cy="130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5" name="Picture 33" descr="http://t1.gstatic.com/images?q=tbn:ANd9GcQbkt68FHTTNgFHb6Vmsa-xEnHkIYrvWpId1PqMxLXX3fiyKIzxoQ">
            <a:extLst>
              <a:ext uri="{FF2B5EF4-FFF2-40B4-BE49-F238E27FC236}">
                <a16:creationId xmlns:a16="http://schemas.microsoft.com/office/drawing/2014/main" id="{26D5F7D6-6C54-B99C-1FB3-18D4E8662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5084763"/>
            <a:ext cx="267652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31" name="Picture 35" descr="http://t1.gstatic.com/images?q=tbn:ANd9GcQF8NiH3qlhsFkQ1xf0Pip6W6rIxqDP8UtPybfZFQLgRWln9Plp">
            <a:extLst>
              <a:ext uri="{FF2B5EF4-FFF2-40B4-BE49-F238E27FC236}">
                <a16:creationId xmlns:a16="http://schemas.microsoft.com/office/drawing/2014/main" id="{8C87A93B-C04B-79F2-31D1-26D964E2B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1125538"/>
            <a:ext cx="170021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7" name="Picture 37" descr="http://t2.gstatic.com/images?q=tbn:ANd9GcQNU9dAUingRotBVPoCJSn4jpmcvYDhWraX_NQrqSxoG3I0TSF8Ng">
            <a:extLst>
              <a:ext uri="{FF2B5EF4-FFF2-40B4-BE49-F238E27FC236}">
                <a16:creationId xmlns:a16="http://schemas.microsoft.com/office/drawing/2014/main" id="{772AFF8F-6E88-7DEA-60EE-720AD3046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213" y="2492375"/>
            <a:ext cx="1731962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nimBg="1" autoUpdateAnimBg="0"/>
      <p:bldP spid="409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BD18992-D858-00C5-4AE7-BB813CA65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04813"/>
            <a:ext cx="7772400" cy="658812"/>
          </a:xfrm>
        </p:spPr>
        <p:txBody>
          <a:bodyPr/>
          <a:lstStyle/>
          <a:p>
            <a:r>
              <a:rPr lang="en-IE" altLang="en-US">
                <a:solidFill>
                  <a:srgbClr val="FF0000"/>
                </a:solidFill>
              </a:rPr>
              <a:t>What are the uses of lenses?</a:t>
            </a:r>
            <a:endParaRPr lang="en-GB" altLang="en-US">
              <a:solidFill>
                <a:srgbClr val="FF0000"/>
              </a:solidFill>
            </a:endParaRPr>
          </a:p>
        </p:txBody>
      </p:sp>
      <p:pic>
        <p:nvPicPr>
          <p:cNvPr id="4099" name="Picture 5" descr="uselens.jpg (21905 bytes)">
            <a:extLst>
              <a:ext uri="{FF2B5EF4-FFF2-40B4-BE49-F238E27FC236}">
                <a16:creationId xmlns:a16="http://schemas.microsoft.com/office/drawing/2014/main" id="{8FFB5788-FA2A-8816-62E8-CB80EEE1B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412875"/>
            <a:ext cx="7956550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00AA29-02E8-A99A-3025-F69DE1DB10CB}"/>
              </a:ext>
            </a:extLst>
          </p:cNvPr>
          <p:cNvSpPr/>
          <p:nvPr/>
        </p:nvSpPr>
        <p:spPr>
          <a:xfrm>
            <a:off x="5031830" y="3088782"/>
            <a:ext cx="482414" cy="2271472"/>
          </a:xfrm>
          <a:custGeom>
            <a:avLst/>
            <a:gdLst>
              <a:gd name="connsiteX0" fmla="*/ 124709 w 249418"/>
              <a:gd name="connsiteY0" fmla="*/ 0 h 1980320"/>
              <a:gd name="connsiteX1" fmla="*/ 165655 w 249418"/>
              <a:gd name="connsiteY1" fmla="*/ 159242 h 1980320"/>
              <a:gd name="connsiteX2" fmla="*/ 249418 w 249418"/>
              <a:gd name="connsiteY2" fmla="*/ 990160 h 1980320"/>
              <a:gd name="connsiteX3" fmla="*/ 165655 w 249418"/>
              <a:gd name="connsiteY3" fmla="*/ 1821078 h 1980320"/>
              <a:gd name="connsiteX4" fmla="*/ 124709 w 249418"/>
              <a:gd name="connsiteY4" fmla="*/ 1980320 h 1980320"/>
              <a:gd name="connsiteX5" fmla="*/ 83764 w 249418"/>
              <a:gd name="connsiteY5" fmla="*/ 1821078 h 1980320"/>
              <a:gd name="connsiteX6" fmla="*/ 0 w 249418"/>
              <a:gd name="connsiteY6" fmla="*/ 990160 h 1980320"/>
              <a:gd name="connsiteX7" fmla="*/ 83764 w 249418"/>
              <a:gd name="connsiteY7" fmla="*/ 159242 h 198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418" h="1980320">
                <a:moveTo>
                  <a:pt x="124709" y="0"/>
                </a:moveTo>
                <a:lnTo>
                  <a:pt x="165655" y="159242"/>
                </a:lnTo>
                <a:cubicBezTo>
                  <a:pt x="220576" y="427636"/>
                  <a:pt x="249418" y="705530"/>
                  <a:pt x="249418" y="990160"/>
                </a:cubicBezTo>
                <a:cubicBezTo>
                  <a:pt x="249418" y="1274791"/>
                  <a:pt x="220576" y="1552684"/>
                  <a:pt x="165655" y="1821078"/>
                </a:cubicBezTo>
                <a:lnTo>
                  <a:pt x="124709" y="1980320"/>
                </a:lnTo>
                <a:lnTo>
                  <a:pt x="83764" y="1821078"/>
                </a:lnTo>
                <a:cubicBezTo>
                  <a:pt x="28843" y="1552684"/>
                  <a:pt x="0" y="1274791"/>
                  <a:pt x="0" y="990160"/>
                </a:cubicBezTo>
                <a:cubicBezTo>
                  <a:pt x="0" y="705530"/>
                  <a:pt x="28843" y="427636"/>
                  <a:pt x="83764" y="159242"/>
                </a:cubicBez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b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22" name="Text Box 6">
            <a:extLst>
              <a:ext uri="{FF2B5EF4-FFF2-40B4-BE49-F238E27FC236}">
                <a16:creationId xmlns:a16="http://schemas.microsoft.com/office/drawing/2014/main" id="{5C725F2E-5E0D-4A9C-A619-E06F8E1C4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0387" y="5931168"/>
            <a:ext cx="522255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200" b="0" dirty="0"/>
              <a:t>Also called a Convex Lens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D9533F-22B0-DEB8-F6EF-74A588D3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What is a converging lens?</a:t>
            </a:r>
            <a:endParaRPr lang="en-GB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5E3A2C-6DB0-72D8-18B1-D832E351629E}"/>
              </a:ext>
            </a:extLst>
          </p:cNvPr>
          <p:cNvCxnSpPr/>
          <p:nvPr/>
        </p:nvCxnSpPr>
        <p:spPr bwMode="auto">
          <a:xfrm>
            <a:off x="1160872" y="4365914"/>
            <a:ext cx="760965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85CCBE5-2E8C-3EDA-50D9-A3341A9810B3}"/>
              </a:ext>
            </a:extLst>
          </p:cNvPr>
          <p:cNvSpPr/>
          <p:nvPr/>
        </p:nvSpPr>
        <p:spPr bwMode="auto">
          <a:xfrm>
            <a:off x="7395658" y="4330491"/>
            <a:ext cx="72008" cy="70844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9D28CB-F18C-4839-E53C-46BA44CF4D3D}"/>
              </a:ext>
            </a:extLst>
          </p:cNvPr>
          <p:cNvCxnSpPr>
            <a:cxnSpLocks/>
          </p:cNvCxnSpPr>
          <p:nvPr/>
        </p:nvCxnSpPr>
        <p:spPr bwMode="auto">
          <a:xfrm>
            <a:off x="789236" y="3723748"/>
            <a:ext cx="360281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AB23A95-DDF7-8696-3E38-E07723CD9117}"/>
              </a:ext>
            </a:extLst>
          </p:cNvPr>
          <p:cNvCxnSpPr>
            <a:cxnSpLocks/>
            <a:endCxn id="8" idx="2"/>
          </p:cNvCxnSpPr>
          <p:nvPr/>
        </p:nvCxnSpPr>
        <p:spPr bwMode="auto">
          <a:xfrm>
            <a:off x="5319640" y="3723748"/>
            <a:ext cx="2076018" cy="64216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C9DDA1-4E29-0FDB-323F-586F9B549852}"/>
              </a:ext>
            </a:extLst>
          </p:cNvPr>
          <p:cNvCxnSpPr>
            <a:cxnSpLocks/>
            <a:endCxn id="8" idx="2"/>
          </p:cNvCxnSpPr>
          <p:nvPr/>
        </p:nvCxnSpPr>
        <p:spPr bwMode="auto">
          <a:xfrm flipV="1">
            <a:off x="5319640" y="4365913"/>
            <a:ext cx="2076018" cy="5419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A577471-B39D-F528-FC77-EDFE2517977C}"/>
              </a:ext>
            </a:extLst>
          </p:cNvPr>
          <p:cNvCxnSpPr/>
          <p:nvPr/>
        </p:nvCxnSpPr>
        <p:spPr bwMode="auto">
          <a:xfrm>
            <a:off x="4237853" y="3723748"/>
            <a:ext cx="100811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A6C2E39-66CC-664A-C609-25D5EC85F7BC}"/>
              </a:ext>
            </a:extLst>
          </p:cNvPr>
          <p:cNvCxnSpPr>
            <a:cxnSpLocks/>
          </p:cNvCxnSpPr>
          <p:nvPr/>
        </p:nvCxnSpPr>
        <p:spPr bwMode="auto">
          <a:xfrm>
            <a:off x="789236" y="4365913"/>
            <a:ext cx="361809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lg" len="lg"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FB47FC9-13D4-33B4-D66A-F1E277524FC7}"/>
              </a:ext>
            </a:extLst>
          </p:cNvPr>
          <p:cNvCxnSpPr/>
          <p:nvPr/>
        </p:nvCxnSpPr>
        <p:spPr bwMode="auto">
          <a:xfrm>
            <a:off x="4253127" y="4365913"/>
            <a:ext cx="100811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2448D7B-6333-53CA-4C34-E300E256DA67}"/>
              </a:ext>
            </a:extLst>
          </p:cNvPr>
          <p:cNvCxnSpPr>
            <a:cxnSpLocks/>
          </p:cNvCxnSpPr>
          <p:nvPr/>
        </p:nvCxnSpPr>
        <p:spPr bwMode="auto">
          <a:xfrm>
            <a:off x="789236" y="4945641"/>
            <a:ext cx="360281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906D304-AF63-68C4-23EF-8C65BDB93904}"/>
              </a:ext>
            </a:extLst>
          </p:cNvPr>
          <p:cNvCxnSpPr/>
          <p:nvPr/>
        </p:nvCxnSpPr>
        <p:spPr bwMode="auto">
          <a:xfrm>
            <a:off x="4237853" y="4945641"/>
            <a:ext cx="100811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B6AEC45-1152-DB11-0DB3-C12E203F4B38}"/>
              </a:ext>
            </a:extLst>
          </p:cNvPr>
          <p:cNvCxnSpPr>
            <a:cxnSpLocks/>
          </p:cNvCxnSpPr>
          <p:nvPr/>
        </p:nvCxnSpPr>
        <p:spPr bwMode="auto">
          <a:xfrm>
            <a:off x="5334914" y="4365913"/>
            <a:ext cx="193388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 Box 6">
            <a:extLst>
              <a:ext uri="{FF2B5EF4-FFF2-40B4-BE49-F238E27FC236}">
                <a16:creationId xmlns:a16="http://schemas.microsoft.com/office/drawing/2014/main" id="{150F451E-2310-B4EC-30B6-2DC2A79ADD46}"/>
              </a:ext>
            </a:extLst>
          </p:cNvPr>
          <p:cNvSpPr txBox="1">
            <a:spLocks noChangeArrowheads="1"/>
          </p:cNvSpPr>
          <p:nvPr/>
        </p:nvSpPr>
        <p:spPr bwMode="auto">
          <a:xfrm rot="20506683">
            <a:off x="5159103" y="4598161"/>
            <a:ext cx="394442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200" b="0" dirty="0"/>
              <a:t>converging beam.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2E88E6-2866-74F9-824D-9CF8A364A0FE}"/>
              </a:ext>
            </a:extLst>
          </p:cNvPr>
          <p:cNvSpPr/>
          <p:nvPr/>
        </p:nvSpPr>
        <p:spPr bwMode="auto">
          <a:xfrm rot="5400000">
            <a:off x="4191411" y="3556163"/>
            <a:ext cx="258497" cy="267668"/>
          </a:xfrm>
          <a:custGeom>
            <a:avLst/>
            <a:gdLst>
              <a:gd name="connsiteX0" fmla="*/ 0 w 903768"/>
              <a:gd name="connsiteY0" fmla="*/ 712382 h 712382"/>
              <a:gd name="connsiteX1" fmla="*/ 478465 w 903768"/>
              <a:gd name="connsiteY1" fmla="*/ 0 h 712382"/>
              <a:gd name="connsiteX2" fmla="*/ 903768 w 903768"/>
              <a:gd name="connsiteY2" fmla="*/ 680484 h 712382"/>
              <a:gd name="connsiteX3" fmla="*/ 457200 w 903768"/>
              <a:gd name="connsiteY3" fmla="*/ 542261 h 712382"/>
              <a:gd name="connsiteX4" fmla="*/ 0 w 903768"/>
              <a:gd name="connsiteY4" fmla="*/ 712382 h 712382"/>
              <a:gd name="connsiteX0" fmla="*/ 0 w 903768"/>
              <a:gd name="connsiteY0" fmla="*/ 712382 h 723014"/>
              <a:gd name="connsiteX1" fmla="*/ 478465 w 903768"/>
              <a:gd name="connsiteY1" fmla="*/ 0 h 723014"/>
              <a:gd name="connsiteX2" fmla="*/ 903768 w 903768"/>
              <a:gd name="connsiteY2" fmla="*/ 723014 h 723014"/>
              <a:gd name="connsiteX3" fmla="*/ 457200 w 903768"/>
              <a:gd name="connsiteY3" fmla="*/ 542261 h 723014"/>
              <a:gd name="connsiteX4" fmla="*/ 0 w 903768"/>
              <a:gd name="connsiteY4" fmla="*/ 712382 h 72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3768" h="723014">
                <a:moveTo>
                  <a:pt x="0" y="712382"/>
                </a:moveTo>
                <a:lnTo>
                  <a:pt x="478465" y="0"/>
                </a:lnTo>
                <a:lnTo>
                  <a:pt x="903768" y="723014"/>
                </a:lnTo>
                <a:lnTo>
                  <a:pt x="457200" y="542261"/>
                </a:lnTo>
                <a:lnTo>
                  <a:pt x="0" y="712382"/>
                </a:lnTo>
                <a:close/>
              </a:path>
            </a:pathLst>
          </a:cu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29209AA-FD9D-A06B-2578-4917F02ADBAC}"/>
              </a:ext>
            </a:extLst>
          </p:cNvPr>
          <p:cNvSpPr/>
          <p:nvPr/>
        </p:nvSpPr>
        <p:spPr bwMode="auto">
          <a:xfrm rot="5400000">
            <a:off x="4169018" y="4246709"/>
            <a:ext cx="258497" cy="267668"/>
          </a:xfrm>
          <a:custGeom>
            <a:avLst/>
            <a:gdLst>
              <a:gd name="connsiteX0" fmla="*/ 0 w 903768"/>
              <a:gd name="connsiteY0" fmla="*/ 712382 h 712382"/>
              <a:gd name="connsiteX1" fmla="*/ 478465 w 903768"/>
              <a:gd name="connsiteY1" fmla="*/ 0 h 712382"/>
              <a:gd name="connsiteX2" fmla="*/ 903768 w 903768"/>
              <a:gd name="connsiteY2" fmla="*/ 680484 h 712382"/>
              <a:gd name="connsiteX3" fmla="*/ 457200 w 903768"/>
              <a:gd name="connsiteY3" fmla="*/ 542261 h 712382"/>
              <a:gd name="connsiteX4" fmla="*/ 0 w 903768"/>
              <a:gd name="connsiteY4" fmla="*/ 712382 h 712382"/>
              <a:gd name="connsiteX0" fmla="*/ 0 w 903768"/>
              <a:gd name="connsiteY0" fmla="*/ 712382 h 723014"/>
              <a:gd name="connsiteX1" fmla="*/ 478465 w 903768"/>
              <a:gd name="connsiteY1" fmla="*/ 0 h 723014"/>
              <a:gd name="connsiteX2" fmla="*/ 903768 w 903768"/>
              <a:gd name="connsiteY2" fmla="*/ 723014 h 723014"/>
              <a:gd name="connsiteX3" fmla="*/ 457200 w 903768"/>
              <a:gd name="connsiteY3" fmla="*/ 542261 h 723014"/>
              <a:gd name="connsiteX4" fmla="*/ 0 w 903768"/>
              <a:gd name="connsiteY4" fmla="*/ 712382 h 72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3768" h="723014">
                <a:moveTo>
                  <a:pt x="0" y="712382"/>
                </a:moveTo>
                <a:lnTo>
                  <a:pt x="478465" y="0"/>
                </a:lnTo>
                <a:lnTo>
                  <a:pt x="903768" y="723014"/>
                </a:lnTo>
                <a:lnTo>
                  <a:pt x="457200" y="542261"/>
                </a:lnTo>
                <a:lnTo>
                  <a:pt x="0" y="712382"/>
                </a:lnTo>
                <a:close/>
              </a:path>
            </a:pathLst>
          </a:cu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749C376-C38D-A6FA-C544-D3C863228CB2}"/>
              </a:ext>
            </a:extLst>
          </p:cNvPr>
          <p:cNvSpPr/>
          <p:nvPr/>
        </p:nvSpPr>
        <p:spPr bwMode="auto">
          <a:xfrm rot="5400000">
            <a:off x="4164973" y="4822772"/>
            <a:ext cx="258496" cy="267668"/>
          </a:xfrm>
          <a:custGeom>
            <a:avLst/>
            <a:gdLst>
              <a:gd name="connsiteX0" fmla="*/ 0 w 903768"/>
              <a:gd name="connsiteY0" fmla="*/ 712382 h 712382"/>
              <a:gd name="connsiteX1" fmla="*/ 478465 w 903768"/>
              <a:gd name="connsiteY1" fmla="*/ 0 h 712382"/>
              <a:gd name="connsiteX2" fmla="*/ 903768 w 903768"/>
              <a:gd name="connsiteY2" fmla="*/ 680484 h 712382"/>
              <a:gd name="connsiteX3" fmla="*/ 457200 w 903768"/>
              <a:gd name="connsiteY3" fmla="*/ 542261 h 712382"/>
              <a:gd name="connsiteX4" fmla="*/ 0 w 903768"/>
              <a:gd name="connsiteY4" fmla="*/ 712382 h 712382"/>
              <a:gd name="connsiteX0" fmla="*/ 0 w 903768"/>
              <a:gd name="connsiteY0" fmla="*/ 712382 h 723014"/>
              <a:gd name="connsiteX1" fmla="*/ 478465 w 903768"/>
              <a:gd name="connsiteY1" fmla="*/ 0 h 723014"/>
              <a:gd name="connsiteX2" fmla="*/ 903768 w 903768"/>
              <a:gd name="connsiteY2" fmla="*/ 723014 h 723014"/>
              <a:gd name="connsiteX3" fmla="*/ 457200 w 903768"/>
              <a:gd name="connsiteY3" fmla="*/ 542261 h 723014"/>
              <a:gd name="connsiteX4" fmla="*/ 0 w 903768"/>
              <a:gd name="connsiteY4" fmla="*/ 712382 h 72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3768" h="723014">
                <a:moveTo>
                  <a:pt x="0" y="712382"/>
                </a:moveTo>
                <a:lnTo>
                  <a:pt x="478465" y="0"/>
                </a:lnTo>
                <a:lnTo>
                  <a:pt x="903768" y="723014"/>
                </a:lnTo>
                <a:lnTo>
                  <a:pt x="457200" y="542261"/>
                </a:lnTo>
                <a:lnTo>
                  <a:pt x="0" y="712382"/>
                </a:lnTo>
                <a:close/>
              </a:path>
            </a:pathLst>
          </a:cu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A1C8DB9-F33C-5E84-64B5-FFF843DC8A19}"/>
              </a:ext>
            </a:extLst>
          </p:cNvPr>
          <p:cNvSpPr/>
          <p:nvPr/>
        </p:nvSpPr>
        <p:spPr bwMode="auto">
          <a:xfrm rot="6498203">
            <a:off x="6080285" y="3848495"/>
            <a:ext cx="196196" cy="245902"/>
          </a:xfrm>
          <a:custGeom>
            <a:avLst/>
            <a:gdLst>
              <a:gd name="connsiteX0" fmla="*/ 0 w 903768"/>
              <a:gd name="connsiteY0" fmla="*/ 712382 h 712382"/>
              <a:gd name="connsiteX1" fmla="*/ 478465 w 903768"/>
              <a:gd name="connsiteY1" fmla="*/ 0 h 712382"/>
              <a:gd name="connsiteX2" fmla="*/ 903768 w 903768"/>
              <a:gd name="connsiteY2" fmla="*/ 680484 h 712382"/>
              <a:gd name="connsiteX3" fmla="*/ 457200 w 903768"/>
              <a:gd name="connsiteY3" fmla="*/ 542261 h 712382"/>
              <a:gd name="connsiteX4" fmla="*/ 0 w 903768"/>
              <a:gd name="connsiteY4" fmla="*/ 712382 h 712382"/>
              <a:gd name="connsiteX0" fmla="*/ 0 w 903768"/>
              <a:gd name="connsiteY0" fmla="*/ 712382 h 723014"/>
              <a:gd name="connsiteX1" fmla="*/ 478465 w 903768"/>
              <a:gd name="connsiteY1" fmla="*/ 0 h 723014"/>
              <a:gd name="connsiteX2" fmla="*/ 903768 w 903768"/>
              <a:gd name="connsiteY2" fmla="*/ 723014 h 723014"/>
              <a:gd name="connsiteX3" fmla="*/ 457200 w 903768"/>
              <a:gd name="connsiteY3" fmla="*/ 542261 h 723014"/>
              <a:gd name="connsiteX4" fmla="*/ 0 w 903768"/>
              <a:gd name="connsiteY4" fmla="*/ 712382 h 72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3768" h="723014">
                <a:moveTo>
                  <a:pt x="0" y="712382"/>
                </a:moveTo>
                <a:lnTo>
                  <a:pt x="478465" y="0"/>
                </a:lnTo>
                <a:lnTo>
                  <a:pt x="903768" y="723014"/>
                </a:lnTo>
                <a:lnTo>
                  <a:pt x="457200" y="542261"/>
                </a:lnTo>
                <a:lnTo>
                  <a:pt x="0" y="712382"/>
                </a:lnTo>
                <a:close/>
              </a:path>
            </a:pathLst>
          </a:cu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A9E9C06-F901-39CA-0D5E-88FF1C6E74E8}"/>
              </a:ext>
            </a:extLst>
          </p:cNvPr>
          <p:cNvSpPr/>
          <p:nvPr/>
        </p:nvSpPr>
        <p:spPr bwMode="auto">
          <a:xfrm rot="3869975">
            <a:off x="5970068" y="4598695"/>
            <a:ext cx="277860" cy="239128"/>
          </a:xfrm>
          <a:custGeom>
            <a:avLst/>
            <a:gdLst>
              <a:gd name="connsiteX0" fmla="*/ 0 w 903768"/>
              <a:gd name="connsiteY0" fmla="*/ 712382 h 712382"/>
              <a:gd name="connsiteX1" fmla="*/ 478465 w 903768"/>
              <a:gd name="connsiteY1" fmla="*/ 0 h 712382"/>
              <a:gd name="connsiteX2" fmla="*/ 903768 w 903768"/>
              <a:gd name="connsiteY2" fmla="*/ 680484 h 712382"/>
              <a:gd name="connsiteX3" fmla="*/ 457200 w 903768"/>
              <a:gd name="connsiteY3" fmla="*/ 542261 h 712382"/>
              <a:gd name="connsiteX4" fmla="*/ 0 w 903768"/>
              <a:gd name="connsiteY4" fmla="*/ 712382 h 712382"/>
              <a:gd name="connsiteX0" fmla="*/ 0 w 903768"/>
              <a:gd name="connsiteY0" fmla="*/ 712382 h 723014"/>
              <a:gd name="connsiteX1" fmla="*/ 478465 w 903768"/>
              <a:gd name="connsiteY1" fmla="*/ 0 h 723014"/>
              <a:gd name="connsiteX2" fmla="*/ 903768 w 903768"/>
              <a:gd name="connsiteY2" fmla="*/ 723014 h 723014"/>
              <a:gd name="connsiteX3" fmla="*/ 457200 w 903768"/>
              <a:gd name="connsiteY3" fmla="*/ 542261 h 723014"/>
              <a:gd name="connsiteX4" fmla="*/ 0 w 903768"/>
              <a:gd name="connsiteY4" fmla="*/ 712382 h 72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3768" h="723014">
                <a:moveTo>
                  <a:pt x="0" y="712382"/>
                </a:moveTo>
                <a:lnTo>
                  <a:pt x="478465" y="0"/>
                </a:lnTo>
                <a:lnTo>
                  <a:pt x="903768" y="723014"/>
                </a:lnTo>
                <a:lnTo>
                  <a:pt x="457200" y="542261"/>
                </a:lnTo>
                <a:lnTo>
                  <a:pt x="0" y="712382"/>
                </a:lnTo>
                <a:close/>
              </a:path>
            </a:pathLst>
          </a:cu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DC1B069-3995-1A75-3094-39D054C9275C}"/>
              </a:ext>
            </a:extLst>
          </p:cNvPr>
          <p:cNvSpPr/>
          <p:nvPr/>
        </p:nvSpPr>
        <p:spPr bwMode="auto">
          <a:xfrm rot="5400000">
            <a:off x="5937108" y="4255456"/>
            <a:ext cx="244944" cy="236619"/>
          </a:xfrm>
          <a:custGeom>
            <a:avLst/>
            <a:gdLst>
              <a:gd name="connsiteX0" fmla="*/ 0 w 903768"/>
              <a:gd name="connsiteY0" fmla="*/ 712382 h 712382"/>
              <a:gd name="connsiteX1" fmla="*/ 478465 w 903768"/>
              <a:gd name="connsiteY1" fmla="*/ 0 h 712382"/>
              <a:gd name="connsiteX2" fmla="*/ 903768 w 903768"/>
              <a:gd name="connsiteY2" fmla="*/ 680484 h 712382"/>
              <a:gd name="connsiteX3" fmla="*/ 457200 w 903768"/>
              <a:gd name="connsiteY3" fmla="*/ 542261 h 712382"/>
              <a:gd name="connsiteX4" fmla="*/ 0 w 903768"/>
              <a:gd name="connsiteY4" fmla="*/ 712382 h 712382"/>
              <a:gd name="connsiteX0" fmla="*/ 0 w 903768"/>
              <a:gd name="connsiteY0" fmla="*/ 712382 h 723014"/>
              <a:gd name="connsiteX1" fmla="*/ 478465 w 903768"/>
              <a:gd name="connsiteY1" fmla="*/ 0 h 723014"/>
              <a:gd name="connsiteX2" fmla="*/ 903768 w 903768"/>
              <a:gd name="connsiteY2" fmla="*/ 723014 h 723014"/>
              <a:gd name="connsiteX3" fmla="*/ 457200 w 903768"/>
              <a:gd name="connsiteY3" fmla="*/ 542261 h 723014"/>
              <a:gd name="connsiteX4" fmla="*/ 0 w 903768"/>
              <a:gd name="connsiteY4" fmla="*/ 712382 h 72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3768" h="723014">
                <a:moveTo>
                  <a:pt x="0" y="712382"/>
                </a:moveTo>
                <a:lnTo>
                  <a:pt x="478465" y="0"/>
                </a:lnTo>
                <a:lnTo>
                  <a:pt x="903768" y="723014"/>
                </a:lnTo>
                <a:lnTo>
                  <a:pt x="457200" y="542261"/>
                </a:lnTo>
                <a:lnTo>
                  <a:pt x="0" y="712382"/>
                </a:lnTo>
                <a:close/>
              </a:path>
            </a:pathLst>
          </a:cu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8A7D52-AE41-2A5F-D7A9-EBAAFA8C8826}"/>
              </a:ext>
            </a:extLst>
          </p:cNvPr>
          <p:cNvSpPr txBox="1"/>
          <p:nvPr/>
        </p:nvSpPr>
        <p:spPr>
          <a:xfrm>
            <a:off x="625618" y="1322376"/>
            <a:ext cx="83801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altLang="en-US" sz="3200" dirty="0"/>
              <a:t>“Converging” means “ coming together”. A converging lens brings parallel rays of light together.  </a:t>
            </a:r>
          </a:p>
        </p:txBody>
      </p:sp>
      <p:pic>
        <p:nvPicPr>
          <p:cNvPr id="4" name="Picture 4" descr="C:\science &amp; maths\physics\pics\convex.jpg">
            <a:extLst>
              <a:ext uri="{FF2B5EF4-FFF2-40B4-BE49-F238E27FC236}">
                <a16:creationId xmlns:a16="http://schemas.microsoft.com/office/drawing/2014/main" id="{BC1BBEA0-CA00-E4C2-44B8-BBCC92C58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93"/>
          <a:stretch>
            <a:fillRect/>
          </a:stretch>
        </p:blipFill>
        <p:spPr bwMode="auto">
          <a:xfrm rot="16200000">
            <a:off x="1251007" y="4377251"/>
            <a:ext cx="1788869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122" grpId="0"/>
      <p:bldP spid="8" grpId="0" animBg="1"/>
      <p:bldP spid="40" grpId="0"/>
      <p:bldP spid="10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40" title="Screenshot 2025-09-23 22.09.57.png"/>
          <p:cNvPicPr preferRelativeResize="0"/>
          <p:nvPr/>
        </p:nvPicPr>
        <p:blipFill rotWithShape="1">
          <a:blip r:embed="rId3">
            <a:alphaModFix/>
          </a:blip>
          <a:srcRect l="3050" r="722"/>
          <a:stretch/>
        </p:blipFill>
        <p:spPr>
          <a:xfrm>
            <a:off x="2575" y="20525"/>
            <a:ext cx="9144000" cy="6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0"/>
          <p:cNvSpPr txBox="1"/>
          <p:nvPr/>
        </p:nvSpPr>
        <p:spPr>
          <a:xfrm>
            <a:off x="180070" y="646225"/>
            <a:ext cx="88320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12.5 – Refraction and lenses</a:t>
            </a:r>
            <a:endParaRPr sz="36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81" name="Google Shape;381;p40"/>
          <p:cNvSpPr txBox="1"/>
          <p:nvPr/>
        </p:nvSpPr>
        <p:spPr>
          <a:xfrm>
            <a:off x="180070" y="1501225"/>
            <a:ext cx="4278914" cy="180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Convex </a:t>
            </a:r>
            <a:br>
              <a:rPr lang="en-US" sz="32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r>
              <a:rPr lang="en-US" sz="32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(converging lenses)</a:t>
            </a:r>
            <a:endParaRPr sz="32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lang="en-IE" sz="21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IE"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55A1ED-135F-EE47-8043-FC635ABF6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575" y="1501225"/>
            <a:ext cx="4353531" cy="5152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3">
            <a:extLst>
              <a:ext uri="{FF2B5EF4-FFF2-40B4-BE49-F238E27FC236}">
                <a16:creationId xmlns:a16="http://schemas.microsoft.com/office/drawing/2014/main" id="{99DE6D26-A763-AF12-77E4-FB92D06AB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2089150"/>
            <a:ext cx="9144000" cy="43275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" name="Group 15">
            <a:extLst>
              <a:ext uri="{FF2B5EF4-FFF2-40B4-BE49-F238E27FC236}">
                <a16:creationId xmlns:a16="http://schemas.microsoft.com/office/drawing/2014/main" id="{62485C86-3EC3-290D-91C0-0FE92C240682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038600"/>
            <a:ext cx="7483475" cy="685800"/>
            <a:chOff x="528" y="2400"/>
            <a:chExt cx="4714" cy="432"/>
          </a:xfrm>
        </p:grpSpPr>
        <p:sp>
          <p:nvSpPr>
            <p:cNvPr id="10258" name="Oval 16">
              <a:extLst>
                <a:ext uri="{FF2B5EF4-FFF2-40B4-BE49-F238E27FC236}">
                  <a16:creationId xmlns:a16="http://schemas.microsoft.com/office/drawing/2014/main" id="{FA7E885B-1F47-211E-9D01-61FD20AD9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10259" name="Text Box 17">
              <a:extLst>
                <a:ext uri="{FF2B5EF4-FFF2-40B4-BE49-F238E27FC236}">
                  <a16:creationId xmlns:a16="http://schemas.microsoft.com/office/drawing/2014/main" id="{4931D0B8-59B5-3235-B53C-DC755E1BE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10260" name="Text Box 18">
              <a:extLst>
                <a:ext uri="{FF2B5EF4-FFF2-40B4-BE49-F238E27FC236}">
                  <a16:creationId xmlns:a16="http://schemas.microsoft.com/office/drawing/2014/main" id="{7BA1C734-6601-D657-183B-D6B61DC5C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544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10261" name="Oval 19">
              <a:extLst>
                <a:ext uri="{FF2B5EF4-FFF2-40B4-BE49-F238E27FC236}">
                  <a16:creationId xmlns:a16="http://schemas.microsoft.com/office/drawing/2014/main" id="{E45B4B5D-ED91-CEB8-0A1A-EEBF1547F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10262" name="Text Box 20">
              <a:extLst>
                <a:ext uri="{FF2B5EF4-FFF2-40B4-BE49-F238E27FC236}">
                  <a16:creationId xmlns:a16="http://schemas.microsoft.com/office/drawing/2014/main" id="{CEC0B6AE-111E-F196-8C07-82D289F3FE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10263" name="Oval 21">
              <a:extLst>
                <a:ext uri="{FF2B5EF4-FFF2-40B4-BE49-F238E27FC236}">
                  <a16:creationId xmlns:a16="http://schemas.microsoft.com/office/drawing/2014/main" id="{D1F3B0FE-2A2D-8981-491D-8300E0E6A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10264" name="Text Box 22">
              <a:extLst>
                <a:ext uri="{FF2B5EF4-FFF2-40B4-BE49-F238E27FC236}">
                  <a16:creationId xmlns:a16="http://schemas.microsoft.com/office/drawing/2014/main" id="{7016F036-29E9-3E1A-2098-A61008D8A5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10265" name="Oval 23">
              <a:extLst>
                <a:ext uri="{FF2B5EF4-FFF2-40B4-BE49-F238E27FC236}">
                  <a16:creationId xmlns:a16="http://schemas.microsoft.com/office/drawing/2014/main" id="{6C42119E-DB65-31C6-2E3A-44242060B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33E3A94-5DF2-E339-1A40-D90E026A6590}"/>
              </a:ext>
            </a:extLst>
          </p:cNvPr>
          <p:cNvGrpSpPr>
            <a:grpSpLocks/>
          </p:cNvGrpSpPr>
          <p:nvPr/>
        </p:nvGrpSpPr>
        <p:grpSpPr bwMode="auto">
          <a:xfrm>
            <a:off x="1863725" y="1989138"/>
            <a:ext cx="1911350" cy="1800225"/>
            <a:chOff x="1119024" y="2060848"/>
            <a:chExt cx="1910831" cy="1800200"/>
          </a:xfrm>
        </p:grpSpPr>
        <p:sp>
          <p:nvSpPr>
            <p:cNvPr id="10256" name="TextBox 38">
              <a:extLst>
                <a:ext uri="{FF2B5EF4-FFF2-40B4-BE49-F238E27FC236}">
                  <a16:creationId xmlns:a16="http://schemas.microsoft.com/office/drawing/2014/main" id="{6727DD57-9562-07CB-4B3A-D456F4213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9024" y="2060848"/>
              <a:ext cx="1910831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IE" altLang="en-US" sz="2000" b="1">
                  <a:solidFill>
                    <a:srgbClr val="000000"/>
                  </a:solidFill>
                  <a:latin typeface="Arial Black" panose="020B0604020202020204" pitchFamily="34" charset="0"/>
                </a:rPr>
                <a:t>Focus </a:t>
              </a:r>
            </a:p>
            <a:p>
              <a:pPr algn="ctr" eaLnBrk="1" hangingPunct="1"/>
              <a:r>
                <a:rPr lang="en-IE" altLang="en-US" sz="2000" b="1" u="sng">
                  <a:solidFill>
                    <a:srgbClr val="000000"/>
                  </a:solidFill>
                  <a:latin typeface="Arial Black" panose="020B0604020202020204" pitchFamily="34" charset="0"/>
                </a:rPr>
                <a:t>or</a:t>
              </a:r>
              <a:r>
                <a:rPr lang="en-IE" altLang="en-US" sz="2000" b="1">
                  <a:solidFill>
                    <a:srgbClr val="000000"/>
                  </a:solidFill>
                  <a:latin typeface="Arial Black" panose="020B0604020202020204" pitchFamily="34" charset="0"/>
                </a:rPr>
                <a:t> </a:t>
              </a:r>
            </a:p>
            <a:p>
              <a:pPr algn="ctr" eaLnBrk="1" hangingPunct="1"/>
              <a:r>
                <a:rPr lang="en-IE" altLang="en-US" sz="2000" b="1">
                  <a:solidFill>
                    <a:srgbClr val="000000"/>
                  </a:solidFill>
                  <a:latin typeface="Arial Black" panose="020B0604020202020204" pitchFamily="34" charset="0"/>
                </a:rPr>
                <a:t>focal point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AF41356-ED57-CDBA-E2D5-CB38120CC181}"/>
                </a:ext>
              </a:extLst>
            </p:cNvPr>
            <p:cNvCxnSpPr/>
            <p:nvPr/>
          </p:nvCxnSpPr>
          <p:spPr>
            <a:xfrm flipH="1">
              <a:off x="2074440" y="3056196"/>
              <a:ext cx="7936" cy="804852"/>
            </a:xfrm>
            <a:prstGeom prst="straightConnector1">
              <a:avLst/>
            </a:prstGeom>
            <a:ln w="41275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125E239-DEF2-396B-1DC2-7F623BD645EE}"/>
              </a:ext>
            </a:extLst>
          </p:cNvPr>
          <p:cNvGrpSpPr>
            <a:grpSpLocks/>
          </p:cNvGrpSpPr>
          <p:nvPr/>
        </p:nvGrpSpPr>
        <p:grpSpPr bwMode="auto">
          <a:xfrm>
            <a:off x="5326063" y="1989138"/>
            <a:ext cx="1909762" cy="1800225"/>
            <a:chOff x="1119024" y="2060848"/>
            <a:chExt cx="1910831" cy="1800200"/>
          </a:xfrm>
        </p:grpSpPr>
        <p:sp>
          <p:nvSpPr>
            <p:cNvPr id="10254" name="TextBox 41">
              <a:extLst>
                <a:ext uri="{FF2B5EF4-FFF2-40B4-BE49-F238E27FC236}">
                  <a16:creationId xmlns:a16="http://schemas.microsoft.com/office/drawing/2014/main" id="{A88BE441-3BE8-685F-40D9-D99F5731A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9024" y="2060848"/>
              <a:ext cx="1910831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IE" altLang="en-US" sz="2000" b="1">
                  <a:solidFill>
                    <a:srgbClr val="000000"/>
                  </a:solidFill>
                  <a:latin typeface="Arial Black" panose="020B0604020202020204" pitchFamily="34" charset="0"/>
                </a:rPr>
                <a:t>Focus </a:t>
              </a:r>
            </a:p>
            <a:p>
              <a:pPr algn="ctr" eaLnBrk="1" hangingPunct="1"/>
              <a:r>
                <a:rPr lang="en-IE" altLang="en-US" sz="2000" b="1" u="sng">
                  <a:solidFill>
                    <a:srgbClr val="000000"/>
                  </a:solidFill>
                  <a:latin typeface="Arial Black" panose="020B0604020202020204" pitchFamily="34" charset="0"/>
                </a:rPr>
                <a:t>or</a:t>
              </a:r>
              <a:r>
                <a:rPr lang="en-IE" altLang="en-US" sz="2000" b="1">
                  <a:solidFill>
                    <a:srgbClr val="000000"/>
                  </a:solidFill>
                  <a:latin typeface="Arial Black" panose="020B0604020202020204" pitchFamily="34" charset="0"/>
                </a:rPr>
                <a:t> </a:t>
              </a:r>
            </a:p>
            <a:p>
              <a:pPr algn="ctr" eaLnBrk="1" hangingPunct="1"/>
              <a:r>
                <a:rPr lang="en-IE" altLang="en-US" sz="2000" b="1">
                  <a:solidFill>
                    <a:srgbClr val="000000"/>
                  </a:solidFill>
                  <a:latin typeface="Arial Black" panose="020B0604020202020204" pitchFamily="34" charset="0"/>
                </a:rPr>
                <a:t>focal point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0DAA125-999B-36F6-9BD4-08D2ADC6BDA3}"/>
                </a:ext>
              </a:extLst>
            </p:cNvPr>
            <p:cNvCxnSpPr/>
            <p:nvPr/>
          </p:nvCxnSpPr>
          <p:spPr>
            <a:xfrm flipH="1">
              <a:off x="2073645" y="3056196"/>
              <a:ext cx="9530" cy="804852"/>
            </a:xfrm>
            <a:prstGeom prst="straightConnector1">
              <a:avLst/>
            </a:prstGeom>
            <a:ln w="41275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0ADE04C8-E7AD-A4CE-8DA2-84D2ECF4A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3522663"/>
            <a:ext cx="1911351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IE" altLang="en-US" sz="1600" b="1">
                <a:solidFill>
                  <a:srgbClr val="000000"/>
                </a:solidFill>
                <a:latin typeface="Arial Black" panose="020B0604020202020204" pitchFamily="34" charset="0"/>
              </a:rPr>
              <a:t>Principal axis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BEFA6FF-FC51-8FE7-5CF1-40A89955CA4C}"/>
              </a:ext>
            </a:extLst>
          </p:cNvPr>
          <p:cNvGrpSpPr>
            <a:grpSpLocks/>
          </p:cNvGrpSpPr>
          <p:nvPr/>
        </p:nvGrpSpPr>
        <p:grpSpPr bwMode="auto">
          <a:xfrm>
            <a:off x="4665663" y="4252913"/>
            <a:ext cx="3500437" cy="1260475"/>
            <a:chOff x="-803667" y="4176529"/>
            <a:chExt cx="3499913" cy="1261547"/>
          </a:xfrm>
        </p:grpSpPr>
        <p:sp>
          <p:nvSpPr>
            <p:cNvPr id="10252" name="TextBox 46">
              <a:extLst>
                <a:ext uri="{FF2B5EF4-FFF2-40B4-BE49-F238E27FC236}">
                  <a16:creationId xmlns:a16="http://schemas.microsoft.com/office/drawing/2014/main" id="{9FCD8E43-F589-D91F-1C72-74C068599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415" y="4730190"/>
              <a:ext cx="1910831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IE" altLang="en-US" sz="2000" b="1">
                  <a:solidFill>
                    <a:srgbClr val="000000"/>
                  </a:solidFill>
                  <a:latin typeface="Arial Black" panose="020B0604020202020204" pitchFamily="34" charset="0"/>
                </a:rPr>
                <a:t>Optic centre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76002B3-5A86-6394-82EF-849E88C2EA4D}"/>
                </a:ext>
              </a:extLst>
            </p:cNvPr>
            <p:cNvCxnSpPr/>
            <p:nvPr/>
          </p:nvCxnSpPr>
          <p:spPr>
            <a:xfrm flipH="1" flipV="1">
              <a:off x="-803667" y="4176529"/>
              <a:ext cx="1979316" cy="792836"/>
            </a:xfrm>
            <a:prstGeom prst="straightConnector1">
              <a:avLst/>
            </a:prstGeom>
            <a:ln w="41275">
              <a:solidFill>
                <a:srgbClr val="FF000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E659E90-AC1F-2F9E-603B-B257376F29D4}"/>
              </a:ext>
            </a:extLst>
          </p:cNvPr>
          <p:cNvGrpSpPr>
            <a:grpSpLocks/>
          </p:cNvGrpSpPr>
          <p:nvPr/>
        </p:nvGrpSpPr>
        <p:grpSpPr bwMode="auto">
          <a:xfrm>
            <a:off x="2955925" y="4100513"/>
            <a:ext cx="1851025" cy="547687"/>
            <a:chOff x="5508105" y="4279610"/>
            <a:chExt cx="1850743" cy="547159"/>
          </a:xfrm>
        </p:grpSpPr>
        <p:sp>
          <p:nvSpPr>
            <p:cNvPr id="10250" name="TextBox 51">
              <a:extLst>
                <a:ext uri="{FF2B5EF4-FFF2-40B4-BE49-F238E27FC236}">
                  <a16:creationId xmlns:a16="http://schemas.microsoft.com/office/drawing/2014/main" id="{276D693E-B6DC-C60F-DB96-F0632F744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6520" y="4365104"/>
              <a:ext cx="17123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IE" altLang="en-US">
                  <a:solidFill>
                    <a:srgbClr val="000000"/>
                  </a:solidFill>
                </a:rPr>
                <a:t>Focal length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8367EC2D-833A-19C3-3DED-5E4D6D46449C}"/>
                </a:ext>
              </a:extLst>
            </p:cNvPr>
            <p:cNvCxnSpPr/>
            <p:nvPr/>
          </p:nvCxnSpPr>
          <p:spPr>
            <a:xfrm flipH="1">
              <a:off x="5508105" y="4279610"/>
              <a:ext cx="1471389" cy="0"/>
            </a:xfrm>
            <a:prstGeom prst="straightConnector1">
              <a:avLst/>
            </a:prstGeom>
            <a:ln w="41275">
              <a:solidFill>
                <a:srgbClr val="FF0000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49" name="Rectangle 22">
            <a:extLst>
              <a:ext uri="{FF2B5EF4-FFF2-40B4-BE49-F238E27FC236}">
                <a16:creationId xmlns:a16="http://schemas.microsoft.com/office/drawing/2014/main" id="{8D54B14E-79AC-BB88-1F70-F0D5A20B8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0038"/>
            <a:ext cx="9144000" cy="1600200"/>
          </a:xfrm>
          <a:noFill/>
        </p:spPr>
        <p:txBody>
          <a:bodyPr/>
          <a:lstStyle/>
          <a:p>
            <a:pPr eaLnBrk="1" hangingPunct="1"/>
            <a:r>
              <a:rPr lang="en-GB" altLang="en-US"/>
              <a:t>Converging Lens: </a:t>
            </a:r>
            <a:r>
              <a:rPr lang="en-IE" altLang="en-US"/>
              <a:t>Important Terms</a:t>
            </a:r>
            <a:endParaRPr lang="en-GB" altLang="en-US" i="1">
              <a:sym typeface="Symbol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41" title="Screenshot 2025-09-23 22.09.57.png"/>
          <p:cNvPicPr preferRelativeResize="0"/>
          <p:nvPr/>
        </p:nvPicPr>
        <p:blipFill rotWithShape="1">
          <a:blip r:embed="rId3">
            <a:alphaModFix/>
          </a:blip>
          <a:srcRect l="3050" r="722"/>
          <a:stretch/>
        </p:blipFill>
        <p:spPr>
          <a:xfrm>
            <a:off x="2575" y="20525"/>
            <a:ext cx="9144000" cy="6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1" title="Screenshot 2026-02-23 08.51.1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4688" y="2120400"/>
            <a:ext cx="8319774" cy="28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1"/>
          <p:cNvSpPr txBox="1"/>
          <p:nvPr/>
        </p:nvSpPr>
        <p:spPr>
          <a:xfrm>
            <a:off x="414688" y="868284"/>
            <a:ext cx="4535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Points in a convex lens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70AB2F-9E5F-F376-80D8-41EC768936C3}"/>
              </a:ext>
            </a:extLst>
          </p:cNvPr>
          <p:cNvSpPr txBox="1"/>
          <p:nvPr/>
        </p:nvSpPr>
        <p:spPr>
          <a:xfrm>
            <a:off x="2126512" y="60494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phet.colorado.edu</a:t>
            </a:r>
            <a:r>
              <a:rPr lang="en-US" dirty="0">
                <a:hlinkClick r:id="rId2"/>
              </a:rPr>
              <a:t>/sims/html/geometric-optics-basics/latest/geometric-optics-</a:t>
            </a:r>
            <a:r>
              <a:rPr lang="en-US" dirty="0" err="1">
                <a:hlinkClick r:id="rId2"/>
              </a:rPr>
              <a:t>basics_all.html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5135AB-1A1B-504C-9071-1FE4CEE12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61" y="1441455"/>
            <a:ext cx="7772400" cy="317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9E90F0-4ADF-78FC-B40B-D192FC838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3" y="1658679"/>
            <a:ext cx="9208491" cy="35725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EB1C14-7EB8-2936-CA0E-AE676D07E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6315"/>
            <a:ext cx="7772400" cy="65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36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42" title="Screenshot 2025-09-23 22.09.57.png"/>
          <p:cNvPicPr preferRelativeResize="0"/>
          <p:nvPr/>
        </p:nvPicPr>
        <p:blipFill rotWithShape="1">
          <a:blip r:embed="rId3">
            <a:alphaModFix/>
          </a:blip>
          <a:srcRect l="3050" r="722"/>
          <a:stretch/>
        </p:blipFill>
        <p:spPr>
          <a:xfrm>
            <a:off x="2575" y="20525"/>
            <a:ext cx="9144000" cy="6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2"/>
          <p:cNvSpPr txBox="1"/>
          <p:nvPr/>
        </p:nvSpPr>
        <p:spPr>
          <a:xfrm>
            <a:off x="237712" y="677436"/>
            <a:ext cx="54777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Rules for drawing ray diagrams</a:t>
            </a:r>
            <a:endParaRPr sz="2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C848F6-BE64-2143-8DF4-C845A43DC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43" y="1104556"/>
            <a:ext cx="4859067" cy="20290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11F599-DC23-6A40-AB3C-9BB933CCA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0555" y="3001959"/>
            <a:ext cx="4851478" cy="20229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6D79A5-AF96-9540-8CBB-EE30FB788B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243" y="4893241"/>
            <a:ext cx="4885348" cy="19647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>
            <a:extLst>
              <a:ext uri="{FF2B5EF4-FFF2-40B4-BE49-F238E27FC236}">
                <a16:creationId xmlns:a16="http://schemas.microsoft.com/office/drawing/2014/main" id="{4577C266-037E-2253-6A00-2B369CE80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0"/>
            <a:ext cx="9144000" cy="3886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22">
            <a:extLst>
              <a:ext uri="{FF2B5EF4-FFF2-40B4-BE49-F238E27FC236}">
                <a16:creationId xmlns:a16="http://schemas.microsoft.com/office/drawing/2014/main" id="{6C2FAB8D-E609-4AC6-F427-AF8481C1E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371600"/>
          </a:xfrm>
          <a:noFill/>
        </p:spPr>
        <p:txBody>
          <a:bodyPr/>
          <a:lstStyle/>
          <a:p>
            <a:r>
              <a:rPr lang="en-GB" altLang="en-US" dirty="0"/>
              <a:t>Converging lens: There are 5 Cases </a:t>
            </a:r>
            <a:br>
              <a:rPr lang="en-IE" altLang="en-US" dirty="0"/>
            </a:br>
            <a:r>
              <a:rPr lang="en-IE" altLang="en-US" dirty="0"/>
              <a:t>i.e. 5 possible positions for the object</a:t>
            </a:r>
            <a:endParaRPr lang="en-GB" altLang="en-US" i="1" dirty="0">
              <a:sym typeface="Symbol" pitchFamily="2" charset="2"/>
            </a:endParaRPr>
          </a:p>
        </p:txBody>
      </p:sp>
      <p:grpSp>
        <p:nvGrpSpPr>
          <p:cNvPr id="78891" name="Group 43">
            <a:extLst>
              <a:ext uri="{FF2B5EF4-FFF2-40B4-BE49-F238E27FC236}">
                <a16:creationId xmlns:a16="http://schemas.microsoft.com/office/drawing/2014/main" id="{96617A5C-2CE8-7F87-3594-55B1CE5961BF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2659063"/>
            <a:ext cx="688975" cy="2498725"/>
            <a:chOff x="295" y="1675"/>
            <a:chExt cx="434" cy="1574"/>
          </a:xfrm>
        </p:grpSpPr>
        <p:grpSp>
          <p:nvGrpSpPr>
            <p:cNvPr id="17442" name="Group 8">
              <a:extLst>
                <a:ext uri="{FF2B5EF4-FFF2-40B4-BE49-F238E27FC236}">
                  <a16:creationId xmlns:a16="http://schemas.microsoft.com/office/drawing/2014/main" id="{E4681A79-0C9C-ADDF-BD4F-732EC3CB17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" y="1675"/>
              <a:ext cx="315" cy="928"/>
              <a:chOff x="432" y="1267"/>
              <a:chExt cx="315" cy="928"/>
            </a:xfrm>
          </p:grpSpPr>
          <p:sp>
            <p:nvSpPr>
              <p:cNvPr id="17444" name="Line 9">
                <a:extLst>
                  <a:ext uri="{FF2B5EF4-FFF2-40B4-BE49-F238E27FC236}">
                    <a16:creationId xmlns:a16="http://schemas.microsoft.com/office/drawing/2014/main" id="{A107AF4B-6118-8439-E35A-6CC129448B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0" y="1571"/>
                <a:ext cx="0" cy="624"/>
              </a:xfrm>
              <a:prstGeom prst="line">
                <a:avLst/>
              </a:prstGeom>
              <a:noFill/>
              <a:ln w="57150">
                <a:solidFill>
                  <a:srgbClr val="000080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5" name="Text Box 10">
                <a:extLst>
                  <a:ext uri="{FF2B5EF4-FFF2-40B4-BE49-F238E27FC236}">
                    <a16:creationId xmlns:a16="http://schemas.microsoft.com/office/drawing/2014/main" id="{408DD69E-A2D7-951A-BD64-1765582307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267"/>
                <a:ext cx="315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n-US" sz="3200" b="1"/>
                  <a:t>O</a:t>
                </a:r>
              </a:p>
            </p:txBody>
          </p:sp>
        </p:grpSp>
        <p:sp>
          <p:nvSpPr>
            <p:cNvPr id="17443" name="Text Box 37">
              <a:extLst>
                <a:ext uri="{FF2B5EF4-FFF2-40B4-BE49-F238E27FC236}">
                  <a16:creationId xmlns:a16="http://schemas.microsoft.com/office/drawing/2014/main" id="{BA316F5E-2140-4888-B901-856F523C5C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2884"/>
              <a:ext cx="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IE" altLang="en-US" sz="3200">
                  <a:sym typeface="Wingdings 2" pitchFamily="2" charset="2"/>
                </a:rPr>
                <a:t></a:t>
              </a:r>
            </a:p>
          </p:txBody>
        </p:sp>
      </p:grpSp>
      <p:grpSp>
        <p:nvGrpSpPr>
          <p:cNvPr id="78893" name="Group 45">
            <a:extLst>
              <a:ext uri="{FF2B5EF4-FFF2-40B4-BE49-F238E27FC236}">
                <a16:creationId xmlns:a16="http://schemas.microsoft.com/office/drawing/2014/main" id="{593E618F-D2A3-ECBC-561F-5D680A24C9F9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659063"/>
            <a:ext cx="690562" cy="2498725"/>
            <a:chOff x="1023" y="1675"/>
            <a:chExt cx="435" cy="1574"/>
          </a:xfrm>
        </p:grpSpPr>
        <p:grpSp>
          <p:nvGrpSpPr>
            <p:cNvPr id="17438" name="Group 44">
              <a:extLst>
                <a:ext uri="{FF2B5EF4-FFF2-40B4-BE49-F238E27FC236}">
                  <a16:creationId xmlns:a16="http://schemas.microsoft.com/office/drawing/2014/main" id="{E0AAA629-C0CA-C781-F739-E02DEA84D4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" y="1675"/>
              <a:ext cx="315" cy="893"/>
              <a:chOff x="1023" y="1675"/>
              <a:chExt cx="315" cy="893"/>
            </a:xfrm>
          </p:grpSpPr>
          <p:sp>
            <p:nvSpPr>
              <p:cNvPr id="17440" name="Line 25">
                <a:extLst>
                  <a:ext uri="{FF2B5EF4-FFF2-40B4-BE49-F238E27FC236}">
                    <a16:creationId xmlns:a16="http://schemas.microsoft.com/office/drawing/2014/main" id="{4E4CDFF5-307F-4347-7D43-3BD563DE1E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11" y="1944"/>
                <a:ext cx="0" cy="624"/>
              </a:xfrm>
              <a:prstGeom prst="line">
                <a:avLst/>
              </a:prstGeom>
              <a:noFill/>
              <a:ln w="57150">
                <a:solidFill>
                  <a:srgbClr val="000080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1" name="Text Box 26">
                <a:extLst>
                  <a:ext uri="{FF2B5EF4-FFF2-40B4-BE49-F238E27FC236}">
                    <a16:creationId xmlns:a16="http://schemas.microsoft.com/office/drawing/2014/main" id="{9A18FDE5-0907-39E1-C671-0E216E23A1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3" y="1675"/>
                <a:ext cx="315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n-US" sz="3200" b="1"/>
                  <a:t>O</a:t>
                </a:r>
              </a:p>
            </p:txBody>
          </p:sp>
        </p:grpSp>
        <p:sp>
          <p:nvSpPr>
            <p:cNvPr id="17439" name="Text Box 38">
              <a:extLst>
                <a:ext uri="{FF2B5EF4-FFF2-40B4-BE49-F238E27FC236}">
                  <a16:creationId xmlns:a16="http://schemas.microsoft.com/office/drawing/2014/main" id="{5422C767-4176-8B82-6FC4-BCBB121A84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2884"/>
              <a:ext cx="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IE" altLang="en-US" sz="3200">
                  <a:sym typeface="Wingdings 2" pitchFamily="2" charset="2"/>
                </a:rPr>
                <a:t></a:t>
              </a:r>
            </a:p>
          </p:txBody>
        </p:sp>
      </p:grpSp>
      <p:grpSp>
        <p:nvGrpSpPr>
          <p:cNvPr id="78894" name="Group 46">
            <a:extLst>
              <a:ext uri="{FF2B5EF4-FFF2-40B4-BE49-F238E27FC236}">
                <a16:creationId xmlns:a16="http://schemas.microsoft.com/office/drawing/2014/main" id="{3640D650-3C2A-69E7-04A6-5C367707F314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2708275"/>
            <a:ext cx="617538" cy="2447925"/>
            <a:chOff x="1930" y="1675"/>
            <a:chExt cx="389" cy="1542"/>
          </a:xfrm>
        </p:grpSpPr>
        <p:grpSp>
          <p:nvGrpSpPr>
            <p:cNvPr id="17434" name="Group 27">
              <a:extLst>
                <a:ext uri="{FF2B5EF4-FFF2-40B4-BE49-F238E27FC236}">
                  <a16:creationId xmlns:a16="http://schemas.microsoft.com/office/drawing/2014/main" id="{77FD8336-4D65-FA98-4651-C830105AF1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0" y="1675"/>
              <a:ext cx="315" cy="893"/>
              <a:chOff x="432" y="1267"/>
              <a:chExt cx="315" cy="893"/>
            </a:xfrm>
          </p:grpSpPr>
          <p:sp>
            <p:nvSpPr>
              <p:cNvPr id="17436" name="Line 28">
                <a:extLst>
                  <a:ext uri="{FF2B5EF4-FFF2-40B4-BE49-F238E27FC236}">
                    <a16:creationId xmlns:a16="http://schemas.microsoft.com/office/drawing/2014/main" id="{32817F65-894E-9B92-2C07-5BED8DCF75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9" y="1536"/>
                <a:ext cx="0" cy="624"/>
              </a:xfrm>
              <a:prstGeom prst="line">
                <a:avLst/>
              </a:prstGeom>
              <a:noFill/>
              <a:ln w="57150">
                <a:solidFill>
                  <a:srgbClr val="000080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7" name="Text Box 29">
                <a:extLst>
                  <a:ext uri="{FF2B5EF4-FFF2-40B4-BE49-F238E27FC236}">
                    <a16:creationId xmlns:a16="http://schemas.microsoft.com/office/drawing/2014/main" id="{B66484EB-9953-B2BD-7751-5CA7E4A15F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267"/>
                <a:ext cx="315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n-US" sz="3200" b="1"/>
                  <a:t>O</a:t>
                </a:r>
              </a:p>
            </p:txBody>
          </p:sp>
        </p:grpSp>
        <p:sp>
          <p:nvSpPr>
            <p:cNvPr id="17435" name="Text Box 39">
              <a:extLst>
                <a:ext uri="{FF2B5EF4-FFF2-40B4-BE49-F238E27FC236}">
                  <a16:creationId xmlns:a16="http://schemas.microsoft.com/office/drawing/2014/main" id="{22FADE97-AEBC-D721-B244-9992BD97E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5" y="2852"/>
              <a:ext cx="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IE" altLang="en-US" sz="3200">
                  <a:sym typeface="Wingdings 2" pitchFamily="2" charset="2"/>
                </a:rPr>
                <a:t></a:t>
              </a:r>
            </a:p>
          </p:txBody>
        </p:sp>
      </p:grpSp>
      <p:grpSp>
        <p:nvGrpSpPr>
          <p:cNvPr id="78895" name="Group 47">
            <a:extLst>
              <a:ext uri="{FF2B5EF4-FFF2-40B4-BE49-F238E27FC236}">
                <a16:creationId xmlns:a16="http://schemas.microsoft.com/office/drawing/2014/main" id="{EA46BC5D-AF2E-860B-9A5A-9F31CBE1C989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2708275"/>
            <a:ext cx="792163" cy="2449513"/>
            <a:chOff x="3064" y="1706"/>
            <a:chExt cx="499" cy="1543"/>
          </a:xfrm>
        </p:grpSpPr>
        <p:grpSp>
          <p:nvGrpSpPr>
            <p:cNvPr id="17430" name="Group 30">
              <a:extLst>
                <a:ext uri="{FF2B5EF4-FFF2-40B4-BE49-F238E27FC236}">
                  <a16:creationId xmlns:a16="http://schemas.microsoft.com/office/drawing/2014/main" id="{87CC5F48-4118-FB92-FC13-3CB29070D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4" y="1706"/>
              <a:ext cx="318" cy="893"/>
              <a:chOff x="432" y="1267"/>
              <a:chExt cx="318" cy="893"/>
            </a:xfrm>
          </p:grpSpPr>
          <p:sp>
            <p:nvSpPr>
              <p:cNvPr id="17432" name="Line 31">
                <a:extLst>
                  <a:ext uri="{FF2B5EF4-FFF2-40B4-BE49-F238E27FC236}">
                    <a16:creationId xmlns:a16="http://schemas.microsoft.com/office/drawing/2014/main" id="{6F8DC50A-6C3F-7368-3767-A06D5EB96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50" y="1536"/>
                <a:ext cx="0" cy="624"/>
              </a:xfrm>
              <a:prstGeom prst="line">
                <a:avLst/>
              </a:prstGeom>
              <a:noFill/>
              <a:ln w="57150">
                <a:solidFill>
                  <a:srgbClr val="000080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3" name="Text Box 32">
                <a:extLst>
                  <a:ext uri="{FF2B5EF4-FFF2-40B4-BE49-F238E27FC236}">
                    <a16:creationId xmlns:a16="http://schemas.microsoft.com/office/drawing/2014/main" id="{357BD6E4-01CC-CBA2-3FE4-BF5473262E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267"/>
                <a:ext cx="315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n-US" sz="3200" b="1"/>
                  <a:t>O</a:t>
                </a:r>
              </a:p>
            </p:txBody>
          </p:sp>
        </p:grpSp>
        <p:sp>
          <p:nvSpPr>
            <p:cNvPr id="17431" name="Text Box 40">
              <a:extLst>
                <a:ext uri="{FF2B5EF4-FFF2-40B4-BE49-F238E27FC236}">
                  <a16:creationId xmlns:a16="http://schemas.microsoft.com/office/drawing/2014/main" id="{0ECE6EB5-08A6-A467-52D5-F35D89BE6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9" y="2884"/>
              <a:ext cx="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IE" altLang="en-US" sz="3200">
                  <a:sym typeface="Wingdings 2" pitchFamily="2" charset="2"/>
                </a:rPr>
                <a:t></a:t>
              </a:r>
            </a:p>
          </p:txBody>
        </p:sp>
      </p:grpSp>
      <p:grpSp>
        <p:nvGrpSpPr>
          <p:cNvPr id="78896" name="Group 48">
            <a:extLst>
              <a:ext uri="{FF2B5EF4-FFF2-40B4-BE49-F238E27FC236}">
                <a16:creationId xmlns:a16="http://schemas.microsoft.com/office/drawing/2014/main" id="{A7F574B1-F42C-520B-2E54-1078388DF20E}"/>
              </a:ext>
            </a:extLst>
          </p:cNvPr>
          <p:cNvGrpSpPr>
            <a:grpSpLocks/>
          </p:cNvGrpSpPr>
          <p:nvPr/>
        </p:nvGrpSpPr>
        <p:grpSpPr bwMode="auto">
          <a:xfrm>
            <a:off x="3136900" y="2732088"/>
            <a:ext cx="757238" cy="2425700"/>
            <a:chOff x="4062" y="1675"/>
            <a:chExt cx="477" cy="1528"/>
          </a:xfrm>
        </p:grpSpPr>
        <p:grpSp>
          <p:nvGrpSpPr>
            <p:cNvPr id="17426" name="Group 33">
              <a:extLst>
                <a:ext uri="{FF2B5EF4-FFF2-40B4-BE49-F238E27FC236}">
                  <a16:creationId xmlns:a16="http://schemas.microsoft.com/office/drawing/2014/main" id="{C07D4A68-6C7D-87C9-2012-0B19D0022A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2" y="1675"/>
              <a:ext cx="315" cy="872"/>
              <a:chOff x="432" y="1267"/>
              <a:chExt cx="315" cy="872"/>
            </a:xfrm>
          </p:grpSpPr>
          <p:sp>
            <p:nvSpPr>
              <p:cNvPr id="17428" name="Line 34">
                <a:extLst>
                  <a:ext uri="{FF2B5EF4-FFF2-40B4-BE49-F238E27FC236}">
                    <a16:creationId xmlns:a16="http://schemas.microsoft.com/office/drawing/2014/main" id="{CF846079-D374-AA90-1983-079F44507D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0" y="1536"/>
                <a:ext cx="0" cy="603"/>
              </a:xfrm>
              <a:prstGeom prst="line">
                <a:avLst/>
              </a:prstGeom>
              <a:noFill/>
              <a:ln w="57150">
                <a:solidFill>
                  <a:srgbClr val="000080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9" name="Text Box 35">
                <a:extLst>
                  <a:ext uri="{FF2B5EF4-FFF2-40B4-BE49-F238E27FC236}">
                    <a16:creationId xmlns:a16="http://schemas.microsoft.com/office/drawing/2014/main" id="{C379CFEF-8720-60F5-167B-B6DFB1B658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267"/>
                <a:ext cx="315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n-US" sz="3200" b="1"/>
                  <a:t>O</a:t>
                </a:r>
              </a:p>
            </p:txBody>
          </p:sp>
        </p:grpSp>
        <p:sp>
          <p:nvSpPr>
            <p:cNvPr id="17427" name="Text Box 41">
              <a:extLst>
                <a:ext uri="{FF2B5EF4-FFF2-40B4-BE49-F238E27FC236}">
                  <a16:creationId xmlns:a16="http://schemas.microsoft.com/office/drawing/2014/main" id="{5EA572BF-D17C-5380-B2CB-5A003D6BA2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2838"/>
              <a:ext cx="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IE" altLang="en-US" sz="3200">
                  <a:sym typeface="Wingdings 2" pitchFamily="2" charset="2"/>
                </a:rPr>
                <a:t></a:t>
              </a:r>
            </a:p>
          </p:txBody>
        </p:sp>
      </p:grpSp>
      <p:grpSp>
        <p:nvGrpSpPr>
          <p:cNvPr id="33" name="Group 15">
            <a:extLst>
              <a:ext uri="{FF2B5EF4-FFF2-40B4-BE49-F238E27FC236}">
                <a16:creationId xmlns:a16="http://schemas.microsoft.com/office/drawing/2014/main" id="{2B3C6015-D600-A325-AF35-292B769112FF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038600"/>
            <a:ext cx="7483475" cy="685800"/>
            <a:chOff x="528" y="2400"/>
            <a:chExt cx="4714" cy="432"/>
          </a:xfrm>
        </p:grpSpPr>
        <p:sp>
          <p:nvSpPr>
            <p:cNvPr id="17418" name="Oval 16">
              <a:extLst>
                <a:ext uri="{FF2B5EF4-FFF2-40B4-BE49-F238E27FC236}">
                  <a16:creationId xmlns:a16="http://schemas.microsoft.com/office/drawing/2014/main" id="{CEA85342-4EB0-9E1C-4725-49E13F485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17419" name="Text Box 17">
              <a:extLst>
                <a:ext uri="{FF2B5EF4-FFF2-40B4-BE49-F238E27FC236}">
                  <a16:creationId xmlns:a16="http://schemas.microsoft.com/office/drawing/2014/main" id="{6BCC8A12-80BD-6BD0-DFBA-4CA99AE81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17420" name="Text Box 18">
              <a:extLst>
                <a:ext uri="{FF2B5EF4-FFF2-40B4-BE49-F238E27FC236}">
                  <a16:creationId xmlns:a16="http://schemas.microsoft.com/office/drawing/2014/main" id="{832F550A-B6F6-D8E7-BC41-E7BD0D5B61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544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17421" name="Oval 19">
              <a:extLst>
                <a:ext uri="{FF2B5EF4-FFF2-40B4-BE49-F238E27FC236}">
                  <a16:creationId xmlns:a16="http://schemas.microsoft.com/office/drawing/2014/main" id="{E92DBF70-D88C-5B16-BE55-6FE3E6CD4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17422" name="Text Box 20">
              <a:extLst>
                <a:ext uri="{FF2B5EF4-FFF2-40B4-BE49-F238E27FC236}">
                  <a16:creationId xmlns:a16="http://schemas.microsoft.com/office/drawing/2014/main" id="{46209DFA-6508-5B5E-EB8C-C0C7DB15E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17423" name="Oval 21">
              <a:extLst>
                <a:ext uri="{FF2B5EF4-FFF2-40B4-BE49-F238E27FC236}">
                  <a16:creationId xmlns:a16="http://schemas.microsoft.com/office/drawing/2014/main" id="{344DE991-7934-189C-11EE-91A1E0A15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17424" name="Text Box 22">
              <a:extLst>
                <a:ext uri="{FF2B5EF4-FFF2-40B4-BE49-F238E27FC236}">
                  <a16:creationId xmlns:a16="http://schemas.microsoft.com/office/drawing/2014/main" id="{359AE6F7-E86D-8474-5297-64DE19A75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17425" name="Oval 23">
              <a:extLst>
                <a:ext uri="{FF2B5EF4-FFF2-40B4-BE49-F238E27FC236}">
                  <a16:creationId xmlns:a16="http://schemas.microsoft.com/office/drawing/2014/main" id="{5791B270-B3F6-FF46-C413-90B0E503D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8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788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8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788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8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788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8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4" dur="500"/>
                                        <p:tgtEl>
                                          <p:spTgt spid="788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8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43" title="Screenshot 2025-09-23 22.09.57.png"/>
          <p:cNvPicPr preferRelativeResize="0"/>
          <p:nvPr/>
        </p:nvPicPr>
        <p:blipFill rotWithShape="1">
          <a:blip r:embed="rId3">
            <a:alphaModFix/>
          </a:blip>
          <a:srcRect l="3050" r="722"/>
          <a:stretch/>
        </p:blipFill>
        <p:spPr>
          <a:xfrm>
            <a:off x="2575" y="20525"/>
            <a:ext cx="9144000" cy="6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546B03-6C39-C743-82A1-261B6C3E5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42296"/>
            <a:ext cx="4546543" cy="53249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379949-326D-704B-AE3A-1F27D7B57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543" y="2142732"/>
            <a:ext cx="4597457" cy="34711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0476C-13F9-50CB-3766-2EF8D61AD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A08E79-7DE0-7A8F-A5F6-5A847899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155246"/>
            <a:ext cx="8724900" cy="590931"/>
          </a:xfrm>
        </p:spPr>
        <p:txBody>
          <a:bodyPr/>
          <a:lstStyle/>
          <a:p>
            <a:r>
              <a:rPr lang="en-GB" dirty="0"/>
              <a:t>How do we describe images?</a:t>
            </a: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B03D7DC2-59A8-8551-0EF1-3B5B02691C8B}"/>
              </a:ext>
            </a:extLst>
          </p:cNvPr>
          <p:cNvSpPr/>
          <p:nvPr/>
        </p:nvSpPr>
        <p:spPr bwMode="auto">
          <a:xfrm rot="16200000">
            <a:off x="1456089" y="1834094"/>
            <a:ext cx="674985" cy="143805"/>
          </a:xfrm>
          <a:prstGeom prst="rightArrow">
            <a:avLst>
              <a:gd name="adj1" fmla="val 37235"/>
              <a:gd name="adj2" fmla="val 113821"/>
            </a:avLst>
          </a:prstGeom>
          <a:pattFill prst="ltHorz">
            <a:fgClr>
              <a:srgbClr val="FF0000"/>
            </a:fgClr>
            <a:bgClr>
              <a:schemeClr val="bg1"/>
            </a:bgClr>
          </a:patt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90CFBB5-2507-51EB-A971-DDE1118930A9}"/>
              </a:ext>
            </a:extLst>
          </p:cNvPr>
          <p:cNvSpPr/>
          <p:nvPr/>
        </p:nvSpPr>
        <p:spPr bwMode="auto">
          <a:xfrm rot="5400000" flipV="1">
            <a:off x="3303072" y="1834094"/>
            <a:ext cx="320458" cy="143804"/>
          </a:xfrm>
          <a:prstGeom prst="rightArrow">
            <a:avLst>
              <a:gd name="adj1" fmla="val 37235"/>
              <a:gd name="adj2" fmla="val 113821"/>
            </a:avLst>
          </a:prstGeom>
          <a:solidFill>
            <a:srgbClr val="0000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9C42D1-C2D8-E5BE-A70F-D9B4B36F28A4}"/>
              </a:ext>
            </a:extLst>
          </p:cNvPr>
          <p:cNvSpPr txBox="1"/>
          <p:nvPr/>
        </p:nvSpPr>
        <p:spPr>
          <a:xfrm>
            <a:off x="1109972" y="810404"/>
            <a:ext cx="1223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1F12F86-B30C-31BC-6B64-AE844120DB59}"/>
              </a:ext>
            </a:extLst>
          </p:cNvPr>
          <p:cNvSpPr/>
          <p:nvPr/>
        </p:nvSpPr>
        <p:spPr bwMode="auto">
          <a:xfrm rot="5400000" flipV="1">
            <a:off x="3604026" y="1932817"/>
            <a:ext cx="987930" cy="143803"/>
          </a:xfrm>
          <a:prstGeom prst="rightArrow">
            <a:avLst>
              <a:gd name="adj1" fmla="val 37235"/>
              <a:gd name="adj2" fmla="val 113821"/>
            </a:avLst>
          </a:prstGeom>
          <a:solidFill>
            <a:srgbClr val="0000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DE4A14-FC89-8533-3494-61D907A78C48}"/>
              </a:ext>
            </a:extLst>
          </p:cNvPr>
          <p:cNvSpPr txBox="1"/>
          <p:nvPr/>
        </p:nvSpPr>
        <p:spPr>
          <a:xfrm>
            <a:off x="4687500" y="1586637"/>
            <a:ext cx="3825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Diminished / magnified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19E3FE-F888-548C-729A-DE223A192FA3}"/>
              </a:ext>
            </a:extLst>
          </p:cNvPr>
          <p:cNvSpPr txBox="1"/>
          <p:nvPr/>
        </p:nvSpPr>
        <p:spPr>
          <a:xfrm>
            <a:off x="4687498" y="2924953"/>
            <a:ext cx="2884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Inverted / upright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637D293-264C-78E5-EFE1-B05771C0DCE3}"/>
              </a:ext>
            </a:extLst>
          </p:cNvPr>
          <p:cNvSpPr txBox="1"/>
          <p:nvPr/>
        </p:nvSpPr>
        <p:spPr>
          <a:xfrm>
            <a:off x="4732137" y="4138790"/>
            <a:ext cx="21836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Real / virtual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4B1841BA-0F08-4083-AC85-D5763A91AAFA}"/>
              </a:ext>
            </a:extLst>
          </p:cNvPr>
          <p:cNvSpPr/>
          <p:nvPr/>
        </p:nvSpPr>
        <p:spPr>
          <a:xfrm>
            <a:off x="2608670" y="5248666"/>
            <a:ext cx="184732" cy="992208"/>
          </a:xfrm>
          <a:custGeom>
            <a:avLst/>
            <a:gdLst>
              <a:gd name="connsiteX0" fmla="*/ 124709 w 249418"/>
              <a:gd name="connsiteY0" fmla="*/ 0 h 1980320"/>
              <a:gd name="connsiteX1" fmla="*/ 165655 w 249418"/>
              <a:gd name="connsiteY1" fmla="*/ 159242 h 1980320"/>
              <a:gd name="connsiteX2" fmla="*/ 249418 w 249418"/>
              <a:gd name="connsiteY2" fmla="*/ 990160 h 1980320"/>
              <a:gd name="connsiteX3" fmla="*/ 165655 w 249418"/>
              <a:gd name="connsiteY3" fmla="*/ 1821078 h 1980320"/>
              <a:gd name="connsiteX4" fmla="*/ 124709 w 249418"/>
              <a:gd name="connsiteY4" fmla="*/ 1980320 h 1980320"/>
              <a:gd name="connsiteX5" fmla="*/ 83764 w 249418"/>
              <a:gd name="connsiteY5" fmla="*/ 1821078 h 1980320"/>
              <a:gd name="connsiteX6" fmla="*/ 0 w 249418"/>
              <a:gd name="connsiteY6" fmla="*/ 990160 h 1980320"/>
              <a:gd name="connsiteX7" fmla="*/ 83764 w 249418"/>
              <a:gd name="connsiteY7" fmla="*/ 159242 h 198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418" h="1980320">
                <a:moveTo>
                  <a:pt x="124709" y="0"/>
                </a:moveTo>
                <a:lnTo>
                  <a:pt x="165655" y="159242"/>
                </a:lnTo>
                <a:cubicBezTo>
                  <a:pt x="220576" y="427636"/>
                  <a:pt x="249418" y="705530"/>
                  <a:pt x="249418" y="990160"/>
                </a:cubicBezTo>
                <a:cubicBezTo>
                  <a:pt x="249418" y="1274791"/>
                  <a:pt x="220576" y="1552684"/>
                  <a:pt x="165655" y="1821078"/>
                </a:cubicBezTo>
                <a:lnTo>
                  <a:pt x="124709" y="1980320"/>
                </a:lnTo>
                <a:lnTo>
                  <a:pt x="83764" y="1821078"/>
                </a:lnTo>
                <a:cubicBezTo>
                  <a:pt x="28843" y="1552684"/>
                  <a:pt x="0" y="1274791"/>
                  <a:pt x="0" y="990160"/>
                </a:cubicBezTo>
                <a:cubicBezTo>
                  <a:pt x="0" y="705530"/>
                  <a:pt x="28843" y="427636"/>
                  <a:pt x="83764" y="159242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b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E8F7C9-C451-6D63-093F-6B8AE381A1BB}"/>
              </a:ext>
            </a:extLst>
          </p:cNvPr>
          <p:cNvSpPr txBox="1"/>
          <p:nvPr/>
        </p:nvSpPr>
        <p:spPr>
          <a:xfrm>
            <a:off x="4687498" y="5286767"/>
            <a:ext cx="44565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Same side / Opposite side of lens (as the object)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802ED1A-F4E5-6A28-F759-98E6AA6A08BB}"/>
              </a:ext>
            </a:extLst>
          </p:cNvPr>
          <p:cNvSpPr txBox="1"/>
          <p:nvPr/>
        </p:nvSpPr>
        <p:spPr>
          <a:xfrm>
            <a:off x="3184848" y="815297"/>
            <a:ext cx="1184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60439AED-1F88-5820-D2AB-544E69BBD97A}"/>
              </a:ext>
            </a:extLst>
          </p:cNvPr>
          <p:cNvSpPr/>
          <p:nvPr/>
        </p:nvSpPr>
        <p:spPr bwMode="auto">
          <a:xfrm rot="16200000">
            <a:off x="1478187" y="3200171"/>
            <a:ext cx="674985" cy="143805"/>
          </a:xfrm>
          <a:prstGeom prst="rightArrow">
            <a:avLst>
              <a:gd name="adj1" fmla="val 37235"/>
              <a:gd name="adj2" fmla="val 113821"/>
            </a:avLst>
          </a:prstGeom>
          <a:pattFill prst="ltHorz">
            <a:fgClr>
              <a:srgbClr val="FF0000"/>
            </a:fgClr>
            <a:bgClr>
              <a:schemeClr val="bg1"/>
            </a:bgClr>
          </a:patt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23BAC891-7E8C-5F16-6822-DA6A33C9BC6D}"/>
              </a:ext>
            </a:extLst>
          </p:cNvPr>
          <p:cNvSpPr/>
          <p:nvPr/>
        </p:nvSpPr>
        <p:spPr bwMode="auto">
          <a:xfrm rot="16200000">
            <a:off x="1499982" y="4395913"/>
            <a:ext cx="674985" cy="143805"/>
          </a:xfrm>
          <a:prstGeom prst="rightArrow">
            <a:avLst>
              <a:gd name="adj1" fmla="val 37235"/>
              <a:gd name="adj2" fmla="val 113821"/>
            </a:avLst>
          </a:prstGeom>
          <a:pattFill prst="ltHorz">
            <a:fgClr>
              <a:srgbClr val="FF0000"/>
            </a:fgClr>
            <a:bgClr>
              <a:schemeClr val="bg1"/>
            </a:bgClr>
          </a:patt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9656E0A4-8C63-E1AF-27D6-685EF735E4C3}"/>
              </a:ext>
            </a:extLst>
          </p:cNvPr>
          <p:cNvSpPr/>
          <p:nvPr/>
        </p:nvSpPr>
        <p:spPr bwMode="auto">
          <a:xfrm rot="5400000" flipH="1">
            <a:off x="3746983" y="4390866"/>
            <a:ext cx="674985" cy="170834"/>
          </a:xfrm>
          <a:prstGeom prst="rightArrow">
            <a:avLst>
              <a:gd name="adj1" fmla="val 37235"/>
              <a:gd name="adj2" fmla="val 113821"/>
            </a:avLst>
          </a:prstGeom>
          <a:pattFill prst="dashHorz">
            <a:fgClr>
              <a:schemeClr val="accent1"/>
            </a:fgClr>
            <a:bgClr>
              <a:schemeClr val="bg1"/>
            </a:bgClr>
          </a:pattFill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4" name="Arrow: Right 83">
            <a:extLst>
              <a:ext uri="{FF2B5EF4-FFF2-40B4-BE49-F238E27FC236}">
                <a16:creationId xmlns:a16="http://schemas.microsoft.com/office/drawing/2014/main" id="{367B0916-EBD2-1D20-1ECA-3B4BCA8C9EF6}"/>
              </a:ext>
            </a:extLst>
          </p:cNvPr>
          <p:cNvSpPr/>
          <p:nvPr/>
        </p:nvSpPr>
        <p:spPr bwMode="auto">
          <a:xfrm rot="16200000">
            <a:off x="1536666" y="5653819"/>
            <a:ext cx="674985" cy="143805"/>
          </a:xfrm>
          <a:prstGeom prst="rightArrow">
            <a:avLst>
              <a:gd name="adj1" fmla="val 37235"/>
              <a:gd name="adj2" fmla="val 113821"/>
            </a:avLst>
          </a:prstGeom>
          <a:pattFill prst="ltHorz">
            <a:fgClr>
              <a:srgbClr val="FF0000"/>
            </a:fgClr>
            <a:bgClr>
              <a:schemeClr val="bg1"/>
            </a:bgClr>
          </a:patt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700A66A6-56A0-73BC-412C-0A8891C4D8D0}"/>
              </a:ext>
            </a:extLst>
          </p:cNvPr>
          <p:cNvSpPr/>
          <p:nvPr/>
        </p:nvSpPr>
        <p:spPr bwMode="auto">
          <a:xfrm rot="16200000">
            <a:off x="3760497" y="3138948"/>
            <a:ext cx="674985" cy="143805"/>
          </a:xfrm>
          <a:prstGeom prst="rightArrow">
            <a:avLst>
              <a:gd name="adj1" fmla="val 37235"/>
              <a:gd name="adj2" fmla="val 113821"/>
            </a:avLst>
          </a:prstGeom>
          <a:solidFill>
            <a:srgbClr val="0000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b="1">
              <a:latin typeface="Arial" charset="0"/>
            </a:endParaRPr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2206C522-D55B-6497-F5CC-B624731A5063}"/>
              </a:ext>
            </a:extLst>
          </p:cNvPr>
          <p:cNvSpPr/>
          <p:nvPr/>
        </p:nvSpPr>
        <p:spPr bwMode="auto">
          <a:xfrm rot="5400000" flipV="1">
            <a:off x="3125809" y="3163507"/>
            <a:ext cx="674985" cy="143805"/>
          </a:xfrm>
          <a:prstGeom prst="rightArrow">
            <a:avLst>
              <a:gd name="adj1" fmla="val 37235"/>
              <a:gd name="adj2" fmla="val 113821"/>
            </a:avLst>
          </a:prstGeom>
          <a:solidFill>
            <a:srgbClr val="0000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b="1">
              <a:latin typeface="Arial" charset="0"/>
            </a:endParaRPr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3E3BEF36-3FBA-2DF7-4941-479D85A69FD7}"/>
              </a:ext>
            </a:extLst>
          </p:cNvPr>
          <p:cNvSpPr/>
          <p:nvPr/>
        </p:nvSpPr>
        <p:spPr bwMode="auto">
          <a:xfrm rot="5400000" flipV="1">
            <a:off x="3125809" y="4446898"/>
            <a:ext cx="674985" cy="143805"/>
          </a:xfrm>
          <a:prstGeom prst="rightArrow">
            <a:avLst>
              <a:gd name="adj1" fmla="val 37235"/>
              <a:gd name="adj2" fmla="val 113821"/>
            </a:avLst>
          </a:prstGeom>
          <a:solidFill>
            <a:srgbClr val="0000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b="1">
              <a:latin typeface="Arial" charset="0"/>
            </a:endParaRPr>
          </a:p>
        </p:txBody>
      </p:sp>
      <p:sp>
        <p:nvSpPr>
          <p:cNvPr id="91" name="Arrow: Right 90">
            <a:extLst>
              <a:ext uri="{FF2B5EF4-FFF2-40B4-BE49-F238E27FC236}">
                <a16:creationId xmlns:a16="http://schemas.microsoft.com/office/drawing/2014/main" id="{28D30624-860A-83B8-521B-97F6A2272510}"/>
              </a:ext>
            </a:extLst>
          </p:cNvPr>
          <p:cNvSpPr/>
          <p:nvPr/>
        </p:nvSpPr>
        <p:spPr bwMode="auto">
          <a:xfrm rot="5400000" flipV="1">
            <a:off x="3125809" y="5653819"/>
            <a:ext cx="674985" cy="143805"/>
          </a:xfrm>
          <a:prstGeom prst="rightArrow">
            <a:avLst>
              <a:gd name="adj1" fmla="val 37235"/>
              <a:gd name="adj2" fmla="val 113821"/>
            </a:avLst>
          </a:prstGeom>
          <a:solidFill>
            <a:srgbClr val="0000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b="1">
              <a:latin typeface="Arial" charset="0"/>
            </a:endParaRPr>
          </a:p>
        </p:txBody>
      </p:sp>
      <p:sp>
        <p:nvSpPr>
          <p:cNvPr id="92" name="Arrow: Right 91">
            <a:extLst>
              <a:ext uri="{FF2B5EF4-FFF2-40B4-BE49-F238E27FC236}">
                <a16:creationId xmlns:a16="http://schemas.microsoft.com/office/drawing/2014/main" id="{B935EB51-5066-5668-435D-844E66CF2580}"/>
              </a:ext>
            </a:extLst>
          </p:cNvPr>
          <p:cNvSpPr/>
          <p:nvPr/>
        </p:nvSpPr>
        <p:spPr bwMode="auto">
          <a:xfrm rot="5400000" flipH="1">
            <a:off x="1009153" y="5640304"/>
            <a:ext cx="674985" cy="170834"/>
          </a:xfrm>
          <a:prstGeom prst="rightArrow">
            <a:avLst>
              <a:gd name="adj1" fmla="val 37235"/>
              <a:gd name="adj2" fmla="val 113821"/>
            </a:avLst>
          </a:prstGeom>
          <a:pattFill prst="dashHorz">
            <a:fgClr>
              <a:schemeClr val="accent1"/>
            </a:fgClr>
            <a:bgClr>
              <a:schemeClr val="bg1"/>
            </a:bgClr>
          </a:pattFill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DBE8E60-C736-7C29-4248-89564D9B686D}"/>
              </a:ext>
            </a:extLst>
          </p:cNvPr>
          <p:cNvSpPr txBox="1"/>
          <p:nvPr/>
        </p:nvSpPr>
        <p:spPr>
          <a:xfrm>
            <a:off x="3657283" y="1625724"/>
            <a:ext cx="2840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E4BF83A-FE59-C849-F5D7-07DC91342CC0}"/>
              </a:ext>
            </a:extLst>
          </p:cNvPr>
          <p:cNvSpPr txBox="1"/>
          <p:nvPr/>
        </p:nvSpPr>
        <p:spPr>
          <a:xfrm>
            <a:off x="3657283" y="2934581"/>
            <a:ext cx="2840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5857C0A-F7DB-CB37-3323-837BEE6C7373}"/>
              </a:ext>
            </a:extLst>
          </p:cNvPr>
          <p:cNvSpPr txBox="1"/>
          <p:nvPr/>
        </p:nvSpPr>
        <p:spPr>
          <a:xfrm>
            <a:off x="3657283" y="4271804"/>
            <a:ext cx="2840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E8A1A73-B5E8-113B-71F7-0F51AC644FA7}"/>
              </a:ext>
            </a:extLst>
          </p:cNvPr>
          <p:cNvSpPr txBox="1"/>
          <p:nvPr/>
        </p:nvSpPr>
        <p:spPr>
          <a:xfrm>
            <a:off x="4687498" y="810528"/>
            <a:ext cx="1984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846D3CD-67C1-8229-68D3-D2BA52928CEF}"/>
              </a:ext>
            </a:extLst>
          </p:cNvPr>
          <p:cNvCxnSpPr/>
          <p:nvPr/>
        </p:nvCxnSpPr>
        <p:spPr>
          <a:xfrm>
            <a:off x="711200" y="2628900"/>
            <a:ext cx="8255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6E29588-44F0-7E8E-D364-0DB1767FE365}"/>
              </a:ext>
            </a:extLst>
          </p:cNvPr>
          <p:cNvCxnSpPr/>
          <p:nvPr/>
        </p:nvCxnSpPr>
        <p:spPr>
          <a:xfrm>
            <a:off x="711200" y="3810000"/>
            <a:ext cx="8255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FA56479-D59D-6326-4F96-E3C7C4674D81}"/>
              </a:ext>
            </a:extLst>
          </p:cNvPr>
          <p:cNvCxnSpPr/>
          <p:nvPr/>
        </p:nvCxnSpPr>
        <p:spPr>
          <a:xfrm>
            <a:off x="711200" y="5069498"/>
            <a:ext cx="8255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93A2803-B04A-AFCC-27F5-25F3EE3E7504}"/>
              </a:ext>
            </a:extLst>
          </p:cNvPr>
          <p:cNvCxnSpPr/>
          <p:nvPr/>
        </p:nvCxnSpPr>
        <p:spPr>
          <a:xfrm>
            <a:off x="711200" y="1327671"/>
            <a:ext cx="8255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3CD3CA37-D488-CDA5-0E62-9E2679EBBA7F}"/>
              </a:ext>
            </a:extLst>
          </p:cNvPr>
          <p:cNvSpPr txBox="1"/>
          <p:nvPr/>
        </p:nvSpPr>
        <p:spPr>
          <a:xfrm>
            <a:off x="3087573" y="6334780"/>
            <a:ext cx="6005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Remember compare image to object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36803088-469B-171B-A706-D2C047EA3296}"/>
              </a:ext>
            </a:extLst>
          </p:cNvPr>
          <p:cNvCxnSpPr/>
          <p:nvPr/>
        </p:nvCxnSpPr>
        <p:spPr>
          <a:xfrm>
            <a:off x="711200" y="810404"/>
            <a:ext cx="8255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56EBFADF-580D-21A0-7FD1-810B51ED0488}"/>
              </a:ext>
            </a:extLst>
          </p:cNvPr>
          <p:cNvSpPr txBox="1"/>
          <p:nvPr/>
        </p:nvSpPr>
        <p:spPr>
          <a:xfrm>
            <a:off x="118011" y="5248666"/>
            <a:ext cx="13637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image</a:t>
            </a:r>
          </a:p>
        </p:txBody>
      </p:sp>
    </p:spTree>
    <p:extLst>
      <p:ext uri="{BB962C8B-B14F-4D97-AF65-F5344CB8AC3E}">
        <p14:creationId xmlns:p14="http://schemas.microsoft.com/office/powerpoint/2010/main" val="167514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59" grpId="0"/>
      <p:bldP spid="64" grpId="0"/>
      <p:bldP spid="7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E1B7-ED1D-048A-E363-C27C6CA4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Image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7D09A-6C30-9ECE-0661-92F19B1B1D9B}"/>
              </a:ext>
            </a:extLst>
          </p:cNvPr>
          <p:cNvSpPr txBox="1"/>
          <p:nvPr/>
        </p:nvSpPr>
        <p:spPr>
          <a:xfrm>
            <a:off x="350875" y="1593771"/>
            <a:ext cx="657092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 real image is an image formed by the actual intersection of rays. It can be located on a screen.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49434CBA-A22C-D61E-79D6-54F45F18F1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894959"/>
              </p:ext>
            </p:extLst>
          </p:nvPr>
        </p:nvGraphicFramePr>
        <p:xfrm>
          <a:off x="76200" y="2970233"/>
          <a:ext cx="7010400" cy="3690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6800850" imgH="4006850" progId="MSPhotoEd.3">
                  <p:embed/>
                </p:oleObj>
              </mc:Choice>
              <mc:Fallback>
                <p:oleObj name="Photo Editor Photo" r:id="rId2" imgW="6800850" imgH="4006850" progId="MSPhotoEd.3">
                  <p:embed/>
                  <p:pic>
                    <p:nvPicPr>
                      <p:cNvPr id="33794" name="Object 6">
                        <a:extLst>
                          <a:ext uri="{FF2B5EF4-FFF2-40B4-BE49-F238E27FC236}">
                            <a16:creationId xmlns:a16="http://schemas.microsoft.com/office/drawing/2014/main" id="{E2D45F9F-C804-276D-4A0C-D30099E5A5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751" t="11804" r="6250" b="9682"/>
                      <a:stretch>
                        <a:fillRect/>
                      </a:stretch>
                    </p:blipFill>
                    <p:spPr bwMode="auto">
                      <a:xfrm>
                        <a:off x="76200" y="2970233"/>
                        <a:ext cx="7010400" cy="3690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9983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4CBB-632C-10D8-6BAC-237D5C97C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Image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262DE-6231-1DB5-8BDC-01F24B2815D6}"/>
              </a:ext>
            </a:extLst>
          </p:cNvPr>
          <p:cNvSpPr txBox="1"/>
          <p:nvPr/>
        </p:nvSpPr>
        <p:spPr>
          <a:xfrm>
            <a:off x="1403498" y="1593771"/>
            <a:ext cx="60286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 virtual image is an image formed by the apparent intersection of rays. It cannot be located on a screen.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E3B246-1C4B-DA01-490B-26636D398166}"/>
              </a:ext>
            </a:extLst>
          </p:cNvPr>
          <p:cNvSpPr txBox="1"/>
          <p:nvPr/>
        </p:nvSpPr>
        <p:spPr>
          <a:xfrm>
            <a:off x="2286000" y="32751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013767-1381-79E3-8A34-699C6A0BB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7976"/>
            <a:ext cx="7772400" cy="345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575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AD6F1F95-BD2F-C410-7B5A-1887683CA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915400" cy="2057400"/>
          </a:xfrm>
        </p:spPr>
        <p:txBody>
          <a:bodyPr/>
          <a:lstStyle/>
          <a:p>
            <a:pPr eaLnBrk="1" hangingPunct="1"/>
            <a:r>
              <a:rPr lang="en-GB" altLang="en-US" sz="3200" b="1">
                <a:solidFill>
                  <a:schemeClr val="tx1"/>
                </a:solidFill>
              </a:rPr>
              <a:t>Converging Lens - Case 1: </a:t>
            </a:r>
            <a:br>
              <a:rPr lang="en-IE" altLang="en-US" sz="3200" b="1">
                <a:solidFill>
                  <a:schemeClr val="tx1"/>
                </a:solidFill>
              </a:rPr>
            </a:br>
            <a:r>
              <a:rPr lang="en-GB" altLang="en-US" sz="3200" b="1">
                <a:solidFill>
                  <a:schemeClr val="tx1"/>
                </a:solidFill>
                <a:latin typeface="Verdana" panose="020B0604030504040204" pitchFamily="34" charset="0"/>
              </a:rPr>
              <a:t>Object Located outside </a:t>
            </a:r>
            <a:r>
              <a:rPr lang="en-IE" altLang="en-US" sz="3200" b="1">
                <a:solidFill>
                  <a:schemeClr val="tx1"/>
                </a:solidFill>
                <a:latin typeface="Verdana" panose="020B0604030504040204" pitchFamily="34" charset="0"/>
              </a:rPr>
              <a:t>2f </a:t>
            </a:r>
            <a:r>
              <a:rPr lang="en-GB" altLang="en-US" sz="3200" b="1">
                <a:solidFill>
                  <a:schemeClr val="tx1"/>
                </a:solidFill>
              </a:rPr>
              <a:t>i.e. </a:t>
            </a:r>
            <a:r>
              <a:rPr lang="en-GB" altLang="en-US" sz="3200" b="1" i="1">
                <a:solidFill>
                  <a:schemeClr val="tx1"/>
                </a:solidFill>
              </a:rPr>
              <a:t>u</a:t>
            </a:r>
            <a:r>
              <a:rPr lang="en-GB" altLang="en-US" sz="3200" b="1">
                <a:solidFill>
                  <a:schemeClr val="tx1"/>
                </a:solidFill>
              </a:rPr>
              <a:t> </a:t>
            </a:r>
            <a:r>
              <a:rPr lang="en-GB" altLang="en-US" sz="3200" b="1">
                <a:solidFill>
                  <a:schemeClr val="tx1"/>
                </a:solidFill>
                <a:sym typeface="Symbol" pitchFamily="2" charset="2"/>
              </a:rPr>
              <a:t> 2</a:t>
            </a:r>
            <a:r>
              <a:rPr lang="en-GB" altLang="en-US" sz="3200" b="1" i="1">
                <a:solidFill>
                  <a:schemeClr val="tx1"/>
                </a:solidFill>
                <a:sym typeface="Symbol" pitchFamily="2" charset="2"/>
              </a:rPr>
              <a:t>f</a:t>
            </a:r>
          </a:p>
        </p:txBody>
      </p:sp>
      <p:pic>
        <p:nvPicPr>
          <p:cNvPr id="82947" name="Picture 3">
            <a:extLst>
              <a:ext uri="{FF2B5EF4-FFF2-40B4-BE49-F238E27FC236}">
                <a16:creationId xmlns:a16="http://schemas.microsoft.com/office/drawing/2014/main" id="{DF04990F-A157-633B-849B-7F2E827DD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0"/>
            <a:ext cx="91440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3D178DD3-2DE7-E304-73DE-A3CFAA8977A5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124200"/>
            <a:ext cx="8818563" cy="1268413"/>
            <a:chOff x="240" y="1824"/>
            <a:chExt cx="5555" cy="799"/>
          </a:xfrm>
        </p:grpSpPr>
        <p:grpSp>
          <p:nvGrpSpPr>
            <p:cNvPr id="19480" name="Group 5">
              <a:extLst>
                <a:ext uri="{FF2B5EF4-FFF2-40B4-BE49-F238E27FC236}">
                  <a16:creationId xmlns:a16="http://schemas.microsoft.com/office/drawing/2014/main" id="{32E7971E-EA1E-0A15-4FF8-B57CDFF958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824"/>
              <a:ext cx="2640" cy="121"/>
              <a:chOff x="1920" y="240"/>
              <a:chExt cx="1152" cy="0"/>
            </a:xfrm>
          </p:grpSpPr>
          <p:sp>
            <p:nvSpPr>
              <p:cNvPr id="19482" name="Line 6">
                <a:extLst>
                  <a:ext uri="{FF2B5EF4-FFF2-40B4-BE49-F238E27FC236}">
                    <a16:creationId xmlns:a16="http://schemas.microsoft.com/office/drawing/2014/main" id="{B58FEF17-427F-A992-74FB-C180B437F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40"/>
                <a:ext cx="11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3" name="Line 7">
                <a:extLst>
                  <a:ext uri="{FF2B5EF4-FFF2-40B4-BE49-F238E27FC236}">
                    <a16:creationId xmlns:a16="http://schemas.microsoft.com/office/drawing/2014/main" id="{2BA9BF38-CA13-54BF-6254-9280157F6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4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481" name="Line 8">
              <a:extLst>
                <a:ext uri="{FF2B5EF4-FFF2-40B4-BE49-F238E27FC236}">
                  <a16:creationId xmlns:a16="http://schemas.microsoft.com/office/drawing/2014/main" id="{FD079BB4-EC76-C24B-0CA0-4E172FF9B6D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3021">
              <a:off x="2640" y="2603"/>
              <a:ext cx="3155" cy="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5815BE9E-8DC0-057A-6967-933AE7542B6C}"/>
              </a:ext>
            </a:extLst>
          </p:cNvPr>
          <p:cNvGrpSpPr>
            <a:grpSpLocks/>
          </p:cNvGrpSpPr>
          <p:nvPr/>
        </p:nvGrpSpPr>
        <p:grpSpPr bwMode="auto">
          <a:xfrm>
            <a:off x="0" y="2667000"/>
            <a:ext cx="500063" cy="1447800"/>
            <a:chOff x="432" y="1267"/>
            <a:chExt cx="369" cy="893"/>
          </a:xfrm>
        </p:grpSpPr>
        <p:sp>
          <p:nvSpPr>
            <p:cNvPr id="19478" name="Line 10">
              <a:extLst>
                <a:ext uri="{FF2B5EF4-FFF2-40B4-BE49-F238E27FC236}">
                  <a16:creationId xmlns:a16="http://schemas.microsoft.com/office/drawing/2014/main" id="{D6DFD944-500D-360E-3DD7-8990B2B9F5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1536"/>
              <a:ext cx="0" cy="624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9" name="Text Box 11">
              <a:extLst>
                <a:ext uri="{FF2B5EF4-FFF2-40B4-BE49-F238E27FC236}">
                  <a16:creationId xmlns:a16="http://schemas.microsoft.com/office/drawing/2014/main" id="{937F8132-72C3-2B4F-E25B-73D0741519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267"/>
              <a:ext cx="369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/>
                <a:t>O</a:t>
              </a:r>
            </a:p>
          </p:txBody>
        </p:sp>
      </p:grpSp>
      <p:grpSp>
        <p:nvGrpSpPr>
          <p:cNvPr id="5" name="Group 12">
            <a:extLst>
              <a:ext uri="{FF2B5EF4-FFF2-40B4-BE49-F238E27FC236}">
                <a16:creationId xmlns:a16="http://schemas.microsoft.com/office/drawing/2014/main" id="{2B4F9291-E628-3143-3A32-FD750344D416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4114800"/>
            <a:ext cx="342900" cy="1338263"/>
            <a:chOff x="4536" y="2448"/>
            <a:chExt cx="243" cy="796"/>
          </a:xfrm>
        </p:grpSpPr>
        <p:sp>
          <p:nvSpPr>
            <p:cNvPr id="19476" name="Line 13">
              <a:extLst>
                <a:ext uri="{FF2B5EF4-FFF2-40B4-BE49-F238E27FC236}">
                  <a16:creationId xmlns:a16="http://schemas.microsoft.com/office/drawing/2014/main" id="{12B480F8-6ACC-BF85-03A3-43E4DC2435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448"/>
              <a:ext cx="0" cy="43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Text Box 14">
              <a:extLst>
                <a:ext uri="{FF2B5EF4-FFF2-40B4-BE49-F238E27FC236}">
                  <a16:creationId xmlns:a16="http://schemas.microsoft.com/office/drawing/2014/main" id="{F20617AC-0601-A227-7127-21EF7CDDA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" y="2899"/>
              <a:ext cx="243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>
                  <a:solidFill>
                    <a:srgbClr val="FF3300"/>
                  </a:solidFill>
                </a:rPr>
                <a:t>I</a:t>
              </a:r>
            </a:p>
          </p:txBody>
        </p:sp>
      </p:grpSp>
      <p:grpSp>
        <p:nvGrpSpPr>
          <p:cNvPr id="6" name="Group 15">
            <a:extLst>
              <a:ext uri="{FF2B5EF4-FFF2-40B4-BE49-F238E27FC236}">
                <a16:creationId xmlns:a16="http://schemas.microsoft.com/office/drawing/2014/main" id="{140A889C-0901-1613-336E-2B941D761E3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038600"/>
            <a:ext cx="7483475" cy="685800"/>
            <a:chOff x="528" y="2400"/>
            <a:chExt cx="4714" cy="432"/>
          </a:xfrm>
        </p:grpSpPr>
        <p:sp>
          <p:nvSpPr>
            <p:cNvPr id="19468" name="Oval 16">
              <a:extLst>
                <a:ext uri="{FF2B5EF4-FFF2-40B4-BE49-F238E27FC236}">
                  <a16:creationId xmlns:a16="http://schemas.microsoft.com/office/drawing/2014/main" id="{1209FFAC-717D-8CEB-40E9-A4EEC29AA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19469" name="Text Box 17">
              <a:extLst>
                <a:ext uri="{FF2B5EF4-FFF2-40B4-BE49-F238E27FC236}">
                  <a16:creationId xmlns:a16="http://schemas.microsoft.com/office/drawing/2014/main" id="{C8C47CE9-6BC1-E7E4-AE0B-05408F293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19470" name="Text Box 18">
              <a:extLst>
                <a:ext uri="{FF2B5EF4-FFF2-40B4-BE49-F238E27FC236}">
                  <a16:creationId xmlns:a16="http://schemas.microsoft.com/office/drawing/2014/main" id="{3A04395D-7EA4-92FF-A81E-2E0143A60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544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19471" name="Oval 19">
              <a:extLst>
                <a:ext uri="{FF2B5EF4-FFF2-40B4-BE49-F238E27FC236}">
                  <a16:creationId xmlns:a16="http://schemas.microsoft.com/office/drawing/2014/main" id="{3E9BA3EF-8248-F217-63F2-4EA87E2E9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19472" name="Text Box 20">
              <a:extLst>
                <a:ext uri="{FF2B5EF4-FFF2-40B4-BE49-F238E27FC236}">
                  <a16:creationId xmlns:a16="http://schemas.microsoft.com/office/drawing/2014/main" id="{C3498B60-4FFC-5451-CA0B-E008AD0DA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19473" name="Oval 21">
              <a:extLst>
                <a:ext uri="{FF2B5EF4-FFF2-40B4-BE49-F238E27FC236}">
                  <a16:creationId xmlns:a16="http://schemas.microsoft.com/office/drawing/2014/main" id="{6B9EB07D-08F3-4DAD-E913-A1698879D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19474" name="Text Box 22">
              <a:extLst>
                <a:ext uri="{FF2B5EF4-FFF2-40B4-BE49-F238E27FC236}">
                  <a16:creationId xmlns:a16="http://schemas.microsoft.com/office/drawing/2014/main" id="{80A9E63A-D5E9-F181-4A02-AFF1569BE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19475" name="Oval 23">
              <a:extLst>
                <a:ext uri="{FF2B5EF4-FFF2-40B4-BE49-F238E27FC236}">
                  <a16:creationId xmlns:a16="http://schemas.microsoft.com/office/drawing/2014/main" id="{77A4DC71-B94A-5117-7AE7-6BCBB7587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87145ADF-7FD6-B0BC-A75A-7A5796B91F54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124200"/>
            <a:ext cx="8458200" cy="2057400"/>
            <a:chOff x="240" y="1824"/>
            <a:chExt cx="5328" cy="1296"/>
          </a:xfrm>
        </p:grpSpPr>
        <p:sp>
          <p:nvSpPr>
            <p:cNvPr id="19466" name="Line 25">
              <a:extLst>
                <a:ext uri="{FF2B5EF4-FFF2-40B4-BE49-F238E27FC236}">
                  <a16:creationId xmlns:a16="http://schemas.microsoft.com/office/drawing/2014/main" id="{AF0CEBE0-BC09-6E22-3895-468E798253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824"/>
              <a:ext cx="5328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Line 26">
              <a:extLst>
                <a:ext uri="{FF2B5EF4-FFF2-40B4-BE49-F238E27FC236}">
                  <a16:creationId xmlns:a16="http://schemas.microsoft.com/office/drawing/2014/main" id="{FD26457E-5FED-BB40-E81A-B95FD376B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064"/>
              <a:ext cx="432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82971" name="Object 27">
            <a:extLst>
              <a:ext uri="{FF2B5EF4-FFF2-40B4-BE49-F238E27FC236}">
                <a16:creationId xmlns:a16="http://schemas.microsoft.com/office/drawing/2014/main" id="{71A7CB1B-D33D-3FD5-A1CD-0FF8EF698A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34400" y="4800600"/>
          <a:ext cx="609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342900" imgH="184150" progId="Photoshop.Image.5">
                  <p:embed/>
                </p:oleObj>
              </mc:Choice>
              <mc:Fallback>
                <p:oleObj name="Image" r:id="rId4" imgW="342900" imgH="184150" progId="Photoshop.Image.5">
                  <p:embed/>
                  <p:pic>
                    <p:nvPicPr>
                      <p:cNvPr id="82971" name="Object 27">
                        <a:extLst>
                          <a:ext uri="{FF2B5EF4-FFF2-40B4-BE49-F238E27FC236}">
                            <a16:creationId xmlns:a16="http://schemas.microsoft.com/office/drawing/2014/main" id="{71A7CB1B-D33D-3FD5-A1CD-0FF8EF698A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4800600"/>
                        <a:ext cx="609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2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2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2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2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AF85FEC-9EB7-ECF5-9E16-9C9D447271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915400" cy="2057400"/>
          </a:xfrm>
        </p:spPr>
        <p:txBody>
          <a:bodyPr/>
          <a:lstStyle/>
          <a:p>
            <a:pPr eaLnBrk="1" hangingPunct="1"/>
            <a:r>
              <a:rPr lang="en-GB" altLang="en-US" sz="3200">
                <a:solidFill>
                  <a:schemeClr val="tx1"/>
                </a:solidFill>
              </a:rPr>
              <a:t>Converging Lens - Case 1: </a:t>
            </a:r>
            <a:br>
              <a:rPr lang="en-IE" altLang="en-US" sz="3200">
                <a:solidFill>
                  <a:schemeClr val="tx1"/>
                </a:solidFill>
              </a:rPr>
            </a:br>
            <a:r>
              <a:rPr lang="en-GB" altLang="en-US" sz="3200" b="1">
                <a:solidFill>
                  <a:schemeClr val="tx1"/>
                </a:solidFill>
                <a:latin typeface="Verdana" panose="020B0604030504040204" pitchFamily="34" charset="0"/>
              </a:rPr>
              <a:t>Object Located Outside </a:t>
            </a:r>
            <a:r>
              <a:rPr lang="en-IE" altLang="en-US" sz="3200" b="1">
                <a:solidFill>
                  <a:schemeClr val="tx1"/>
                </a:solidFill>
                <a:latin typeface="Verdana" panose="020B0604030504040204" pitchFamily="34" charset="0"/>
              </a:rPr>
              <a:t>2f </a:t>
            </a:r>
            <a:r>
              <a:rPr lang="en-GB" altLang="en-US" sz="3200">
                <a:solidFill>
                  <a:schemeClr val="tx1"/>
                </a:solidFill>
              </a:rPr>
              <a:t>i.e. </a:t>
            </a:r>
            <a:r>
              <a:rPr lang="en-GB" altLang="en-US" sz="3200" b="1" i="1">
                <a:solidFill>
                  <a:schemeClr val="tx1"/>
                </a:solidFill>
              </a:rPr>
              <a:t>u</a:t>
            </a:r>
            <a:r>
              <a:rPr lang="en-GB" altLang="en-US" sz="3200" b="1">
                <a:solidFill>
                  <a:schemeClr val="tx1"/>
                </a:solidFill>
              </a:rPr>
              <a:t> </a:t>
            </a:r>
            <a:r>
              <a:rPr lang="en-GB" altLang="en-US" sz="3200" b="1">
                <a:solidFill>
                  <a:schemeClr val="tx1"/>
                </a:solidFill>
                <a:sym typeface="Symbol" pitchFamily="2" charset="2"/>
              </a:rPr>
              <a:t> 2</a:t>
            </a:r>
            <a:r>
              <a:rPr lang="en-GB" altLang="en-US" sz="3200" b="1" i="1">
                <a:solidFill>
                  <a:schemeClr val="tx1"/>
                </a:solidFill>
                <a:sym typeface="Symbol" pitchFamily="2" charset="2"/>
              </a:rPr>
              <a:t>f</a:t>
            </a:r>
          </a:p>
        </p:txBody>
      </p:sp>
      <p:pic>
        <p:nvPicPr>
          <p:cNvPr id="20483" name="Picture 3">
            <a:extLst>
              <a:ext uri="{FF2B5EF4-FFF2-40B4-BE49-F238E27FC236}">
                <a16:creationId xmlns:a16="http://schemas.microsoft.com/office/drawing/2014/main" id="{D641BEE8-FA64-822F-4954-CB565A8C5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0"/>
            <a:ext cx="91440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484" name="Group 4">
            <a:extLst>
              <a:ext uri="{FF2B5EF4-FFF2-40B4-BE49-F238E27FC236}">
                <a16:creationId xmlns:a16="http://schemas.microsoft.com/office/drawing/2014/main" id="{8EC5CDAA-D60B-E47C-3855-4C0A28F664BA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124200"/>
            <a:ext cx="8818563" cy="1268413"/>
            <a:chOff x="240" y="1824"/>
            <a:chExt cx="5555" cy="799"/>
          </a:xfrm>
        </p:grpSpPr>
        <p:grpSp>
          <p:nvGrpSpPr>
            <p:cNvPr id="20514" name="Group 5">
              <a:extLst>
                <a:ext uri="{FF2B5EF4-FFF2-40B4-BE49-F238E27FC236}">
                  <a16:creationId xmlns:a16="http://schemas.microsoft.com/office/drawing/2014/main" id="{1A370287-48C3-4D3E-2637-E022BCEA9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824"/>
              <a:ext cx="2640" cy="121"/>
              <a:chOff x="1920" y="240"/>
              <a:chExt cx="1152" cy="0"/>
            </a:xfrm>
          </p:grpSpPr>
          <p:sp>
            <p:nvSpPr>
              <p:cNvPr id="20516" name="Line 6">
                <a:extLst>
                  <a:ext uri="{FF2B5EF4-FFF2-40B4-BE49-F238E27FC236}">
                    <a16:creationId xmlns:a16="http://schemas.microsoft.com/office/drawing/2014/main" id="{349FB56B-EC9E-58E5-C2E2-35D0287CC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40"/>
                <a:ext cx="11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17" name="Line 7">
                <a:extLst>
                  <a:ext uri="{FF2B5EF4-FFF2-40B4-BE49-F238E27FC236}">
                    <a16:creationId xmlns:a16="http://schemas.microsoft.com/office/drawing/2014/main" id="{B4E56317-F164-D1AB-0F3D-F9C1FC071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4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515" name="Line 8">
              <a:extLst>
                <a:ext uri="{FF2B5EF4-FFF2-40B4-BE49-F238E27FC236}">
                  <a16:creationId xmlns:a16="http://schemas.microsoft.com/office/drawing/2014/main" id="{DE7931FF-A4D0-57E4-D903-362D762203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3021">
              <a:off x="2640" y="2603"/>
              <a:ext cx="3155" cy="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5" name="Group 9">
            <a:extLst>
              <a:ext uri="{FF2B5EF4-FFF2-40B4-BE49-F238E27FC236}">
                <a16:creationId xmlns:a16="http://schemas.microsoft.com/office/drawing/2014/main" id="{F7C2E009-775B-9403-6F38-D64C98904176}"/>
              </a:ext>
            </a:extLst>
          </p:cNvPr>
          <p:cNvGrpSpPr>
            <a:grpSpLocks/>
          </p:cNvGrpSpPr>
          <p:nvPr/>
        </p:nvGrpSpPr>
        <p:grpSpPr bwMode="auto">
          <a:xfrm>
            <a:off x="0" y="2667000"/>
            <a:ext cx="500063" cy="1447800"/>
            <a:chOff x="432" y="1267"/>
            <a:chExt cx="369" cy="893"/>
          </a:xfrm>
        </p:grpSpPr>
        <p:sp>
          <p:nvSpPr>
            <p:cNvPr id="20512" name="Line 10">
              <a:extLst>
                <a:ext uri="{FF2B5EF4-FFF2-40B4-BE49-F238E27FC236}">
                  <a16:creationId xmlns:a16="http://schemas.microsoft.com/office/drawing/2014/main" id="{EFFE66DD-F092-DC8B-8FB0-28644CC1D3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1536"/>
              <a:ext cx="0" cy="624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Text Box 11">
              <a:extLst>
                <a:ext uri="{FF2B5EF4-FFF2-40B4-BE49-F238E27FC236}">
                  <a16:creationId xmlns:a16="http://schemas.microsoft.com/office/drawing/2014/main" id="{576EFCE5-0301-1AEF-8315-D48DEEAF6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267"/>
              <a:ext cx="369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/>
                <a:t>O</a:t>
              </a:r>
            </a:p>
          </p:txBody>
        </p:sp>
      </p:grpSp>
      <p:grpSp>
        <p:nvGrpSpPr>
          <p:cNvPr id="20486" name="Group 12">
            <a:extLst>
              <a:ext uri="{FF2B5EF4-FFF2-40B4-BE49-F238E27FC236}">
                <a16:creationId xmlns:a16="http://schemas.microsoft.com/office/drawing/2014/main" id="{A598ADEC-EFDD-DC0A-91EF-77D0640C55F4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4114800"/>
            <a:ext cx="342900" cy="1338263"/>
            <a:chOff x="4536" y="2448"/>
            <a:chExt cx="243" cy="796"/>
          </a:xfrm>
        </p:grpSpPr>
        <p:sp>
          <p:nvSpPr>
            <p:cNvPr id="20510" name="Line 13">
              <a:extLst>
                <a:ext uri="{FF2B5EF4-FFF2-40B4-BE49-F238E27FC236}">
                  <a16:creationId xmlns:a16="http://schemas.microsoft.com/office/drawing/2014/main" id="{633B053D-7278-E98C-3931-8FE82C3CC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448"/>
              <a:ext cx="0" cy="43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1" name="Text Box 14">
              <a:extLst>
                <a:ext uri="{FF2B5EF4-FFF2-40B4-BE49-F238E27FC236}">
                  <a16:creationId xmlns:a16="http://schemas.microsoft.com/office/drawing/2014/main" id="{87851958-CD0B-2051-AEE2-287188985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" y="2899"/>
              <a:ext cx="243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>
                  <a:solidFill>
                    <a:srgbClr val="FF3300"/>
                  </a:solidFill>
                </a:rPr>
                <a:t>I</a:t>
              </a:r>
            </a:p>
          </p:txBody>
        </p:sp>
      </p:grpSp>
      <p:grpSp>
        <p:nvGrpSpPr>
          <p:cNvPr id="20487" name="Group 15">
            <a:extLst>
              <a:ext uri="{FF2B5EF4-FFF2-40B4-BE49-F238E27FC236}">
                <a16:creationId xmlns:a16="http://schemas.microsoft.com/office/drawing/2014/main" id="{56B7B8CE-0611-B8B7-2841-2A007B8BBF05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038600"/>
            <a:ext cx="7483475" cy="685800"/>
            <a:chOff x="528" y="2400"/>
            <a:chExt cx="4714" cy="432"/>
          </a:xfrm>
        </p:grpSpPr>
        <p:sp>
          <p:nvSpPr>
            <p:cNvPr id="20502" name="Oval 16">
              <a:extLst>
                <a:ext uri="{FF2B5EF4-FFF2-40B4-BE49-F238E27FC236}">
                  <a16:creationId xmlns:a16="http://schemas.microsoft.com/office/drawing/2014/main" id="{28D9D370-8D64-B736-1B99-ECBF2A3E5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0503" name="Text Box 17">
              <a:extLst>
                <a:ext uri="{FF2B5EF4-FFF2-40B4-BE49-F238E27FC236}">
                  <a16:creationId xmlns:a16="http://schemas.microsoft.com/office/drawing/2014/main" id="{056C0DE6-0077-E5DB-8A4D-1F17B3FEF8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20504" name="Text Box 18">
              <a:extLst>
                <a:ext uri="{FF2B5EF4-FFF2-40B4-BE49-F238E27FC236}">
                  <a16:creationId xmlns:a16="http://schemas.microsoft.com/office/drawing/2014/main" id="{2CA82FD5-0562-2378-7FBB-BD785312AD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544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20505" name="Oval 19">
              <a:extLst>
                <a:ext uri="{FF2B5EF4-FFF2-40B4-BE49-F238E27FC236}">
                  <a16:creationId xmlns:a16="http://schemas.microsoft.com/office/drawing/2014/main" id="{C63A4A17-587E-D75D-B399-5568291B6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0506" name="Text Box 20">
              <a:extLst>
                <a:ext uri="{FF2B5EF4-FFF2-40B4-BE49-F238E27FC236}">
                  <a16:creationId xmlns:a16="http://schemas.microsoft.com/office/drawing/2014/main" id="{D6774B0F-3DCC-2D7E-74B8-258D1C8D11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20507" name="Oval 21">
              <a:extLst>
                <a:ext uri="{FF2B5EF4-FFF2-40B4-BE49-F238E27FC236}">
                  <a16:creationId xmlns:a16="http://schemas.microsoft.com/office/drawing/2014/main" id="{75D3379A-CC6D-537E-883D-60ABDCCE3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0508" name="Text Box 22">
              <a:extLst>
                <a:ext uri="{FF2B5EF4-FFF2-40B4-BE49-F238E27FC236}">
                  <a16:creationId xmlns:a16="http://schemas.microsoft.com/office/drawing/2014/main" id="{F8844187-3BBA-4859-0CF4-DF9FF406F3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20509" name="Oval 23">
              <a:extLst>
                <a:ext uri="{FF2B5EF4-FFF2-40B4-BE49-F238E27FC236}">
                  <a16:creationId xmlns:a16="http://schemas.microsoft.com/office/drawing/2014/main" id="{FA80C2DB-F79D-E7DA-67B2-85D19E898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</p:grpSp>
      <p:grpSp>
        <p:nvGrpSpPr>
          <p:cNvPr id="20488" name="Group 24">
            <a:extLst>
              <a:ext uri="{FF2B5EF4-FFF2-40B4-BE49-F238E27FC236}">
                <a16:creationId xmlns:a16="http://schemas.microsoft.com/office/drawing/2014/main" id="{0F690533-882F-7D3B-41EB-A8B5DE26E2FF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124200"/>
            <a:ext cx="8458200" cy="2057400"/>
            <a:chOff x="240" y="1824"/>
            <a:chExt cx="5328" cy="1296"/>
          </a:xfrm>
        </p:grpSpPr>
        <p:sp>
          <p:nvSpPr>
            <p:cNvPr id="20500" name="Line 25">
              <a:extLst>
                <a:ext uri="{FF2B5EF4-FFF2-40B4-BE49-F238E27FC236}">
                  <a16:creationId xmlns:a16="http://schemas.microsoft.com/office/drawing/2014/main" id="{6A1E46C7-BDB8-06A6-9786-EB0082A5F1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824"/>
              <a:ext cx="5328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Line 26">
              <a:extLst>
                <a:ext uri="{FF2B5EF4-FFF2-40B4-BE49-F238E27FC236}">
                  <a16:creationId xmlns:a16="http://schemas.microsoft.com/office/drawing/2014/main" id="{723191C1-1F7A-1540-18CF-54E40BEF6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064"/>
              <a:ext cx="432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3995" name="Text Box 27">
            <a:extLst>
              <a:ext uri="{FF2B5EF4-FFF2-40B4-BE49-F238E27FC236}">
                <a16:creationId xmlns:a16="http://schemas.microsoft.com/office/drawing/2014/main" id="{FADDBB88-9FCF-7CFA-0CBC-D7CA3C47B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78563"/>
            <a:ext cx="9144000" cy="579437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IE" altLang="en-US" sz="3200" b="1">
                <a:solidFill>
                  <a:schemeClr val="bg1"/>
                </a:solidFill>
              </a:rPr>
              <a:t>The image is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</a:t>
            </a:r>
            <a:r>
              <a:rPr lang="en-IE" altLang="en-US" sz="3200" b="1">
                <a:solidFill>
                  <a:schemeClr val="bg1"/>
                </a:solidFill>
              </a:rPr>
              <a:t>Real,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</a:t>
            </a:r>
            <a:r>
              <a:rPr lang="en-IE" altLang="en-US" sz="3200" b="1">
                <a:solidFill>
                  <a:schemeClr val="bg1"/>
                </a:solidFill>
              </a:rPr>
              <a:t> Inverted,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</a:t>
            </a:r>
            <a:r>
              <a:rPr lang="en-IE" altLang="en-US" sz="3200" b="1">
                <a:solidFill>
                  <a:schemeClr val="bg1"/>
                </a:solidFill>
              </a:rPr>
              <a:t> Diminished.</a:t>
            </a:r>
          </a:p>
        </p:txBody>
      </p:sp>
      <p:graphicFrame>
        <p:nvGraphicFramePr>
          <p:cNvPr id="28" name="Object 12">
            <a:extLst>
              <a:ext uri="{FF2B5EF4-FFF2-40B4-BE49-F238E27FC236}">
                <a16:creationId xmlns:a16="http://schemas.microsoft.com/office/drawing/2014/main" id="{8741D9EF-E5F2-6679-590C-59F60F5C77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2339975"/>
          <a:ext cx="19081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35600" imgH="9652000" progId="Equation.3">
                  <p:embed/>
                </p:oleObj>
              </mc:Choice>
              <mc:Fallback>
                <p:oleObj name="Equation" r:id="rId4" imgW="18135600" imgH="9652000" progId="Equation.3">
                  <p:embed/>
                  <p:pic>
                    <p:nvPicPr>
                      <p:cNvPr id="28" name="Object 12">
                        <a:extLst>
                          <a:ext uri="{FF2B5EF4-FFF2-40B4-BE49-F238E27FC236}">
                            <a16:creationId xmlns:a16="http://schemas.microsoft.com/office/drawing/2014/main" id="{8741D9EF-E5F2-6679-590C-59F60F5C77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339975"/>
                        <a:ext cx="1908175" cy="10175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30">
            <a:extLst>
              <a:ext uri="{FF2B5EF4-FFF2-40B4-BE49-F238E27FC236}">
                <a16:creationId xmlns:a16="http://schemas.microsoft.com/office/drawing/2014/main" id="{A511E25F-FABF-CBAC-919A-89F4921C3B76}"/>
              </a:ext>
            </a:extLst>
          </p:cNvPr>
          <p:cNvGrpSpPr>
            <a:grpSpLocks/>
          </p:cNvGrpSpPr>
          <p:nvPr/>
        </p:nvGrpSpPr>
        <p:grpSpPr bwMode="auto">
          <a:xfrm>
            <a:off x="4519613" y="5275263"/>
            <a:ext cx="2967037" cy="601662"/>
            <a:chOff x="2894" y="3120"/>
            <a:chExt cx="1618" cy="288"/>
          </a:xfrm>
        </p:grpSpPr>
        <p:sp>
          <p:nvSpPr>
            <p:cNvPr id="20498" name="Text Box 9">
              <a:extLst>
                <a:ext uri="{FF2B5EF4-FFF2-40B4-BE49-F238E27FC236}">
                  <a16:creationId xmlns:a16="http://schemas.microsoft.com/office/drawing/2014/main" id="{E63E3F05-AC56-AEF9-2B59-6393294207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" y="312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IE" altLang="en-US" i="1"/>
                <a:t>v</a:t>
              </a:r>
              <a:endParaRPr lang="en-GB" altLang="en-US" i="1"/>
            </a:p>
          </p:txBody>
        </p:sp>
        <p:sp>
          <p:nvSpPr>
            <p:cNvPr id="20499" name="Line 24">
              <a:extLst>
                <a:ext uri="{FF2B5EF4-FFF2-40B4-BE49-F238E27FC236}">
                  <a16:creationId xmlns:a16="http://schemas.microsoft.com/office/drawing/2014/main" id="{F3B06999-64A9-7088-563B-484948DE1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3360"/>
              <a:ext cx="1618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4684660-29D5-DCA7-39D2-8F49FBFE888F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376738"/>
            <a:ext cx="4191000" cy="517525"/>
            <a:chOff x="952" y="3120"/>
            <a:chExt cx="1968" cy="288"/>
          </a:xfrm>
        </p:grpSpPr>
        <p:sp>
          <p:nvSpPr>
            <p:cNvPr id="20496" name="Text Box 10">
              <a:extLst>
                <a:ext uri="{FF2B5EF4-FFF2-40B4-BE49-F238E27FC236}">
                  <a16:creationId xmlns:a16="http://schemas.microsoft.com/office/drawing/2014/main" id="{F6A3BF6B-060D-31EF-2ED8-A361B6C02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12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IE" altLang="en-US" i="1"/>
                <a:t>u</a:t>
              </a:r>
              <a:endParaRPr lang="en-GB" altLang="en-US" i="1"/>
            </a:p>
          </p:txBody>
        </p:sp>
        <p:sp>
          <p:nvSpPr>
            <p:cNvPr id="20497" name="Line 26">
              <a:extLst>
                <a:ext uri="{FF2B5EF4-FFF2-40B4-BE49-F238E27FC236}">
                  <a16:creationId xmlns:a16="http://schemas.microsoft.com/office/drawing/2014/main" id="{27FB970D-810D-DEED-57CA-275EDC3BF3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" y="3360"/>
              <a:ext cx="1968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2">
            <a:extLst>
              <a:ext uri="{FF2B5EF4-FFF2-40B4-BE49-F238E27FC236}">
                <a16:creationId xmlns:a16="http://schemas.microsoft.com/office/drawing/2014/main" id="{28413268-5DE6-015A-2705-BC8081973CDA}"/>
              </a:ext>
            </a:extLst>
          </p:cNvPr>
          <p:cNvGrpSpPr>
            <a:grpSpLocks/>
          </p:cNvGrpSpPr>
          <p:nvPr/>
        </p:nvGrpSpPr>
        <p:grpSpPr bwMode="auto">
          <a:xfrm>
            <a:off x="4610100" y="4627563"/>
            <a:ext cx="1638300" cy="457200"/>
            <a:chOff x="2928" y="2544"/>
            <a:chExt cx="912" cy="288"/>
          </a:xfrm>
        </p:grpSpPr>
        <p:sp>
          <p:nvSpPr>
            <p:cNvPr id="20494" name="Line 27">
              <a:extLst>
                <a:ext uri="{FF2B5EF4-FFF2-40B4-BE49-F238E27FC236}">
                  <a16:creationId xmlns:a16="http://schemas.microsoft.com/office/drawing/2014/main" id="{DB94F284-D8FB-967D-405F-94040B7783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592"/>
              <a:ext cx="912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Text Box 28">
              <a:extLst>
                <a:ext uri="{FF2B5EF4-FFF2-40B4-BE49-F238E27FC236}">
                  <a16:creationId xmlns:a16="http://schemas.microsoft.com/office/drawing/2014/main" id="{C349DF3B-9B81-8E4D-F285-F8D491DF4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54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IE" altLang="en-US" i="1"/>
                <a:t>f</a:t>
              </a:r>
              <a:endParaRPr lang="en-GB" altLang="en-US" i="1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95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07D11CE-8A1C-F373-B70E-9DE13939F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915400" cy="2057400"/>
          </a:xfrm>
        </p:spPr>
        <p:txBody>
          <a:bodyPr/>
          <a:lstStyle/>
          <a:p>
            <a:pPr eaLnBrk="1" hangingPunct="1"/>
            <a:r>
              <a:rPr lang="en-GB" altLang="en-US" sz="3200">
                <a:solidFill>
                  <a:schemeClr val="tx1"/>
                </a:solidFill>
              </a:rPr>
              <a:t>Converging Lens - Case 2: </a:t>
            </a:r>
            <a:br>
              <a:rPr lang="en-IE" altLang="en-US" sz="3200">
                <a:solidFill>
                  <a:schemeClr val="tx1"/>
                </a:solidFill>
              </a:rPr>
            </a:br>
            <a:r>
              <a:rPr lang="en-GB" altLang="en-US" sz="3200" b="1">
                <a:solidFill>
                  <a:schemeClr val="tx1"/>
                </a:solidFill>
                <a:latin typeface="Verdana" panose="020B0604030504040204" pitchFamily="34" charset="0"/>
              </a:rPr>
              <a:t>Object Located </a:t>
            </a:r>
            <a:r>
              <a:rPr lang="en-GB" altLang="en-US" sz="3200" b="1" u="sng">
                <a:solidFill>
                  <a:schemeClr val="tx1"/>
                </a:solidFill>
                <a:latin typeface="Verdana" panose="020B0604030504040204" pitchFamily="34" charset="0"/>
              </a:rPr>
              <a:t>AT</a:t>
            </a:r>
            <a:r>
              <a:rPr lang="en-IE" altLang="en-US" sz="3200" b="1" u="sng">
                <a:solidFill>
                  <a:schemeClr val="tx1"/>
                </a:solidFill>
                <a:latin typeface="Verdana" panose="020B0604030504040204" pitchFamily="34" charset="0"/>
              </a:rPr>
              <a:t> 2f</a:t>
            </a:r>
            <a:r>
              <a:rPr lang="en-GB" altLang="en-US" sz="3200">
                <a:solidFill>
                  <a:schemeClr val="tx1"/>
                </a:solidFill>
              </a:rPr>
              <a:t>. </a:t>
            </a:r>
            <a:r>
              <a:rPr lang="en-GB" altLang="en-US" sz="3200" b="1" i="1">
                <a:solidFill>
                  <a:schemeClr val="tx1"/>
                </a:solidFill>
              </a:rPr>
              <a:t>u</a:t>
            </a:r>
            <a:r>
              <a:rPr lang="en-GB" altLang="en-US" sz="3200" b="1">
                <a:solidFill>
                  <a:schemeClr val="tx1"/>
                </a:solidFill>
              </a:rPr>
              <a:t> </a:t>
            </a:r>
            <a:r>
              <a:rPr lang="en-GB" altLang="en-US" sz="3200" b="1">
                <a:solidFill>
                  <a:schemeClr val="tx1"/>
                </a:solidFill>
                <a:sym typeface="Symbol" pitchFamily="2" charset="2"/>
              </a:rPr>
              <a:t>= 2</a:t>
            </a:r>
            <a:r>
              <a:rPr lang="en-GB" altLang="en-US" sz="3200" b="1" i="1">
                <a:solidFill>
                  <a:schemeClr val="tx1"/>
                </a:solidFill>
                <a:sym typeface="Symbol" pitchFamily="2" charset="2"/>
              </a:rPr>
              <a:t>f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E99C0F6F-2058-44B7-F1E4-F2876381295E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124200"/>
            <a:ext cx="7989888" cy="1247775"/>
            <a:chOff x="336" y="1968"/>
            <a:chExt cx="5033" cy="786"/>
          </a:xfrm>
        </p:grpSpPr>
        <p:grpSp>
          <p:nvGrpSpPr>
            <p:cNvPr id="21539" name="Group 4">
              <a:extLst>
                <a:ext uri="{FF2B5EF4-FFF2-40B4-BE49-F238E27FC236}">
                  <a16:creationId xmlns:a16="http://schemas.microsoft.com/office/drawing/2014/main" id="{C05525EF-6CD5-801D-4A93-AD9FCFD500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968"/>
              <a:ext cx="2256" cy="121"/>
              <a:chOff x="1920" y="240"/>
              <a:chExt cx="1152" cy="0"/>
            </a:xfrm>
          </p:grpSpPr>
          <p:sp>
            <p:nvSpPr>
              <p:cNvPr id="21541" name="Line 5">
                <a:extLst>
                  <a:ext uri="{FF2B5EF4-FFF2-40B4-BE49-F238E27FC236}">
                    <a16:creationId xmlns:a16="http://schemas.microsoft.com/office/drawing/2014/main" id="{4732CAF2-DDFF-7BF5-590E-D36CE0E35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40"/>
                <a:ext cx="11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2" name="Line 6">
                <a:extLst>
                  <a:ext uri="{FF2B5EF4-FFF2-40B4-BE49-F238E27FC236}">
                    <a16:creationId xmlns:a16="http://schemas.microsoft.com/office/drawing/2014/main" id="{7CFC588E-A39D-C545-E729-5AA3186049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4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540" name="Line 7">
              <a:extLst>
                <a:ext uri="{FF2B5EF4-FFF2-40B4-BE49-F238E27FC236}">
                  <a16:creationId xmlns:a16="http://schemas.microsoft.com/office/drawing/2014/main" id="{974E9E11-AE2C-BEE2-BFB5-02EE87A103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3021">
              <a:off x="2358" y="2710"/>
              <a:ext cx="3011" cy="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8">
            <a:extLst>
              <a:ext uri="{FF2B5EF4-FFF2-40B4-BE49-F238E27FC236}">
                <a16:creationId xmlns:a16="http://schemas.microsoft.com/office/drawing/2014/main" id="{DD5B3BBA-86F6-B05A-2974-D024FE26F167}"/>
              </a:ext>
            </a:extLst>
          </p:cNvPr>
          <p:cNvGrpSpPr>
            <a:grpSpLocks/>
          </p:cNvGrpSpPr>
          <p:nvPr/>
        </p:nvGrpSpPr>
        <p:grpSpPr bwMode="auto">
          <a:xfrm>
            <a:off x="185738" y="2667000"/>
            <a:ext cx="500062" cy="1447800"/>
            <a:chOff x="480" y="1680"/>
            <a:chExt cx="315" cy="912"/>
          </a:xfrm>
        </p:grpSpPr>
        <p:sp>
          <p:nvSpPr>
            <p:cNvPr id="21537" name="Line 9">
              <a:extLst>
                <a:ext uri="{FF2B5EF4-FFF2-40B4-BE49-F238E27FC236}">
                  <a16:creationId xmlns:a16="http://schemas.microsoft.com/office/drawing/2014/main" id="{0BCE9CE8-0C0B-4FA9-81A0-83510AFCB5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6" y="1955"/>
              <a:ext cx="0" cy="637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Text Box 10">
              <a:extLst>
                <a:ext uri="{FF2B5EF4-FFF2-40B4-BE49-F238E27FC236}">
                  <a16:creationId xmlns:a16="http://schemas.microsoft.com/office/drawing/2014/main" id="{A27849FE-00D3-A410-05ED-1FC34D20D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80"/>
              <a:ext cx="3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/>
                <a:t>O</a:t>
              </a:r>
            </a:p>
          </p:txBody>
        </p:sp>
      </p:grpSp>
      <p:grpSp>
        <p:nvGrpSpPr>
          <p:cNvPr id="5" name="Group 11">
            <a:extLst>
              <a:ext uri="{FF2B5EF4-FFF2-40B4-BE49-F238E27FC236}">
                <a16:creationId xmlns:a16="http://schemas.microsoft.com/office/drawing/2014/main" id="{A9399E6E-9838-042B-0940-DD28CEC45F7E}"/>
              </a:ext>
            </a:extLst>
          </p:cNvPr>
          <p:cNvGrpSpPr>
            <a:grpSpLocks/>
          </p:cNvGrpSpPr>
          <p:nvPr/>
        </p:nvGrpSpPr>
        <p:grpSpPr bwMode="auto">
          <a:xfrm>
            <a:off x="7200900" y="4114800"/>
            <a:ext cx="342900" cy="1571625"/>
            <a:chOff x="4944" y="2640"/>
            <a:chExt cx="194" cy="943"/>
          </a:xfrm>
        </p:grpSpPr>
        <p:sp>
          <p:nvSpPr>
            <p:cNvPr id="21535" name="Line 12">
              <a:extLst>
                <a:ext uri="{FF2B5EF4-FFF2-40B4-BE49-F238E27FC236}">
                  <a16:creationId xmlns:a16="http://schemas.microsoft.com/office/drawing/2014/main" id="{E72326FC-C80F-2C33-49BC-E32BC46A62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4" y="2640"/>
              <a:ext cx="0" cy="62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Text Box 13">
              <a:extLst>
                <a:ext uri="{FF2B5EF4-FFF2-40B4-BE49-F238E27FC236}">
                  <a16:creationId xmlns:a16="http://schemas.microsoft.com/office/drawing/2014/main" id="{06DDEEAA-2A9E-88F0-7A44-EA66C3DBF8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3235"/>
              <a:ext cx="194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>
                  <a:solidFill>
                    <a:srgbClr val="FF3300"/>
                  </a:solidFill>
                </a:rPr>
                <a:t>I</a:t>
              </a:r>
            </a:p>
          </p:txBody>
        </p:sp>
      </p:grpSp>
      <p:grpSp>
        <p:nvGrpSpPr>
          <p:cNvPr id="6" name="Group 14">
            <a:extLst>
              <a:ext uri="{FF2B5EF4-FFF2-40B4-BE49-F238E27FC236}">
                <a16:creationId xmlns:a16="http://schemas.microsoft.com/office/drawing/2014/main" id="{7E78C3EF-CD0C-CBE0-F5D8-5DD17798586C}"/>
              </a:ext>
            </a:extLst>
          </p:cNvPr>
          <p:cNvGrpSpPr>
            <a:grpSpLocks/>
          </p:cNvGrpSpPr>
          <p:nvPr/>
        </p:nvGrpSpPr>
        <p:grpSpPr bwMode="auto">
          <a:xfrm>
            <a:off x="365125" y="4038600"/>
            <a:ext cx="7483475" cy="685800"/>
            <a:chOff x="192" y="2544"/>
            <a:chExt cx="4714" cy="432"/>
          </a:xfrm>
        </p:grpSpPr>
        <p:sp>
          <p:nvSpPr>
            <p:cNvPr id="21527" name="Oval 15">
              <a:extLst>
                <a:ext uri="{FF2B5EF4-FFF2-40B4-BE49-F238E27FC236}">
                  <a16:creationId xmlns:a16="http://schemas.microsoft.com/office/drawing/2014/main" id="{EFF6ADF3-DF37-78D4-B00D-4AC22EB38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544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1528" name="Text Box 16">
              <a:extLst>
                <a:ext uri="{FF2B5EF4-FFF2-40B4-BE49-F238E27FC236}">
                  <a16:creationId xmlns:a16="http://schemas.microsoft.com/office/drawing/2014/main" id="{D6369401-0990-EC68-E6D0-02CAD386D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40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21529" name="Text Box 17">
              <a:extLst>
                <a:ext uri="{FF2B5EF4-FFF2-40B4-BE49-F238E27FC236}">
                  <a16:creationId xmlns:a16="http://schemas.microsoft.com/office/drawing/2014/main" id="{4B8C6521-0B38-906E-4F13-61BC7C841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688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21530" name="Oval 18">
              <a:extLst>
                <a:ext uri="{FF2B5EF4-FFF2-40B4-BE49-F238E27FC236}">
                  <a16:creationId xmlns:a16="http://schemas.microsoft.com/office/drawing/2014/main" id="{81E389CE-AB37-B0B3-01DF-FD756BC7B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1531" name="Text Box 19">
              <a:extLst>
                <a:ext uri="{FF2B5EF4-FFF2-40B4-BE49-F238E27FC236}">
                  <a16:creationId xmlns:a16="http://schemas.microsoft.com/office/drawing/2014/main" id="{6E7AD5DF-0703-6927-BB41-CB3122ABE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640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21532" name="Oval 20">
              <a:extLst>
                <a:ext uri="{FF2B5EF4-FFF2-40B4-BE49-F238E27FC236}">
                  <a16:creationId xmlns:a16="http://schemas.microsoft.com/office/drawing/2014/main" id="{A8333B1A-CE1F-4566-D4FF-EF1297339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1533" name="Text Box 21">
              <a:extLst>
                <a:ext uri="{FF2B5EF4-FFF2-40B4-BE49-F238E27FC236}">
                  <a16:creationId xmlns:a16="http://schemas.microsoft.com/office/drawing/2014/main" id="{65D36383-FCE0-CF05-71CF-FDB3A6862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640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21534" name="Oval 22">
              <a:extLst>
                <a:ext uri="{FF2B5EF4-FFF2-40B4-BE49-F238E27FC236}">
                  <a16:creationId xmlns:a16="http://schemas.microsoft.com/office/drawing/2014/main" id="{8438194A-9889-E540-8367-B8A682A87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4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</p:grpSp>
      <p:grpSp>
        <p:nvGrpSpPr>
          <p:cNvPr id="7" name="Group 23">
            <a:extLst>
              <a:ext uri="{FF2B5EF4-FFF2-40B4-BE49-F238E27FC236}">
                <a16:creationId xmlns:a16="http://schemas.microsoft.com/office/drawing/2014/main" id="{05B1004A-2ACC-E850-0C4F-5787CAEB9F60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124200"/>
            <a:ext cx="8001000" cy="2362200"/>
            <a:chOff x="720" y="1968"/>
            <a:chExt cx="4704" cy="1392"/>
          </a:xfrm>
        </p:grpSpPr>
        <p:sp>
          <p:nvSpPr>
            <p:cNvPr id="21525" name="Line 24">
              <a:extLst>
                <a:ext uri="{FF2B5EF4-FFF2-40B4-BE49-F238E27FC236}">
                  <a16:creationId xmlns:a16="http://schemas.microsoft.com/office/drawing/2014/main" id="{86DDC5C3-F98B-226E-62EF-95BE103032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968"/>
              <a:ext cx="4704" cy="1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Line 25">
              <a:extLst>
                <a:ext uri="{FF2B5EF4-FFF2-40B4-BE49-F238E27FC236}">
                  <a16:creationId xmlns:a16="http://schemas.microsoft.com/office/drawing/2014/main" id="{FED29264-450E-FCBD-15A5-44F1A24FC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256"/>
              <a:ext cx="384" cy="11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85018" name="Picture 26">
            <a:extLst>
              <a:ext uri="{FF2B5EF4-FFF2-40B4-BE49-F238E27FC236}">
                <a16:creationId xmlns:a16="http://schemas.microsoft.com/office/drawing/2014/main" id="{E2A124B5-2493-552E-FE6E-346B98D0E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/>
          <a:stretch>
            <a:fillRect/>
          </a:stretch>
        </p:blipFill>
        <p:spPr bwMode="auto">
          <a:xfrm>
            <a:off x="76200" y="2286000"/>
            <a:ext cx="87630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8" name="Object 12">
            <a:extLst>
              <a:ext uri="{FF2B5EF4-FFF2-40B4-BE49-F238E27FC236}">
                <a16:creationId xmlns:a16="http://schemas.microsoft.com/office/drawing/2014/main" id="{4F827E60-1AF4-7BF5-71B9-F5992AE6FE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2339975"/>
          <a:ext cx="19081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35600" imgH="9652000" progId="Equation.3">
                  <p:embed/>
                </p:oleObj>
              </mc:Choice>
              <mc:Fallback>
                <p:oleObj name="Equation" r:id="rId4" imgW="18135600" imgH="9652000" progId="Equation.3">
                  <p:embed/>
                  <p:pic>
                    <p:nvPicPr>
                      <p:cNvPr id="28" name="Object 12">
                        <a:extLst>
                          <a:ext uri="{FF2B5EF4-FFF2-40B4-BE49-F238E27FC236}">
                            <a16:creationId xmlns:a16="http://schemas.microsoft.com/office/drawing/2014/main" id="{4F827E60-1AF4-7BF5-71B9-F5992AE6FE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339975"/>
                        <a:ext cx="1908175" cy="10175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30">
            <a:extLst>
              <a:ext uri="{FF2B5EF4-FFF2-40B4-BE49-F238E27FC236}">
                <a16:creationId xmlns:a16="http://schemas.microsoft.com/office/drawing/2014/main" id="{6844BBA3-5A28-E9BB-9A81-EAD1F9CE3ADA}"/>
              </a:ext>
            </a:extLst>
          </p:cNvPr>
          <p:cNvGrpSpPr>
            <a:grpSpLocks/>
          </p:cNvGrpSpPr>
          <p:nvPr/>
        </p:nvGrpSpPr>
        <p:grpSpPr bwMode="auto">
          <a:xfrm>
            <a:off x="4046538" y="5275263"/>
            <a:ext cx="3440112" cy="601662"/>
            <a:chOff x="2894" y="3120"/>
            <a:chExt cx="1618" cy="288"/>
          </a:xfrm>
        </p:grpSpPr>
        <p:sp>
          <p:nvSpPr>
            <p:cNvPr id="21523" name="Text Box 9">
              <a:extLst>
                <a:ext uri="{FF2B5EF4-FFF2-40B4-BE49-F238E27FC236}">
                  <a16:creationId xmlns:a16="http://schemas.microsoft.com/office/drawing/2014/main" id="{11087C62-2C75-E3D8-2009-E7C24FA70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" y="312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IE" altLang="en-US" i="1"/>
                <a:t>v</a:t>
              </a:r>
              <a:endParaRPr lang="en-GB" altLang="en-US" i="1"/>
            </a:p>
          </p:txBody>
        </p:sp>
        <p:sp>
          <p:nvSpPr>
            <p:cNvPr id="21524" name="Line 24">
              <a:extLst>
                <a:ext uri="{FF2B5EF4-FFF2-40B4-BE49-F238E27FC236}">
                  <a16:creationId xmlns:a16="http://schemas.microsoft.com/office/drawing/2014/main" id="{F16E2F20-365A-7EB8-712C-269B2828F1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3360"/>
              <a:ext cx="1618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460933E-9285-1DF3-C97E-70F614E789AA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783138"/>
            <a:ext cx="3475037" cy="517525"/>
            <a:chOff x="988" y="3120"/>
            <a:chExt cx="1970" cy="288"/>
          </a:xfrm>
        </p:grpSpPr>
        <p:sp>
          <p:nvSpPr>
            <p:cNvPr id="21521" name="Text Box 10">
              <a:extLst>
                <a:ext uri="{FF2B5EF4-FFF2-40B4-BE49-F238E27FC236}">
                  <a16:creationId xmlns:a16="http://schemas.microsoft.com/office/drawing/2014/main" id="{2C22970A-2A8D-3D34-8733-E6E76CF239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12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IE" altLang="en-US" i="1"/>
                <a:t>u</a:t>
              </a:r>
              <a:endParaRPr lang="en-GB" altLang="en-US" i="1"/>
            </a:p>
          </p:txBody>
        </p:sp>
        <p:sp>
          <p:nvSpPr>
            <p:cNvPr id="21522" name="Line 26">
              <a:extLst>
                <a:ext uri="{FF2B5EF4-FFF2-40B4-BE49-F238E27FC236}">
                  <a16:creationId xmlns:a16="http://schemas.microsoft.com/office/drawing/2014/main" id="{493B9988-7FD6-5995-A290-EB15490A3E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" y="3360"/>
              <a:ext cx="1970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2">
            <a:extLst>
              <a:ext uri="{FF2B5EF4-FFF2-40B4-BE49-F238E27FC236}">
                <a16:creationId xmlns:a16="http://schemas.microsoft.com/office/drawing/2014/main" id="{A89F4A7D-CA97-B415-6211-7C1C484D8EBB}"/>
              </a:ext>
            </a:extLst>
          </p:cNvPr>
          <p:cNvGrpSpPr>
            <a:grpSpLocks/>
          </p:cNvGrpSpPr>
          <p:nvPr/>
        </p:nvGrpSpPr>
        <p:grpSpPr bwMode="auto">
          <a:xfrm>
            <a:off x="4086225" y="5143500"/>
            <a:ext cx="1751013" cy="457200"/>
            <a:chOff x="2865" y="2544"/>
            <a:chExt cx="975" cy="288"/>
          </a:xfrm>
        </p:grpSpPr>
        <p:sp>
          <p:nvSpPr>
            <p:cNvPr id="21519" name="Line 27">
              <a:extLst>
                <a:ext uri="{FF2B5EF4-FFF2-40B4-BE49-F238E27FC236}">
                  <a16:creationId xmlns:a16="http://schemas.microsoft.com/office/drawing/2014/main" id="{878315BF-E891-6E45-0C05-A3D04D835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5" y="2592"/>
              <a:ext cx="975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Text Box 28">
              <a:extLst>
                <a:ext uri="{FF2B5EF4-FFF2-40B4-BE49-F238E27FC236}">
                  <a16:creationId xmlns:a16="http://schemas.microsoft.com/office/drawing/2014/main" id="{61FC5548-1B3C-03A6-38E7-83D0D8700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54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IE" altLang="en-US" i="1"/>
                <a:t>f</a:t>
              </a:r>
              <a:endParaRPr lang="en-GB" altLang="en-US" i="1"/>
            </a:p>
          </p:txBody>
        </p:sp>
      </p:grpSp>
      <p:sp>
        <p:nvSpPr>
          <p:cNvPr id="38" name="Text Box 27">
            <a:extLst>
              <a:ext uri="{FF2B5EF4-FFF2-40B4-BE49-F238E27FC236}">
                <a16:creationId xmlns:a16="http://schemas.microsoft.com/office/drawing/2014/main" id="{ABB360C5-987B-3014-2B55-C7527C310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78563"/>
            <a:ext cx="9144000" cy="579437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IE" altLang="en-US" sz="3200" b="1">
                <a:solidFill>
                  <a:schemeClr val="bg1"/>
                </a:solidFill>
              </a:rPr>
              <a:t>The image is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</a:t>
            </a:r>
            <a:r>
              <a:rPr lang="en-IE" altLang="en-US" sz="3200" b="1">
                <a:solidFill>
                  <a:schemeClr val="bg1"/>
                </a:solidFill>
              </a:rPr>
              <a:t>Real,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</a:t>
            </a:r>
            <a:r>
              <a:rPr lang="en-IE" altLang="en-US" sz="3200" b="1">
                <a:solidFill>
                  <a:schemeClr val="bg1"/>
                </a:solidFill>
              </a:rPr>
              <a:t> Inverted,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</a:t>
            </a:r>
            <a:r>
              <a:rPr lang="en-IE" altLang="en-US" sz="3200" b="1">
                <a:solidFill>
                  <a:schemeClr val="bg1"/>
                </a:solidFill>
              </a:rPr>
              <a:t> Same size.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44EF097-32A7-75E4-5827-19601F0B90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0913" y="5229225"/>
          <a:ext cx="609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342900" imgH="184150" progId="Photoshop.Image.5">
                  <p:embed/>
                </p:oleObj>
              </mc:Choice>
              <mc:Fallback>
                <p:oleObj name="Image" r:id="rId6" imgW="342900" imgH="184150" progId="Photoshop.Image.5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44EF097-32A7-75E4-5827-19601F0B90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0913" y="5229225"/>
                        <a:ext cx="609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3" presetClass="entr" presetSubtype="3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 autoUpdateAnimBg="0"/>
      <p:bldP spid="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350526F-BF0C-3FE9-CE5B-6E784529E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915400" cy="2057400"/>
          </a:xfrm>
        </p:spPr>
        <p:txBody>
          <a:bodyPr/>
          <a:lstStyle/>
          <a:p>
            <a:pPr eaLnBrk="1" hangingPunct="1"/>
            <a:r>
              <a:rPr lang="en-GB" altLang="en-US" sz="3200">
                <a:solidFill>
                  <a:schemeClr val="tx1"/>
                </a:solidFill>
              </a:rPr>
              <a:t>Converging Lens - Case 2: </a:t>
            </a:r>
            <a:br>
              <a:rPr lang="en-IE" altLang="en-US" sz="3200">
                <a:solidFill>
                  <a:schemeClr val="tx1"/>
                </a:solidFill>
              </a:rPr>
            </a:br>
            <a:r>
              <a:rPr lang="en-GB" altLang="en-US" sz="3200" b="1">
                <a:solidFill>
                  <a:schemeClr val="tx1"/>
                </a:solidFill>
                <a:latin typeface="Verdana" panose="020B0604030504040204" pitchFamily="34" charset="0"/>
              </a:rPr>
              <a:t>Object Located </a:t>
            </a:r>
            <a:r>
              <a:rPr lang="en-GB" altLang="en-US" sz="3200" b="1" u="sng">
                <a:solidFill>
                  <a:schemeClr val="tx1"/>
                </a:solidFill>
                <a:latin typeface="Verdana" panose="020B0604030504040204" pitchFamily="34" charset="0"/>
              </a:rPr>
              <a:t>AT</a:t>
            </a:r>
            <a:r>
              <a:rPr lang="en-GB" altLang="en-US" sz="3200" b="1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IE" altLang="en-US" sz="3200" b="1">
                <a:solidFill>
                  <a:schemeClr val="tx1"/>
                </a:solidFill>
                <a:latin typeface="Verdana" panose="020B0604030504040204" pitchFamily="34" charset="0"/>
              </a:rPr>
              <a:t>2f </a:t>
            </a:r>
            <a:r>
              <a:rPr lang="en-GB" altLang="en-US" sz="3200">
                <a:solidFill>
                  <a:schemeClr val="tx1"/>
                </a:solidFill>
              </a:rPr>
              <a:t>i.e. </a:t>
            </a:r>
            <a:r>
              <a:rPr lang="en-GB" altLang="en-US" sz="3200" b="1" i="1">
                <a:solidFill>
                  <a:schemeClr val="tx1"/>
                </a:solidFill>
              </a:rPr>
              <a:t>u</a:t>
            </a:r>
            <a:r>
              <a:rPr lang="en-GB" altLang="en-US" sz="3200" b="1">
                <a:solidFill>
                  <a:schemeClr val="tx1"/>
                </a:solidFill>
              </a:rPr>
              <a:t> </a:t>
            </a:r>
            <a:r>
              <a:rPr lang="en-GB" altLang="en-US" sz="3200" b="1">
                <a:solidFill>
                  <a:schemeClr val="tx1"/>
                </a:solidFill>
                <a:sym typeface="Symbol" pitchFamily="2" charset="2"/>
              </a:rPr>
              <a:t>= 2</a:t>
            </a:r>
            <a:r>
              <a:rPr lang="en-GB" altLang="en-US" sz="3200" b="1" i="1">
                <a:solidFill>
                  <a:schemeClr val="tx1"/>
                </a:solidFill>
                <a:sym typeface="Symbol" pitchFamily="2" charset="2"/>
              </a:rPr>
              <a:t>f</a:t>
            </a:r>
          </a:p>
        </p:txBody>
      </p:sp>
      <p:grpSp>
        <p:nvGrpSpPr>
          <p:cNvPr id="22531" name="Group 3">
            <a:extLst>
              <a:ext uri="{FF2B5EF4-FFF2-40B4-BE49-F238E27FC236}">
                <a16:creationId xmlns:a16="http://schemas.microsoft.com/office/drawing/2014/main" id="{E87E6656-7499-D5B1-7E1B-A2011ACC17E0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124200"/>
            <a:ext cx="7989888" cy="1247775"/>
            <a:chOff x="336" y="1968"/>
            <a:chExt cx="5033" cy="786"/>
          </a:xfrm>
        </p:grpSpPr>
        <p:grpSp>
          <p:nvGrpSpPr>
            <p:cNvPr id="22552" name="Group 4">
              <a:extLst>
                <a:ext uri="{FF2B5EF4-FFF2-40B4-BE49-F238E27FC236}">
                  <a16:creationId xmlns:a16="http://schemas.microsoft.com/office/drawing/2014/main" id="{66F0AFF2-8CD2-7CB4-08B7-5D867D8C55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968"/>
              <a:ext cx="2256" cy="121"/>
              <a:chOff x="1920" y="240"/>
              <a:chExt cx="1152" cy="0"/>
            </a:xfrm>
          </p:grpSpPr>
          <p:sp>
            <p:nvSpPr>
              <p:cNvPr id="22554" name="Line 5">
                <a:extLst>
                  <a:ext uri="{FF2B5EF4-FFF2-40B4-BE49-F238E27FC236}">
                    <a16:creationId xmlns:a16="http://schemas.microsoft.com/office/drawing/2014/main" id="{93900466-4E66-09AB-5E06-223262D28F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40"/>
                <a:ext cx="11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55" name="Line 6">
                <a:extLst>
                  <a:ext uri="{FF2B5EF4-FFF2-40B4-BE49-F238E27FC236}">
                    <a16:creationId xmlns:a16="http://schemas.microsoft.com/office/drawing/2014/main" id="{6F974C76-3CEE-03F0-DC55-609701FD6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4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553" name="Line 7">
              <a:extLst>
                <a:ext uri="{FF2B5EF4-FFF2-40B4-BE49-F238E27FC236}">
                  <a16:creationId xmlns:a16="http://schemas.microsoft.com/office/drawing/2014/main" id="{B7723858-4DE9-30E7-C0DD-718BF0275B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3021">
              <a:off x="2358" y="2710"/>
              <a:ext cx="3011" cy="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2" name="Group 8">
            <a:extLst>
              <a:ext uri="{FF2B5EF4-FFF2-40B4-BE49-F238E27FC236}">
                <a16:creationId xmlns:a16="http://schemas.microsoft.com/office/drawing/2014/main" id="{35937408-DFC4-C4F5-46E5-8E029CE2E664}"/>
              </a:ext>
            </a:extLst>
          </p:cNvPr>
          <p:cNvGrpSpPr>
            <a:grpSpLocks/>
          </p:cNvGrpSpPr>
          <p:nvPr/>
        </p:nvGrpSpPr>
        <p:grpSpPr bwMode="auto">
          <a:xfrm>
            <a:off x="185738" y="2667000"/>
            <a:ext cx="500062" cy="1447800"/>
            <a:chOff x="480" y="1680"/>
            <a:chExt cx="315" cy="912"/>
          </a:xfrm>
        </p:grpSpPr>
        <p:sp>
          <p:nvSpPr>
            <p:cNvPr id="22550" name="Line 9">
              <a:extLst>
                <a:ext uri="{FF2B5EF4-FFF2-40B4-BE49-F238E27FC236}">
                  <a16:creationId xmlns:a16="http://schemas.microsoft.com/office/drawing/2014/main" id="{96FBE868-4676-4A29-CAAB-2B094924C6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6" y="1955"/>
              <a:ext cx="0" cy="637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Text Box 10">
              <a:extLst>
                <a:ext uri="{FF2B5EF4-FFF2-40B4-BE49-F238E27FC236}">
                  <a16:creationId xmlns:a16="http://schemas.microsoft.com/office/drawing/2014/main" id="{9CA3E586-447C-3DC8-93AD-B0F3B83B4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680"/>
              <a:ext cx="3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/>
                <a:t>O</a:t>
              </a:r>
            </a:p>
          </p:txBody>
        </p:sp>
      </p:grpSp>
      <p:grpSp>
        <p:nvGrpSpPr>
          <p:cNvPr id="22533" name="Group 11">
            <a:extLst>
              <a:ext uri="{FF2B5EF4-FFF2-40B4-BE49-F238E27FC236}">
                <a16:creationId xmlns:a16="http://schemas.microsoft.com/office/drawing/2014/main" id="{F3BDC185-15A7-C8E5-1598-BB867C4DF511}"/>
              </a:ext>
            </a:extLst>
          </p:cNvPr>
          <p:cNvGrpSpPr>
            <a:grpSpLocks/>
          </p:cNvGrpSpPr>
          <p:nvPr/>
        </p:nvGrpSpPr>
        <p:grpSpPr bwMode="auto">
          <a:xfrm>
            <a:off x="7200900" y="4114800"/>
            <a:ext cx="342900" cy="1571625"/>
            <a:chOff x="4944" y="2640"/>
            <a:chExt cx="194" cy="943"/>
          </a:xfrm>
        </p:grpSpPr>
        <p:sp>
          <p:nvSpPr>
            <p:cNvPr id="22548" name="Line 12">
              <a:extLst>
                <a:ext uri="{FF2B5EF4-FFF2-40B4-BE49-F238E27FC236}">
                  <a16:creationId xmlns:a16="http://schemas.microsoft.com/office/drawing/2014/main" id="{4EF215DD-EBEC-1E6B-3AE9-7EB986C35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4" y="2640"/>
              <a:ext cx="0" cy="62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Text Box 13">
              <a:extLst>
                <a:ext uri="{FF2B5EF4-FFF2-40B4-BE49-F238E27FC236}">
                  <a16:creationId xmlns:a16="http://schemas.microsoft.com/office/drawing/2014/main" id="{2954F82F-7743-4311-C447-94E4BAE874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3235"/>
              <a:ext cx="194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>
                  <a:solidFill>
                    <a:srgbClr val="FF3300"/>
                  </a:solidFill>
                </a:rPr>
                <a:t>I</a:t>
              </a:r>
            </a:p>
          </p:txBody>
        </p:sp>
      </p:grpSp>
      <p:grpSp>
        <p:nvGrpSpPr>
          <p:cNvPr id="22534" name="Group 14">
            <a:extLst>
              <a:ext uri="{FF2B5EF4-FFF2-40B4-BE49-F238E27FC236}">
                <a16:creationId xmlns:a16="http://schemas.microsoft.com/office/drawing/2014/main" id="{FAAC693A-D29A-C0E8-8A44-5D5929A575F6}"/>
              </a:ext>
            </a:extLst>
          </p:cNvPr>
          <p:cNvGrpSpPr>
            <a:grpSpLocks/>
          </p:cNvGrpSpPr>
          <p:nvPr/>
        </p:nvGrpSpPr>
        <p:grpSpPr bwMode="auto">
          <a:xfrm>
            <a:off x="365125" y="4038600"/>
            <a:ext cx="7483475" cy="685800"/>
            <a:chOff x="192" y="2544"/>
            <a:chExt cx="4714" cy="432"/>
          </a:xfrm>
        </p:grpSpPr>
        <p:sp>
          <p:nvSpPr>
            <p:cNvPr id="22540" name="Oval 15">
              <a:extLst>
                <a:ext uri="{FF2B5EF4-FFF2-40B4-BE49-F238E27FC236}">
                  <a16:creationId xmlns:a16="http://schemas.microsoft.com/office/drawing/2014/main" id="{EF25DD54-4CCC-4DCC-3E8B-B095703C1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544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2541" name="Text Box 16">
              <a:extLst>
                <a:ext uri="{FF2B5EF4-FFF2-40B4-BE49-F238E27FC236}">
                  <a16:creationId xmlns:a16="http://schemas.microsoft.com/office/drawing/2014/main" id="{151C24CE-8E59-DA43-05D6-765457D3A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40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22542" name="Text Box 17">
              <a:extLst>
                <a:ext uri="{FF2B5EF4-FFF2-40B4-BE49-F238E27FC236}">
                  <a16:creationId xmlns:a16="http://schemas.microsoft.com/office/drawing/2014/main" id="{5846B62E-608A-2FCA-1B73-D08132E9C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688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22543" name="Oval 18">
              <a:extLst>
                <a:ext uri="{FF2B5EF4-FFF2-40B4-BE49-F238E27FC236}">
                  <a16:creationId xmlns:a16="http://schemas.microsoft.com/office/drawing/2014/main" id="{9BFC2394-00D6-1950-406C-D50EC3CE7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2544" name="Text Box 19">
              <a:extLst>
                <a:ext uri="{FF2B5EF4-FFF2-40B4-BE49-F238E27FC236}">
                  <a16:creationId xmlns:a16="http://schemas.microsoft.com/office/drawing/2014/main" id="{548C86D3-F2E6-814A-D672-67BC035FF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640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22545" name="Oval 20">
              <a:extLst>
                <a:ext uri="{FF2B5EF4-FFF2-40B4-BE49-F238E27FC236}">
                  <a16:creationId xmlns:a16="http://schemas.microsoft.com/office/drawing/2014/main" id="{F15DB29F-188E-0E58-76A1-2710C507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2546" name="Text Box 21">
              <a:extLst>
                <a:ext uri="{FF2B5EF4-FFF2-40B4-BE49-F238E27FC236}">
                  <a16:creationId xmlns:a16="http://schemas.microsoft.com/office/drawing/2014/main" id="{A7DD3883-8554-C288-11CE-FA5CB66FB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640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22547" name="Oval 22">
              <a:extLst>
                <a:ext uri="{FF2B5EF4-FFF2-40B4-BE49-F238E27FC236}">
                  <a16:creationId xmlns:a16="http://schemas.microsoft.com/office/drawing/2014/main" id="{134A864A-4189-95B8-0072-62960C45D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4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</p:grpSp>
      <p:grpSp>
        <p:nvGrpSpPr>
          <p:cNvPr id="22535" name="Group 23">
            <a:extLst>
              <a:ext uri="{FF2B5EF4-FFF2-40B4-BE49-F238E27FC236}">
                <a16:creationId xmlns:a16="http://schemas.microsoft.com/office/drawing/2014/main" id="{D9E98832-A83F-378E-7C13-090163B306B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124200"/>
            <a:ext cx="8001000" cy="2362200"/>
            <a:chOff x="720" y="1968"/>
            <a:chExt cx="4704" cy="1392"/>
          </a:xfrm>
        </p:grpSpPr>
        <p:sp>
          <p:nvSpPr>
            <p:cNvPr id="22538" name="Line 24">
              <a:extLst>
                <a:ext uri="{FF2B5EF4-FFF2-40B4-BE49-F238E27FC236}">
                  <a16:creationId xmlns:a16="http://schemas.microsoft.com/office/drawing/2014/main" id="{2967CCA2-D0AC-36E0-D524-2EFAC5A9E6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968"/>
              <a:ext cx="4704" cy="1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9" name="Line 25">
              <a:extLst>
                <a:ext uri="{FF2B5EF4-FFF2-40B4-BE49-F238E27FC236}">
                  <a16:creationId xmlns:a16="http://schemas.microsoft.com/office/drawing/2014/main" id="{83D070D9-74BB-1E62-4DD5-12525EC78B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256"/>
              <a:ext cx="384" cy="11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2536" name="Picture 26">
            <a:extLst>
              <a:ext uri="{FF2B5EF4-FFF2-40B4-BE49-F238E27FC236}">
                <a16:creationId xmlns:a16="http://schemas.microsoft.com/office/drawing/2014/main" id="{3505F744-6771-0137-1B9E-0C29D2E88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/>
          <a:stretch>
            <a:fillRect/>
          </a:stretch>
        </p:blipFill>
        <p:spPr bwMode="auto">
          <a:xfrm>
            <a:off x="76200" y="2286000"/>
            <a:ext cx="87630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7" name="Text Box 27">
            <a:extLst>
              <a:ext uri="{FF2B5EF4-FFF2-40B4-BE49-F238E27FC236}">
                <a16:creationId xmlns:a16="http://schemas.microsoft.com/office/drawing/2014/main" id="{00608AFB-327D-5D5B-C3FA-7B06E392C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78563"/>
            <a:ext cx="9144000" cy="579437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IE" altLang="en-US" sz="3200" b="1">
                <a:solidFill>
                  <a:schemeClr val="bg1"/>
                </a:solidFill>
              </a:rPr>
              <a:t>The image is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</a:t>
            </a:r>
            <a:r>
              <a:rPr lang="en-IE" altLang="en-US" sz="3200" b="1">
                <a:solidFill>
                  <a:schemeClr val="bg1"/>
                </a:solidFill>
              </a:rPr>
              <a:t>Real,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</a:t>
            </a:r>
            <a:r>
              <a:rPr lang="en-IE" altLang="en-US" sz="3200" b="1">
                <a:solidFill>
                  <a:schemeClr val="bg1"/>
                </a:solidFill>
              </a:rPr>
              <a:t> Inverted,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</a:t>
            </a:r>
            <a:r>
              <a:rPr lang="en-IE" altLang="en-US" sz="3200" b="1">
                <a:solidFill>
                  <a:schemeClr val="bg1"/>
                </a:solidFill>
              </a:rPr>
              <a:t> Same size.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57D1969-A7EF-E9FF-CDE4-1236435C0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3200">
                <a:solidFill>
                  <a:schemeClr val="tx1"/>
                </a:solidFill>
              </a:rPr>
              <a:t>Converging Lens – Case 2:</a:t>
            </a:r>
            <a:br>
              <a:rPr lang="en-GB" altLang="en-US" sz="3200">
                <a:solidFill>
                  <a:schemeClr val="tx1"/>
                </a:solidFill>
              </a:rPr>
            </a:br>
            <a:r>
              <a:rPr lang="en-GB" altLang="en-US" sz="3200">
                <a:solidFill>
                  <a:schemeClr val="tx1"/>
                </a:solidFill>
              </a:rPr>
              <a:t>Object on 2f</a:t>
            </a:r>
            <a:r>
              <a:rPr lang="en-IE" altLang="en-US" sz="3200">
                <a:solidFill>
                  <a:schemeClr val="tx1"/>
                </a:solidFill>
              </a:rPr>
              <a:t>  </a:t>
            </a:r>
            <a:r>
              <a:rPr lang="en-GB" altLang="en-US">
                <a:solidFill>
                  <a:schemeClr val="tx1"/>
                </a:solidFill>
              </a:rPr>
              <a:t>i.e. </a:t>
            </a:r>
            <a:r>
              <a:rPr lang="en-GB" altLang="en-US" i="1">
                <a:solidFill>
                  <a:schemeClr val="tx1"/>
                </a:solidFill>
              </a:rPr>
              <a:t>u</a:t>
            </a:r>
            <a:r>
              <a:rPr lang="en-GB" altLang="en-US">
                <a:solidFill>
                  <a:schemeClr val="tx1"/>
                </a:solidFill>
              </a:rPr>
              <a:t> </a:t>
            </a:r>
            <a:r>
              <a:rPr lang="en-IE" altLang="en-US">
                <a:solidFill>
                  <a:schemeClr val="tx1"/>
                </a:solidFill>
                <a:sym typeface="Symbol" pitchFamily="2" charset="2"/>
              </a:rPr>
              <a:t>=</a:t>
            </a:r>
            <a:r>
              <a:rPr lang="en-GB" altLang="en-US">
                <a:solidFill>
                  <a:schemeClr val="tx1"/>
                </a:solidFill>
                <a:sym typeface="Symbol" pitchFamily="2" charset="2"/>
              </a:rPr>
              <a:t> 2</a:t>
            </a:r>
            <a:r>
              <a:rPr lang="en-GB" altLang="en-US" i="1">
                <a:solidFill>
                  <a:schemeClr val="tx1"/>
                </a:solidFill>
                <a:sym typeface="Symbol" pitchFamily="2" charset="2"/>
              </a:rPr>
              <a:t>f</a:t>
            </a:r>
            <a:endParaRPr lang="en-IE" altLang="en-US" i="1">
              <a:solidFill>
                <a:schemeClr val="tx1"/>
              </a:solidFill>
              <a:sym typeface="Symbol" pitchFamily="2" charset="2"/>
            </a:endParaRP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7E34107E-B1D0-6420-957D-D8B218AF9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5373688"/>
            <a:ext cx="72739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IE" altLang="en-US" sz="3600" b="1" dirty="0"/>
              <a:t>The image is real, inverted and it  is</a:t>
            </a:r>
          </a:p>
          <a:p>
            <a:pPr eaLnBrk="1" hangingPunct="1"/>
            <a:r>
              <a:rPr lang="en-IE" altLang="en-US" sz="3600" b="1" dirty="0"/>
              <a:t> the same size as the object.</a:t>
            </a:r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4D424174-C4B2-6197-94DC-4D81AD573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" t="2000"/>
          <a:stretch>
            <a:fillRect/>
          </a:stretch>
        </p:blipFill>
        <p:spPr bwMode="auto">
          <a:xfrm>
            <a:off x="457200" y="2133600"/>
            <a:ext cx="8305800" cy="297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F532EA45-FD63-A101-D101-A5ABA67C9B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915400" cy="2057400"/>
          </a:xfrm>
        </p:spPr>
        <p:txBody>
          <a:bodyPr/>
          <a:lstStyle/>
          <a:p>
            <a:pPr eaLnBrk="1" hangingPunct="1"/>
            <a:r>
              <a:rPr lang="en-GB" altLang="en-US" sz="2800">
                <a:solidFill>
                  <a:schemeClr val="tx1"/>
                </a:solidFill>
              </a:rPr>
              <a:t>Converging Lens - Case 3: </a:t>
            </a:r>
            <a:br>
              <a:rPr lang="en-IE" altLang="en-US" sz="2800">
                <a:solidFill>
                  <a:schemeClr val="tx1"/>
                </a:solidFill>
              </a:rPr>
            </a:br>
            <a:r>
              <a:rPr lang="en-GB" altLang="en-US" sz="2800" b="1">
                <a:solidFill>
                  <a:schemeClr val="tx1"/>
                </a:solidFill>
                <a:latin typeface="Verdana" panose="020B0604030504040204" pitchFamily="34" charset="0"/>
              </a:rPr>
              <a:t>Object Located between </a:t>
            </a:r>
            <a:r>
              <a:rPr lang="en-IE" altLang="en-US" sz="2800" b="1">
                <a:solidFill>
                  <a:schemeClr val="tx1"/>
                </a:solidFill>
                <a:latin typeface="Verdana" panose="020B0604030504040204" pitchFamily="34" charset="0"/>
              </a:rPr>
              <a:t>2f </a:t>
            </a:r>
            <a:r>
              <a:rPr lang="en-GB" altLang="en-US" sz="2800" b="1">
                <a:solidFill>
                  <a:schemeClr val="tx1"/>
                </a:solidFill>
                <a:latin typeface="Verdana" panose="020B0604030504040204" pitchFamily="34" charset="0"/>
              </a:rPr>
              <a:t>and the Focal Point </a:t>
            </a:r>
            <a:r>
              <a:rPr lang="en-GB" altLang="en-US" sz="2800">
                <a:solidFill>
                  <a:schemeClr val="tx1"/>
                </a:solidFill>
              </a:rPr>
              <a:t>i.e. </a:t>
            </a:r>
            <a:r>
              <a:rPr lang="en-GB" altLang="en-US" sz="2800" b="1" i="1">
                <a:solidFill>
                  <a:schemeClr val="tx1"/>
                </a:solidFill>
                <a:sym typeface="Symbol" pitchFamily="2" charset="2"/>
              </a:rPr>
              <a:t>f</a:t>
            </a:r>
            <a:r>
              <a:rPr lang="en-GB" altLang="en-US" sz="2800" b="1">
                <a:solidFill>
                  <a:schemeClr val="tx1"/>
                </a:solidFill>
              </a:rPr>
              <a:t> </a:t>
            </a:r>
            <a:r>
              <a:rPr lang="en-GB" altLang="en-US" sz="2800" b="1">
                <a:solidFill>
                  <a:schemeClr val="tx1"/>
                </a:solidFill>
                <a:sym typeface="Symbol" pitchFamily="2" charset="2"/>
              </a:rPr>
              <a:t> </a:t>
            </a:r>
            <a:r>
              <a:rPr lang="en-GB" altLang="en-US" sz="2800" b="1" i="1">
                <a:solidFill>
                  <a:schemeClr val="tx1"/>
                </a:solidFill>
              </a:rPr>
              <a:t>u</a:t>
            </a:r>
            <a:r>
              <a:rPr lang="en-GB" altLang="en-US" sz="2800" b="1">
                <a:solidFill>
                  <a:schemeClr val="tx1"/>
                </a:solidFill>
              </a:rPr>
              <a:t> </a:t>
            </a:r>
            <a:r>
              <a:rPr lang="en-GB" altLang="en-US" sz="2800" b="1">
                <a:solidFill>
                  <a:schemeClr val="tx1"/>
                </a:solidFill>
                <a:sym typeface="Symbol" pitchFamily="2" charset="2"/>
              </a:rPr>
              <a:t> 2 </a:t>
            </a:r>
            <a:r>
              <a:rPr lang="en-GB" altLang="en-US" sz="2800" b="1" i="1">
                <a:solidFill>
                  <a:schemeClr val="tx1"/>
                </a:solidFill>
                <a:sym typeface="Symbol" pitchFamily="2" charset="2"/>
              </a:rPr>
              <a:t>f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29767CF9-8CAC-84B1-D57D-9C01AEACA62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124200"/>
            <a:ext cx="8394700" cy="1581150"/>
            <a:chOff x="672" y="1968"/>
            <a:chExt cx="5288" cy="996"/>
          </a:xfrm>
        </p:grpSpPr>
        <p:grpSp>
          <p:nvGrpSpPr>
            <p:cNvPr id="24602" name="Group 4">
              <a:extLst>
                <a:ext uri="{FF2B5EF4-FFF2-40B4-BE49-F238E27FC236}">
                  <a16:creationId xmlns:a16="http://schemas.microsoft.com/office/drawing/2014/main" id="{0B8BA472-507F-1236-DB56-6892A60956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968"/>
              <a:ext cx="1680" cy="0"/>
              <a:chOff x="672" y="1968"/>
              <a:chExt cx="1680" cy="0"/>
            </a:xfrm>
          </p:grpSpPr>
          <p:sp>
            <p:nvSpPr>
              <p:cNvPr id="24604" name="Line 5">
                <a:extLst>
                  <a:ext uri="{FF2B5EF4-FFF2-40B4-BE49-F238E27FC236}">
                    <a16:creationId xmlns:a16="http://schemas.microsoft.com/office/drawing/2014/main" id="{483B0E88-8EC6-8903-C871-AC38167A4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1968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5" name="Line 6">
                <a:extLst>
                  <a:ext uri="{FF2B5EF4-FFF2-40B4-BE49-F238E27FC236}">
                    <a16:creationId xmlns:a16="http://schemas.microsoft.com/office/drawing/2014/main" id="{61042EA7-33CB-D353-9512-397FE28A44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1968"/>
                <a:ext cx="10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603" name="Line 7">
              <a:extLst>
                <a:ext uri="{FF2B5EF4-FFF2-40B4-BE49-F238E27FC236}">
                  <a16:creationId xmlns:a16="http://schemas.microsoft.com/office/drawing/2014/main" id="{BBD6C7F1-6F87-4D13-E162-FA74A614CD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3021">
              <a:off x="2072" y="2922"/>
              <a:ext cx="3888" cy="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8">
            <a:extLst>
              <a:ext uri="{FF2B5EF4-FFF2-40B4-BE49-F238E27FC236}">
                <a16:creationId xmlns:a16="http://schemas.microsoft.com/office/drawing/2014/main" id="{A6ABAD66-70BC-D2FA-A226-19AA91A31275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667000"/>
            <a:ext cx="500063" cy="1447800"/>
            <a:chOff x="432" y="1267"/>
            <a:chExt cx="369" cy="893"/>
          </a:xfrm>
        </p:grpSpPr>
        <p:sp>
          <p:nvSpPr>
            <p:cNvPr id="24600" name="Line 9">
              <a:extLst>
                <a:ext uri="{FF2B5EF4-FFF2-40B4-BE49-F238E27FC236}">
                  <a16:creationId xmlns:a16="http://schemas.microsoft.com/office/drawing/2014/main" id="{EAAB9E06-61BB-27E4-4D93-5A3A921256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1536"/>
              <a:ext cx="0" cy="624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1" name="Text Box 10">
              <a:extLst>
                <a:ext uri="{FF2B5EF4-FFF2-40B4-BE49-F238E27FC236}">
                  <a16:creationId xmlns:a16="http://schemas.microsoft.com/office/drawing/2014/main" id="{E84C646C-F7F2-0472-E07D-32645D3D4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267"/>
              <a:ext cx="369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/>
                <a:t>O</a:t>
              </a:r>
            </a:p>
          </p:txBody>
        </p:sp>
      </p:grpSp>
      <p:grpSp>
        <p:nvGrpSpPr>
          <p:cNvPr id="5" name="Group 11">
            <a:extLst>
              <a:ext uri="{FF2B5EF4-FFF2-40B4-BE49-F238E27FC236}">
                <a16:creationId xmlns:a16="http://schemas.microsoft.com/office/drawing/2014/main" id="{325BC9B9-D012-1A76-DB21-D218E75D063D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4114800"/>
            <a:ext cx="361950" cy="2346325"/>
            <a:chOff x="5184" y="2592"/>
            <a:chExt cx="305" cy="1558"/>
          </a:xfrm>
        </p:grpSpPr>
        <p:sp>
          <p:nvSpPr>
            <p:cNvPr id="24598" name="Line 12">
              <a:extLst>
                <a:ext uri="{FF2B5EF4-FFF2-40B4-BE49-F238E27FC236}">
                  <a16:creationId xmlns:a16="http://schemas.microsoft.com/office/drawing/2014/main" id="{DE682B5F-407C-EB46-0A05-0090E1283E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592"/>
              <a:ext cx="0" cy="115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9" name="Text Box 13">
              <a:extLst>
                <a:ext uri="{FF2B5EF4-FFF2-40B4-BE49-F238E27FC236}">
                  <a16:creationId xmlns:a16="http://schemas.microsoft.com/office/drawing/2014/main" id="{2F2FA480-A455-D067-6E4B-DC9826D50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3724"/>
              <a:ext cx="305" cy="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600" b="1">
                  <a:solidFill>
                    <a:srgbClr val="FF3300"/>
                  </a:solidFill>
                </a:rPr>
                <a:t>I</a:t>
              </a:r>
            </a:p>
          </p:txBody>
        </p:sp>
      </p:grpSp>
      <p:grpSp>
        <p:nvGrpSpPr>
          <p:cNvPr id="6" name="Group 14">
            <a:extLst>
              <a:ext uri="{FF2B5EF4-FFF2-40B4-BE49-F238E27FC236}">
                <a16:creationId xmlns:a16="http://schemas.microsoft.com/office/drawing/2014/main" id="{F2785BA9-2146-1590-9C26-A8B9632C699D}"/>
              </a:ext>
            </a:extLst>
          </p:cNvPr>
          <p:cNvGrpSpPr>
            <a:grpSpLocks/>
          </p:cNvGrpSpPr>
          <p:nvPr/>
        </p:nvGrpSpPr>
        <p:grpSpPr bwMode="auto">
          <a:xfrm>
            <a:off x="-15875" y="4038600"/>
            <a:ext cx="7483475" cy="685800"/>
            <a:chOff x="528" y="2400"/>
            <a:chExt cx="4714" cy="432"/>
          </a:xfrm>
        </p:grpSpPr>
        <p:sp>
          <p:nvSpPr>
            <p:cNvPr id="24590" name="Oval 15">
              <a:extLst>
                <a:ext uri="{FF2B5EF4-FFF2-40B4-BE49-F238E27FC236}">
                  <a16:creationId xmlns:a16="http://schemas.microsoft.com/office/drawing/2014/main" id="{909CAFB3-FD7C-571D-9104-7BAAAAE96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4591" name="Text Box 16">
              <a:extLst>
                <a:ext uri="{FF2B5EF4-FFF2-40B4-BE49-F238E27FC236}">
                  <a16:creationId xmlns:a16="http://schemas.microsoft.com/office/drawing/2014/main" id="{FCE41927-BF94-FC6F-1963-90E8574A5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24592" name="Text Box 17">
              <a:extLst>
                <a:ext uri="{FF2B5EF4-FFF2-40B4-BE49-F238E27FC236}">
                  <a16:creationId xmlns:a16="http://schemas.microsoft.com/office/drawing/2014/main" id="{96A38790-5162-BC68-5005-A4A83F79DF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544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24593" name="Oval 18">
              <a:extLst>
                <a:ext uri="{FF2B5EF4-FFF2-40B4-BE49-F238E27FC236}">
                  <a16:creationId xmlns:a16="http://schemas.microsoft.com/office/drawing/2014/main" id="{67D7BCF2-8B18-73B7-7EBF-67AA40537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4594" name="Text Box 19">
              <a:extLst>
                <a:ext uri="{FF2B5EF4-FFF2-40B4-BE49-F238E27FC236}">
                  <a16:creationId xmlns:a16="http://schemas.microsoft.com/office/drawing/2014/main" id="{603762AE-CB61-1060-6B9E-304EEEB0A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24595" name="Oval 20">
              <a:extLst>
                <a:ext uri="{FF2B5EF4-FFF2-40B4-BE49-F238E27FC236}">
                  <a16:creationId xmlns:a16="http://schemas.microsoft.com/office/drawing/2014/main" id="{26FB9DB5-4076-1064-397C-CA0251542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4596" name="Text Box 21">
              <a:extLst>
                <a:ext uri="{FF2B5EF4-FFF2-40B4-BE49-F238E27FC236}">
                  <a16:creationId xmlns:a16="http://schemas.microsoft.com/office/drawing/2014/main" id="{C3A4E155-2B58-2BAD-CE58-3AA7479E0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24597" name="Oval 22">
              <a:extLst>
                <a:ext uri="{FF2B5EF4-FFF2-40B4-BE49-F238E27FC236}">
                  <a16:creationId xmlns:a16="http://schemas.microsoft.com/office/drawing/2014/main" id="{F3D73A1A-B79F-66B8-B6C3-715E36143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</p:grpSp>
      <p:grpSp>
        <p:nvGrpSpPr>
          <p:cNvPr id="7" name="Group 23">
            <a:extLst>
              <a:ext uri="{FF2B5EF4-FFF2-40B4-BE49-F238E27FC236}">
                <a16:creationId xmlns:a16="http://schemas.microsoft.com/office/drawing/2014/main" id="{F3BC022F-F29B-2FBA-B264-189D72540CAB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124200"/>
            <a:ext cx="8153400" cy="3048000"/>
            <a:chOff x="624" y="1968"/>
            <a:chExt cx="5136" cy="1920"/>
          </a:xfrm>
        </p:grpSpPr>
        <p:sp>
          <p:nvSpPr>
            <p:cNvPr id="24588" name="Line 24">
              <a:extLst>
                <a:ext uri="{FF2B5EF4-FFF2-40B4-BE49-F238E27FC236}">
                  <a16:creationId xmlns:a16="http://schemas.microsoft.com/office/drawing/2014/main" id="{198A7537-A2E4-1CD3-137A-449C8BD31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968"/>
              <a:ext cx="5136" cy="19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Line 25">
              <a:extLst>
                <a:ext uri="{FF2B5EF4-FFF2-40B4-BE49-F238E27FC236}">
                  <a16:creationId xmlns:a16="http://schemas.microsoft.com/office/drawing/2014/main" id="{74AE9E52-C3B3-ACB7-5F95-36E4618DE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064"/>
              <a:ext cx="72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26">
            <a:extLst>
              <a:ext uri="{FF2B5EF4-FFF2-40B4-BE49-F238E27FC236}">
                <a16:creationId xmlns:a16="http://schemas.microsoft.com/office/drawing/2014/main" id="{59C0ABFA-5248-1E3A-9217-0886BF202A3F}"/>
              </a:ext>
            </a:extLst>
          </p:cNvPr>
          <p:cNvGrpSpPr>
            <a:grpSpLocks/>
          </p:cNvGrpSpPr>
          <p:nvPr/>
        </p:nvGrpSpPr>
        <p:grpSpPr bwMode="auto">
          <a:xfrm>
            <a:off x="0" y="2251075"/>
            <a:ext cx="9144000" cy="3921125"/>
            <a:chOff x="0" y="1418"/>
            <a:chExt cx="5760" cy="2470"/>
          </a:xfrm>
        </p:grpSpPr>
        <p:pic>
          <p:nvPicPr>
            <p:cNvPr id="24586" name="Picture 27">
              <a:extLst>
                <a:ext uri="{FF2B5EF4-FFF2-40B4-BE49-F238E27FC236}">
                  <a16:creationId xmlns:a16="http://schemas.microsoft.com/office/drawing/2014/main" id="{9DE48634-15CF-ED8F-A7A6-BA33F22C49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66"/>
            <a:stretch>
              <a:fillRect/>
            </a:stretch>
          </p:blipFill>
          <p:spPr bwMode="auto">
            <a:xfrm>
              <a:off x="0" y="1418"/>
              <a:ext cx="5280" cy="2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87" name="Line 28">
              <a:extLst>
                <a:ext uri="{FF2B5EF4-FFF2-40B4-BE49-F238E27FC236}">
                  <a16:creationId xmlns:a16="http://schemas.microsoft.com/office/drawing/2014/main" id="{C66B098B-9FDE-1446-B336-31221B2FE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592"/>
              <a:ext cx="57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87069" name="Object 29">
            <a:extLst>
              <a:ext uri="{FF2B5EF4-FFF2-40B4-BE49-F238E27FC236}">
                <a16:creationId xmlns:a16="http://schemas.microsoft.com/office/drawing/2014/main" id="{B5472B04-9829-6074-7CE5-3CDD9A964F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6800" y="5562600"/>
          <a:ext cx="457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342900" imgH="184150" progId="Photoshop.Image.5">
                  <p:embed/>
                </p:oleObj>
              </mc:Choice>
              <mc:Fallback>
                <p:oleObj name="Image" r:id="rId4" imgW="342900" imgH="184150" progId="Photoshop.Image.5">
                  <p:embed/>
                  <p:pic>
                    <p:nvPicPr>
                      <p:cNvPr id="87069" name="Object 29">
                        <a:extLst>
                          <a:ext uri="{FF2B5EF4-FFF2-40B4-BE49-F238E27FC236}">
                            <a16:creationId xmlns:a16="http://schemas.microsoft.com/office/drawing/2014/main" id="{B5472B04-9829-6074-7CE5-3CDD9A964F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5562600"/>
                        <a:ext cx="4572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7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7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0C63A9E-3619-633D-098A-9839F0E49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915400" cy="2057400"/>
          </a:xfrm>
        </p:spPr>
        <p:txBody>
          <a:bodyPr/>
          <a:lstStyle/>
          <a:p>
            <a:pPr eaLnBrk="1" hangingPunct="1"/>
            <a:r>
              <a:rPr lang="en-GB" altLang="en-US" sz="2800">
                <a:solidFill>
                  <a:schemeClr val="tx1"/>
                </a:solidFill>
              </a:rPr>
              <a:t>Converging Lens - Case 3: </a:t>
            </a:r>
            <a:br>
              <a:rPr lang="en-IE" altLang="en-US" sz="2800">
                <a:solidFill>
                  <a:schemeClr val="tx1"/>
                </a:solidFill>
              </a:rPr>
            </a:br>
            <a:r>
              <a:rPr lang="en-GB" altLang="en-US" sz="2800" b="1">
                <a:solidFill>
                  <a:schemeClr val="tx1"/>
                </a:solidFill>
                <a:latin typeface="Verdana" panose="020B0604030504040204" pitchFamily="34" charset="0"/>
              </a:rPr>
              <a:t>Object Located between </a:t>
            </a:r>
            <a:r>
              <a:rPr lang="en-IE" altLang="en-US" sz="2800" b="1">
                <a:solidFill>
                  <a:schemeClr val="tx1"/>
                </a:solidFill>
                <a:latin typeface="Verdana" panose="020B0604030504040204" pitchFamily="34" charset="0"/>
              </a:rPr>
              <a:t>2f</a:t>
            </a:r>
            <a:r>
              <a:rPr lang="en-GB" altLang="en-US" sz="2800" b="1">
                <a:solidFill>
                  <a:schemeClr val="tx1"/>
                </a:solidFill>
                <a:latin typeface="Verdana" panose="020B0604030504040204" pitchFamily="34" charset="0"/>
              </a:rPr>
              <a:t> and the Focal Point </a:t>
            </a:r>
            <a:r>
              <a:rPr lang="en-GB" altLang="en-US" sz="2800">
                <a:solidFill>
                  <a:schemeClr val="tx1"/>
                </a:solidFill>
              </a:rPr>
              <a:t>i.e. </a:t>
            </a:r>
            <a:r>
              <a:rPr lang="en-GB" altLang="en-US" sz="2800" b="1" i="1">
                <a:solidFill>
                  <a:schemeClr val="tx1"/>
                </a:solidFill>
                <a:sym typeface="Symbol" pitchFamily="2" charset="2"/>
              </a:rPr>
              <a:t>f</a:t>
            </a:r>
            <a:r>
              <a:rPr lang="en-GB" altLang="en-US" sz="2800" b="1">
                <a:solidFill>
                  <a:schemeClr val="tx1"/>
                </a:solidFill>
              </a:rPr>
              <a:t> </a:t>
            </a:r>
            <a:r>
              <a:rPr lang="en-GB" altLang="en-US" sz="2800" b="1">
                <a:solidFill>
                  <a:schemeClr val="tx1"/>
                </a:solidFill>
                <a:sym typeface="Symbol" pitchFamily="2" charset="2"/>
              </a:rPr>
              <a:t> </a:t>
            </a:r>
            <a:r>
              <a:rPr lang="en-GB" altLang="en-US" sz="2800" b="1" i="1">
                <a:solidFill>
                  <a:schemeClr val="tx1"/>
                </a:solidFill>
              </a:rPr>
              <a:t>u</a:t>
            </a:r>
            <a:r>
              <a:rPr lang="en-GB" altLang="en-US" sz="2800" b="1">
                <a:solidFill>
                  <a:schemeClr val="tx1"/>
                </a:solidFill>
              </a:rPr>
              <a:t> </a:t>
            </a:r>
            <a:r>
              <a:rPr lang="en-GB" altLang="en-US" sz="2800" b="1">
                <a:solidFill>
                  <a:schemeClr val="tx1"/>
                </a:solidFill>
                <a:sym typeface="Symbol" pitchFamily="2" charset="2"/>
              </a:rPr>
              <a:t> 2 </a:t>
            </a:r>
            <a:r>
              <a:rPr lang="en-GB" altLang="en-US" sz="2800" b="1" i="1">
                <a:solidFill>
                  <a:schemeClr val="tx1"/>
                </a:solidFill>
                <a:sym typeface="Symbol" pitchFamily="2" charset="2"/>
              </a:rPr>
              <a:t>f</a:t>
            </a:r>
          </a:p>
        </p:txBody>
      </p:sp>
      <p:grpSp>
        <p:nvGrpSpPr>
          <p:cNvPr id="25603" name="Group 3">
            <a:extLst>
              <a:ext uri="{FF2B5EF4-FFF2-40B4-BE49-F238E27FC236}">
                <a16:creationId xmlns:a16="http://schemas.microsoft.com/office/drawing/2014/main" id="{D6A8F2F1-835F-E81D-D120-DBA81794E258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124200"/>
            <a:ext cx="8394700" cy="1581150"/>
            <a:chOff x="672" y="1968"/>
            <a:chExt cx="5288" cy="996"/>
          </a:xfrm>
        </p:grpSpPr>
        <p:grpSp>
          <p:nvGrpSpPr>
            <p:cNvPr id="25626" name="Group 4">
              <a:extLst>
                <a:ext uri="{FF2B5EF4-FFF2-40B4-BE49-F238E27FC236}">
                  <a16:creationId xmlns:a16="http://schemas.microsoft.com/office/drawing/2014/main" id="{D0D7FC7D-462C-A4E7-4B51-2C95C03466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968"/>
              <a:ext cx="1680" cy="0"/>
              <a:chOff x="672" y="1968"/>
              <a:chExt cx="1680" cy="0"/>
            </a:xfrm>
          </p:grpSpPr>
          <p:sp>
            <p:nvSpPr>
              <p:cNvPr id="25628" name="Line 5">
                <a:extLst>
                  <a:ext uri="{FF2B5EF4-FFF2-40B4-BE49-F238E27FC236}">
                    <a16:creationId xmlns:a16="http://schemas.microsoft.com/office/drawing/2014/main" id="{7EAC640C-2EA4-EEBD-D2F6-6F112BEA2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1968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9" name="Line 6">
                <a:extLst>
                  <a:ext uri="{FF2B5EF4-FFF2-40B4-BE49-F238E27FC236}">
                    <a16:creationId xmlns:a16="http://schemas.microsoft.com/office/drawing/2014/main" id="{934BBAE4-A381-F0E7-5801-AE4A48C4E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1968"/>
                <a:ext cx="10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627" name="Line 7">
              <a:extLst>
                <a:ext uri="{FF2B5EF4-FFF2-40B4-BE49-F238E27FC236}">
                  <a16:creationId xmlns:a16="http://schemas.microsoft.com/office/drawing/2014/main" id="{1CE56EC1-DE13-EA9C-CA64-9AC54D0D9A4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3021">
              <a:off x="2072" y="2922"/>
              <a:ext cx="3888" cy="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4" name="Group 8">
            <a:extLst>
              <a:ext uri="{FF2B5EF4-FFF2-40B4-BE49-F238E27FC236}">
                <a16:creationId xmlns:a16="http://schemas.microsoft.com/office/drawing/2014/main" id="{37C05C3C-8EE3-A1A8-A0C3-2FA498C2A1C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667000"/>
            <a:ext cx="500063" cy="1447800"/>
            <a:chOff x="432" y="1267"/>
            <a:chExt cx="369" cy="893"/>
          </a:xfrm>
        </p:grpSpPr>
        <p:sp>
          <p:nvSpPr>
            <p:cNvPr id="25624" name="Line 9">
              <a:extLst>
                <a:ext uri="{FF2B5EF4-FFF2-40B4-BE49-F238E27FC236}">
                  <a16:creationId xmlns:a16="http://schemas.microsoft.com/office/drawing/2014/main" id="{E07FBB42-FF3A-A42A-0CC5-2ACAC35013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1536"/>
              <a:ext cx="0" cy="624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5" name="Text Box 10">
              <a:extLst>
                <a:ext uri="{FF2B5EF4-FFF2-40B4-BE49-F238E27FC236}">
                  <a16:creationId xmlns:a16="http://schemas.microsoft.com/office/drawing/2014/main" id="{A7219D75-4344-4DC4-12BF-3E712FD99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267"/>
              <a:ext cx="369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/>
                <a:t>O</a:t>
              </a:r>
            </a:p>
          </p:txBody>
        </p:sp>
      </p:grpSp>
      <p:grpSp>
        <p:nvGrpSpPr>
          <p:cNvPr id="25605" name="Group 11">
            <a:extLst>
              <a:ext uri="{FF2B5EF4-FFF2-40B4-BE49-F238E27FC236}">
                <a16:creationId xmlns:a16="http://schemas.microsoft.com/office/drawing/2014/main" id="{B6B08E3D-0B52-C408-8F64-532850CB3956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4114800"/>
            <a:ext cx="361950" cy="2346325"/>
            <a:chOff x="5184" y="2592"/>
            <a:chExt cx="305" cy="1558"/>
          </a:xfrm>
        </p:grpSpPr>
        <p:sp>
          <p:nvSpPr>
            <p:cNvPr id="25622" name="Line 12">
              <a:extLst>
                <a:ext uri="{FF2B5EF4-FFF2-40B4-BE49-F238E27FC236}">
                  <a16:creationId xmlns:a16="http://schemas.microsoft.com/office/drawing/2014/main" id="{AF091257-E0DE-CD7C-BD36-FCB1E35F0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592"/>
              <a:ext cx="0" cy="115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3" name="Text Box 13">
              <a:extLst>
                <a:ext uri="{FF2B5EF4-FFF2-40B4-BE49-F238E27FC236}">
                  <a16:creationId xmlns:a16="http://schemas.microsoft.com/office/drawing/2014/main" id="{C21E2221-80E6-B88C-B63B-92365829D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3724"/>
              <a:ext cx="305" cy="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600" b="1">
                  <a:solidFill>
                    <a:srgbClr val="FF3300"/>
                  </a:solidFill>
                </a:rPr>
                <a:t>I</a:t>
              </a:r>
            </a:p>
          </p:txBody>
        </p:sp>
      </p:grpSp>
      <p:grpSp>
        <p:nvGrpSpPr>
          <p:cNvPr id="25606" name="Group 14">
            <a:extLst>
              <a:ext uri="{FF2B5EF4-FFF2-40B4-BE49-F238E27FC236}">
                <a16:creationId xmlns:a16="http://schemas.microsoft.com/office/drawing/2014/main" id="{A85EF499-64A1-76F3-D271-24CF0AE3816F}"/>
              </a:ext>
            </a:extLst>
          </p:cNvPr>
          <p:cNvGrpSpPr>
            <a:grpSpLocks/>
          </p:cNvGrpSpPr>
          <p:nvPr/>
        </p:nvGrpSpPr>
        <p:grpSpPr bwMode="auto">
          <a:xfrm>
            <a:off x="-15875" y="4038600"/>
            <a:ext cx="7483475" cy="685800"/>
            <a:chOff x="528" y="2400"/>
            <a:chExt cx="4714" cy="432"/>
          </a:xfrm>
        </p:grpSpPr>
        <p:sp>
          <p:nvSpPr>
            <p:cNvPr id="25614" name="Oval 15">
              <a:extLst>
                <a:ext uri="{FF2B5EF4-FFF2-40B4-BE49-F238E27FC236}">
                  <a16:creationId xmlns:a16="http://schemas.microsoft.com/office/drawing/2014/main" id="{EAB026F3-5331-8DB5-F374-F43665603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5615" name="Text Box 16">
              <a:extLst>
                <a:ext uri="{FF2B5EF4-FFF2-40B4-BE49-F238E27FC236}">
                  <a16:creationId xmlns:a16="http://schemas.microsoft.com/office/drawing/2014/main" id="{E844AB47-636B-4DD3-B6B9-7F8411B4A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25616" name="Text Box 17">
              <a:extLst>
                <a:ext uri="{FF2B5EF4-FFF2-40B4-BE49-F238E27FC236}">
                  <a16:creationId xmlns:a16="http://schemas.microsoft.com/office/drawing/2014/main" id="{A51D17BD-54F8-9551-6D1D-6497BB1FE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544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25617" name="Oval 18">
              <a:extLst>
                <a:ext uri="{FF2B5EF4-FFF2-40B4-BE49-F238E27FC236}">
                  <a16:creationId xmlns:a16="http://schemas.microsoft.com/office/drawing/2014/main" id="{EFB0AF33-19C4-F013-3150-C3009C028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5618" name="Text Box 19">
              <a:extLst>
                <a:ext uri="{FF2B5EF4-FFF2-40B4-BE49-F238E27FC236}">
                  <a16:creationId xmlns:a16="http://schemas.microsoft.com/office/drawing/2014/main" id="{C27A3093-E194-D90C-FFC6-AF1F53ABE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25619" name="Oval 20">
              <a:extLst>
                <a:ext uri="{FF2B5EF4-FFF2-40B4-BE49-F238E27FC236}">
                  <a16:creationId xmlns:a16="http://schemas.microsoft.com/office/drawing/2014/main" id="{17661190-35FF-5072-7BAB-5753377CE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5620" name="Text Box 21">
              <a:extLst>
                <a:ext uri="{FF2B5EF4-FFF2-40B4-BE49-F238E27FC236}">
                  <a16:creationId xmlns:a16="http://schemas.microsoft.com/office/drawing/2014/main" id="{E9BFD6AD-688F-DE6B-1291-57AB4E556D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25621" name="Oval 22">
              <a:extLst>
                <a:ext uri="{FF2B5EF4-FFF2-40B4-BE49-F238E27FC236}">
                  <a16:creationId xmlns:a16="http://schemas.microsoft.com/office/drawing/2014/main" id="{A0D0831C-01CF-7E81-443B-C156E270F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</p:grpSp>
      <p:sp>
        <p:nvSpPr>
          <p:cNvPr id="25607" name="Text Box 23">
            <a:extLst>
              <a:ext uri="{FF2B5EF4-FFF2-40B4-BE49-F238E27FC236}">
                <a16:creationId xmlns:a16="http://schemas.microsoft.com/office/drawing/2014/main" id="{8A91340D-B710-5F30-B6DF-24518E9BC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278563"/>
            <a:ext cx="914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IE" altLang="en-US" sz="3200" b="1"/>
              <a:t>The image is </a:t>
            </a:r>
            <a:r>
              <a:rPr lang="en-IE" altLang="en-US" sz="3200" b="1">
                <a:sym typeface="Wingdings" pitchFamily="2" charset="2"/>
              </a:rPr>
              <a:t></a:t>
            </a:r>
            <a:r>
              <a:rPr lang="en-IE" altLang="en-US" sz="3200" b="1"/>
              <a:t>Real </a:t>
            </a:r>
            <a:r>
              <a:rPr lang="en-IE" altLang="en-US" sz="3200" b="1">
                <a:sym typeface="Wingdings" pitchFamily="2" charset="2"/>
              </a:rPr>
              <a:t></a:t>
            </a:r>
            <a:r>
              <a:rPr lang="en-IE" altLang="en-US" sz="3200" b="1"/>
              <a:t> Inverted, </a:t>
            </a:r>
            <a:r>
              <a:rPr lang="en-IE" altLang="en-US" sz="3200" b="1">
                <a:sym typeface="Wingdings" pitchFamily="2" charset="2"/>
              </a:rPr>
              <a:t></a:t>
            </a:r>
            <a:r>
              <a:rPr lang="en-IE" altLang="en-US" sz="3200" b="1"/>
              <a:t> Magnified.</a:t>
            </a:r>
          </a:p>
        </p:txBody>
      </p:sp>
      <p:grpSp>
        <p:nvGrpSpPr>
          <p:cNvPr id="25608" name="Group 24">
            <a:extLst>
              <a:ext uri="{FF2B5EF4-FFF2-40B4-BE49-F238E27FC236}">
                <a16:creationId xmlns:a16="http://schemas.microsoft.com/office/drawing/2014/main" id="{EFCCC950-CEAC-C4E1-DECD-8A30D2A9381D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124200"/>
            <a:ext cx="8153400" cy="3048000"/>
            <a:chOff x="624" y="1968"/>
            <a:chExt cx="5136" cy="1920"/>
          </a:xfrm>
        </p:grpSpPr>
        <p:sp>
          <p:nvSpPr>
            <p:cNvPr id="25612" name="Line 25">
              <a:extLst>
                <a:ext uri="{FF2B5EF4-FFF2-40B4-BE49-F238E27FC236}">
                  <a16:creationId xmlns:a16="http://schemas.microsoft.com/office/drawing/2014/main" id="{42000824-5F6A-63C7-531D-4AF14C4E4F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968"/>
              <a:ext cx="5136" cy="19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3" name="Line 26">
              <a:extLst>
                <a:ext uri="{FF2B5EF4-FFF2-40B4-BE49-F238E27FC236}">
                  <a16:creationId xmlns:a16="http://schemas.microsoft.com/office/drawing/2014/main" id="{B517EE06-07ED-226C-0342-1D2960A4E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064"/>
              <a:ext cx="72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9" name="Group 27">
            <a:extLst>
              <a:ext uri="{FF2B5EF4-FFF2-40B4-BE49-F238E27FC236}">
                <a16:creationId xmlns:a16="http://schemas.microsoft.com/office/drawing/2014/main" id="{AB7F57E7-1189-D7AE-8924-A46FCF2A7338}"/>
              </a:ext>
            </a:extLst>
          </p:cNvPr>
          <p:cNvGrpSpPr>
            <a:grpSpLocks/>
          </p:cNvGrpSpPr>
          <p:nvPr/>
        </p:nvGrpSpPr>
        <p:grpSpPr bwMode="auto">
          <a:xfrm>
            <a:off x="0" y="2251075"/>
            <a:ext cx="9144000" cy="3921125"/>
            <a:chOff x="0" y="1418"/>
            <a:chExt cx="5760" cy="2470"/>
          </a:xfrm>
        </p:grpSpPr>
        <p:pic>
          <p:nvPicPr>
            <p:cNvPr id="25610" name="Picture 28">
              <a:extLst>
                <a:ext uri="{FF2B5EF4-FFF2-40B4-BE49-F238E27FC236}">
                  <a16:creationId xmlns:a16="http://schemas.microsoft.com/office/drawing/2014/main" id="{9A62E0E3-F803-9CEB-21D1-0721674CF0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66"/>
            <a:stretch>
              <a:fillRect/>
            </a:stretch>
          </p:blipFill>
          <p:spPr bwMode="auto">
            <a:xfrm>
              <a:off x="0" y="1418"/>
              <a:ext cx="5280" cy="2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1" name="Line 29">
              <a:extLst>
                <a:ext uri="{FF2B5EF4-FFF2-40B4-BE49-F238E27FC236}">
                  <a16:creationId xmlns:a16="http://schemas.microsoft.com/office/drawing/2014/main" id="{D52E4F1A-69C7-D109-586C-AE0AB3D02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592"/>
              <a:ext cx="57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57493B5-0D77-474A-35BF-6BAEB5C46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33375"/>
            <a:ext cx="861060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2800">
                <a:solidFill>
                  <a:schemeClr val="tx1"/>
                </a:solidFill>
              </a:rPr>
              <a:t>Converging Lens - Case 3: </a:t>
            </a:r>
            <a:br>
              <a:rPr lang="en-IE" altLang="en-US" sz="2800">
                <a:solidFill>
                  <a:schemeClr val="tx1"/>
                </a:solidFill>
              </a:rPr>
            </a:br>
            <a:r>
              <a:rPr lang="en-GB" altLang="en-US" sz="2800" b="1">
                <a:solidFill>
                  <a:schemeClr val="tx1"/>
                </a:solidFill>
                <a:latin typeface="Verdana" panose="020B0604030504040204" pitchFamily="34" charset="0"/>
              </a:rPr>
              <a:t>Object Located between </a:t>
            </a:r>
            <a:r>
              <a:rPr lang="en-IE" altLang="en-US" sz="2800" b="1">
                <a:solidFill>
                  <a:schemeClr val="tx1"/>
                </a:solidFill>
                <a:latin typeface="Verdana" panose="020B0604030504040204" pitchFamily="34" charset="0"/>
              </a:rPr>
              <a:t>2f </a:t>
            </a:r>
            <a:r>
              <a:rPr lang="en-GB" altLang="en-US" sz="2800" b="1">
                <a:solidFill>
                  <a:schemeClr val="tx1"/>
                </a:solidFill>
                <a:latin typeface="Verdana" panose="020B0604030504040204" pitchFamily="34" charset="0"/>
              </a:rPr>
              <a:t>and the Focal Point [</a:t>
            </a:r>
            <a:r>
              <a:rPr lang="en-GB" altLang="en-US" sz="2800" b="1" i="1">
                <a:solidFill>
                  <a:schemeClr val="tx1"/>
                </a:solidFill>
                <a:sym typeface="Symbol" pitchFamily="2" charset="2"/>
              </a:rPr>
              <a:t>f</a:t>
            </a:r>
            <a:r>
              <a:rPr lang="en-GB" altLang="en-US" sz="2800" b="1">
                <a:solidFill>
                  <a:schemeClr val="tx1"/>
                </a:solidFill>
              </a:rPr>
              <a:t> </a:t>
            </a:r>
            <a:r>
              <a:rPr lang="en-GB" altLang="en-US" sz="2800" b="1">
                <a:solidFill>
                  <a:schemeClr val="tx1"/>
                </a:solidFill>
                <a:sym typeface="Symbol" pitchFamily="2" charset="2"/>
              </a:rPr>
              <a:t> </a:t>
            </a:r>
            <a:r>
              <a:rPr lang="en-GB" altLang="en-US" sz="2800" b="1" i="1">
                <a:solidFill>
                  <a:schemeClr val="tx1"/>
                </a:solidFill>
              </a:rPr>
              <a:t>u</a:t>
            </a:r>
            <a:r>
              <a:rPr lang="en-GB" altLang="en-US" sz="2800" b="1">
                <a:solidFill>
                  <a:schemeClr val="tx1"/>
                </a:solidFill>
              </a:rPr>
              <a:t> </a:t>
            </a:r>
            <a:r>
              <a:rPr lang="en-GB" altLang="en-US" sz="2800" b="1">
                <a:solidFill>
                  <a:schemeClr val="tx1"/>
                </a:solidFill>
                <a:sym typeface="Symbol" pitchFamily="2" charset="2"/>
              </a:rPr>
              <a:t> 2 </a:t>
            </a:r>
            <a:r>
              <a:rPr lang="en-GB" altLang="en-US" sz="2800" b="1" i="1">
                <a:solidFill>
                  <a:schemeClr val="tx1"/>
                </a:solidFill>
                <a:sym typeface="Symbol" pitchFamily="2" charset="2"/>
              </a:rPr>
              <a:t>f </a:t>
            </a:r>
            <a:r>
              <a:rPr lang="en-GB" altLang="en-US" sz="2800" b="1">
                <a:solidFill>
                  <a:schemeClr val="tx1"/>
                </a:solidFill>
                <a:latin typeface="Verdana" panose="020B0604030504040204" pitchFamily="34" charset="0"/>
                <a:sym typeface="Symbol" pitchFamily="2" charset="2"/>
              </a:rPr>
              <a:t>]</a:t>
            </a:r>
            <a:endParaRPr lang="en-IE" altLang="en-US" sz="2800" b="1">
              <a:solidFill>
                <a:schemeClr val="tx1"/>
              </a:solidFill>
              <a:latin typeface="Verdana" panose="020B0604030504040204" pitchFamily="34" charset="0"/>
              <a:sym typeface="Symbol" pitchFamily="2" charset="2"/>
            </a:endParaRP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B33D6287-B869-733B-558E-2E1C075A5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667375"/>
            <a:ext cx="8413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IE" altLang="en-US" sz="3600" b="1"/>
              <a:t>The image is real, inverted and magnified.</a:t>
            </a:r>
          </a:p>
        </p:txBody>
      </p:sp>
      <p:pic>
        <p:nvPicPr>
          <p:cNvPr id="26628" name="Picture 4">
            <a:extLst>
              <a:ext uri="{FF2B5EF4-FFF2-40B4-BE49-F238E27FC236}">
                <a16:creationId xmlns:a16="http://schemas.microsoft.com/office/drawing/2014/main" id="{8D839F22-7778-47F6-BC30-DBEB212CB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9" r="1961"/>
          <a:stretch>
            <a:fillRect/>
          </a:stretch>
        </p:blipFill>
        <p:spPr bwMode="auto">
          <a:xfrm>
            <a:off x="609600" y="1905000"/>
            <a:ext cx="7772400" cy="364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34CB816-FEB8-969F-3881-BF7335E32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991600" cy="2057400"/>
          </a:xfrm>
        </p:spPr>
        <p:txBody>
          <a:bodyPr/>
          <a:lstStyle/>
          <a:p>
            <a:pPr eaLnBrk="1" hangingPunct="1"/>
            <a:r>
              <a:rPr lang="en-GB" altLang="en-US" sz="3200">
                <a:solidFill>
                  <a:schemeClr val="tx1"/>
                </a:solidFill>
              </a:rPr>
              <a:t>Converging Lens - Case 4: </a:t>
            </a:r>
            <a:br>
              <a:rPr lang="en-IE" altLang="en-US" sz="3200">
                <a:solidFill>
                  <a:schemeClr val="tx1"/>
                </a:solidFill>
              </a:rPr>
            </a:br>
            <a:r>
              <a:rPr lang="en-GB" altLang="en-US" sz="3200" b="1">
                <a:solidFill>
                  <a:schemeClr val="tx1"/>
                </a:solidFill>
                <a:latin typeface="Verdana" panose="020B0604030504040204" pitchFamily="34" charset="0"/>
              </a:rPr>
              <a:t>Object located at </a:t>
            </a:r>
            <a:r>
              <a:rPr lang="en-GB" altLang="en-US" sz="2800" b="1">
                <a:solidFill>
                  <a:schemeClr val="tx1"/>
                </a:solidFill>
                <a:latin typeface="Verdana" panose="020B0604030504040204" pitchFamily="34" charset="0"/>
              </a:rPr>
              <a:t>the focal point</a:t>
            </a:r>
            <a:r>
              <a:rPr lang="en-GB" altLang="en-US" sz="3200" b="1">
                <a:solidFill>
                  <a:schemeClr val="tx1"/>
                </a:solidFill>
                <a:latin typeface="Verdana" panose="020B0604030504040204" pitchFamily="34" charset="0"/>
              </a:rPr>
              <a:t> [</a:t>
            </a:r>
            <a:r>
              <a:rPr lang="en-GB" altLang="en-US" sz="3200" b="1" i="1">
                <a:solidFill>
                  <a:schemeClr val="tx1"/>
                </a:solidFill>
              </a:rPr>
              <a:t>u</a:t>
            </a:r>
            <a:r>
              <a:rPr lang="en-GB" altLang="en-US" sz="3200" b="1">
                <a:solidFill>
                  <a:schemeClr val="tx1"/>
                </a:solidFill>
              </a:rPr>
              <a:t> </a:t>
            </a:r>
            <a:r>
              <a:rPr lang="en-GB" altLang="en-US" sz="3200" b="1">
                <a:solidFill>
                  <a:schemeClr val="tx1"/>
                </a:solidFill>
                <a:sym typeface="Symbol" pitchFamily="2" charset="2"/>
              </a:rPr>
              <a:t>= </a:t>
            </a:r>
            <a:r>
              <a:rPr lang="en-GB" altLang="en-US" sz="3200" b="1" i="1">
                <a:solidFill>
                  <a:schemeClr val="tx1"/>
                </a:solidFill>
                <a:sym typeface="Symbol" pitchFamily="2" charset="2"/>
              </a:rPr>
              <a:t>f </a:t>
            </a:r>
            <a:r>
              <a:rPr lang="en-GB" altLang="en-US" sz="3200">
                <a:solidFill>
                  <a:schemeClr val="tx1"/>
                </a:solidFill>
                <a:sym typeface="Symbol" pitchFamily="2" charset="2"/>
              </a:rPr>
              <a:t>]</a:t>
            </a:r>
          </a:p>
        </p:txBody>
      </p:sp>
      <p:pic>
        <p:nvPicPr>
          <p:cNvPr id="89091" name="Picture 3">
            <a:extLst>
              <a:ext uri="{FF2B5EF4-FFF2-40B4-BE49-F238E27FC236}">
                <a16:creationId xmlns:a16="http://schemas.microsoft.com/office/drawing/2014/main" id="{C571C374-CAEF-98AD-DE63-39314730F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0"/>
            <a:ext cx="91440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93D345FF-CA00-C169-05AE-C22A4B394602}"/>
              </a:ext>
            </a:extLst>
          </p:cNvPr>
          <p:cNvGrpSpPr>
            <a:grpSpLocks/>
          </p:cNvGrpSpPr>
          <p:nvPr/>
        </p:nvGrpSpPr>
        <p:grpSpPr bwMode="auto">
          <a:xfrm>
            <a:off x="2840038" y="3124200"/>
            <a:ext cx="6342062" cy="1262063"/>
            <a:chOff x="1789" y="1968"/>
            <a:chExt cx="3995" cy="795"/>
          </a:xfrm>
        </p:grpSpPr>
        <p:grpSp>
          <p:nvGrpSpPr>
            <p:cNvPr id="27672" name="Group 5">
              <a:extLst>
                <a:ext uri="{FF2B5EF4-FFF2-40B4-BE49-F238E27FC236}">
                  <a16:creationId xmlns:a16="http://schemas.microsoft.com/office/drawing/2014/main" id="{57B9424B-8425-7F9A-64E0-33973C324F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9" y="1968"/>
              <a:ext cx="1043" cy="138"/>
              <a:chOff x="1920" y="240"/>
              <a:chExt cx="1152" cy="0"/>
            </a:xfrm>
          </p:grpSpPr>
          <p:sp>
            <p:nvSpPr>
              <p:cNvPr id="27674" name="Line 6">
                <a:extLst>
                  <a:ext uri="{FF2B5EF4-FFF2-40B4-BE49-F238E27FC236}">
                    <a16:creationId xmlns:a16="http://schemas.microsoft.com/office/drawing/2014/main" id="{75094098-F6E0-0344-61E2-B479F53C5D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40"/>
                <a:ext cx="11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75" name="Line 7">
                <a:extLst>
                  <a:ext uri="{FF2B5EF4-FFF2-40B4-BE49-F238E27FC236}">
                    <a16:creationId xmlns:a16="http://schemas.microsoft.com/office/drawing/2014/main" id="{71557E8D-DBA7-DD07-9BC6-ECC43FCA4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4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673" name="Line 8">
              <a:extLst>
                <a:ext uri="{FF2B5EF4-FFF2-40B4-BE49-F238E27FC236}">
                  <a16:creationId xmlns:a16="http://schemas.microsoft.com/office/drawing/2014/main" id="{E33676DB-646D-B7F2-E315-00C18C48F7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3021" flipV="1">
              <a:off x="2616" y="2701"/>
              <a:ext cx="3168" cy="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8AC5CBC4-7403-D2C4-C0CC-EA088E7B2573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038600"/>
            <a:ext cx="7483475" cy="685800"/>
            <a:chOff x="528" y="2400"/>
            <a:chExt cx="4714" cy="432"/>
          </a:xfrm>
        </p:grpSpPr>
        <p:sp>
          <p:nvSpPr>
            <p:cNvPr id="27664" name="Oval 10">
              <a:extLst>
                <a:ext uri="{FF2B5EF4-FFF2-40B4-BE49-F238E27FC236}">
                  <a16:creationId xmlns:a16="http://schemas.microsoft.com/office/drawing/2014/main" id="{DDF5951C-232F-4111-D607-52F1287A9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7665" name="Text Box 11">
              <a:extLst>
                <a:ext uri="{FF2B5EF4-FFF2-40B4-BE49-F238E27FC236}">
                  <a16:creationId xmlns:a16="http://schemas.microsoft.com/office/drawing/2014/main" id="{AC5B9C0A-1338-0EC9-ED52-04DEDEF558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27666" name="Text Box 12">
              <a:extLst>
                <a:ext uri="{FF2B5EF4-FFF2-40B4-BE49-F238E27FC236}">
                  <a16:creationId xmlns:a16="http://schemas.microsoft.com/office/drawing/2014/main" id="{6C32265F-2BC6-1065-B258-F3838734F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544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27667" name="Oval 13">
              <a:extLst>
                <a:ext uri="{FF2B5EF4-FFF2-40B4-BE49-F238E27FC236}">
                  <a16:creationId xmlns:a16="http://schemas.microsoft.com/office/drawing/2014/main" id="{0C3E3719-ECE3-D49D-A000-931467037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7668" name="Text Box 14">
              <a:extLst>
                <a:ext uri="{FF2B5EF4-FFF2-40B4-BE49-F238E27FC236}">
                  <a16:creationId xmlns:a16="http://schemas.microsoft.com/office/drawing/2014/main" id="{166A7010-D139-0800-14DA-ED5FA32F9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27669" name="Oval 15">
              <a:extLst>
                <a:ext uri="{FF2B5EF4-FFF2-40B4-BE49-F238E27FC236}">
                  <a16:creationId xmlns:a16="http://schemas.microsoft.com/office/drawing/2014/main" id="{DE558898-5AC7-A1B6-4D7F-11F593EFD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7670" name="Text Box 16">
              <a:extLst>
                <a:ext uri="{FF2B5EF4-FFF2-40B4-BE49-F238E27FC236}">
                  <a16:creationId xmlns:a16="http://schemas.microsoft.com/office/drawing/2014/main" id="{E9AF5A1E-7966-E59B-AC08-B9D491023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49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27671" name="Oval 17">
              <a:extLst>
                <a:ext uri="{FF2B5EF4-FFF2-40B4-BE49-F238E27FC236}">
                  <a16:creationId xmlns:a16="http://schemas.microsoft.com/office/drawing/2014/main" id="{1515646F-27EE-1BD0-66D2-C2D9F899A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</p:grpSp>
      <p:grpSp>
        <p:nvGrpSpPr>
          <p:cNvPr id="5" name="Group 18">
            <a:extLst>
              <a:ext uri="{FF2B5EF4-FFF2-40B4-BE49-F238E27FC236}">
                <a16:creationId xmlns:a16="http://schemas.microsoft.com/office/drawing/2014/main" id="{1CDC23C6-8B73-E243-F733-B29AEEDDC7FF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3124200"/>
            <a:ext cx="4648200" cy="2743200"/>
            <a:chOff x="240" y="1824"/>
            <a:chExt cx="5328" cy="1296"/>
          </a:xfrm>
        </p:grpSpPr>
        <p:sp>
          <p:nvSpPr>
            <p:cNvPr id="27662" name="Line 19">
              <a:extLst>
                <a:ext uri="{FF2B5EF4-FFF2-40B4-BE49-F238E27FC236}">
                  <a16:creationId xmlns:a16="http://schemas.microsoft.com/office/drawing/2014/main" id="{C175CCC8-BF40-FD0B-33D2-64D80C696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824"/>
              <a:ext cx="5328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3" name="Line 20">
              <a:extLst>
                <a:ext uri="{FF2B5EF4-FFF2-40B4-BE49-F238E27FC236}">
                  <a16:creationId xmlns:a16="http://schemas.microsoft.com/office/drawing/2014/main" id="{135881D0-547A-9672-8266-2F4F9460E1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064"/>
              <a:ext cx="432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9109" name="Text Box 21">
            <a:extLst>
              <a:ext uri="{FF2B5EF4-FFF2-40B4-BE49-F238E27FC236}">
                <a16:creationId xmlns:a16="http://schemas.microsoft.com/office/drawing/2014/main" id="{819829E3-D6E2-A04D-2E60-49AAE7131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78563"/>
            <a:ext cx="9144000" cy="579437"/>
          </a:xfrm>
          <a:prstGeom prst="rect">
            <a:avLst/>
          </a:prstGeom>
          <a:solidFill>
            <a:srgbClr val="66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IE" altLang="en-US" sz="3200" b="1">
                <a:solidFill>
                  <a:srgbClr val="66FF33"/>
                </a:solidFill>
              </a:rPr>
              <a:t>The image is </a:t>
            </a:r>
            <a:r>
              <a:rPr lang="en-IE" altLang="en-US" sz="3200" b="1">
                <a:solidFill>
                  <a:srgbClr val="66FF33"/>
                </a:solidFill>
                <a:sym typeface="Wingdings" pitchFamily="2" charset="2"/>
              </a:rPr>
              <a:t></a:t>
            </a:r>
            <a:r>
              <a:rPr lang="en-IE" altLang="en-US" sz="3200" b="1">
                <a:solidFill>
                  <a:srgbClr val="66FF33"/>
                </a:solidFill>
              </a:rPr>
              <a:t> Virtual </a:t>
            </a:r>
            <a:r>
              <a:rPr lang="en-IE" altLang="en-US" sz="3200" b="1">
                <a:solidFill>
                  <a:srgbClr val="66FF33"/>
                </a:solidFill>
                <a:sym typeface="Wingdings" pitchFamily="2" charset="2"/>
              </a:rPr>
              <a:t></a:t>
            </a:r>
            <a:r>
              <a:rPr lang="en-IE" altLang="en-US" sz="3200" b="1">
                <a:solidFill>
                  <a:srgbClr val="66FF33"/>
                </a:solidFill>
              </a:rPr>
              <a:t> At Infinity.</a:t>
            </a:r>
          </a:p>
        </p:txBody>
      </p:sp>
      <p:grpSp>
        <p:nvGrpSpPr>
          <p:cNvPr id="6" name="Group 22">
            <a:extLst>
              <a:ext uri="{FF2B5EF4-FFF2-40B4-BE49-F238E27FC236}">
                <a16:creationId xmlns:a16="http://schemas.microsoft.com/office/drawing/2014/main" id="{11E40745-304F-80A1-6E7F-9EBA64F80F8C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905000"/>
            <a:ext cx="4114800" cy="1295400"/>
            <a:chOff x="288" y="1200"/>
            <a:chExt cx="2592" cy="816"/>
          </a:xfrm>
        </p:grpSpPr>
        <p:sp>
          <p:nvSpPr>
            <p:cNvPr id="27660" name="Line 23">
              <a:extLst>
                <a:ext uri="{FF2B5EF4-FFF2-40B4-BE49-F238E27FC236}">
                  <a16:creationId xmlns:a16="http://schemas.microsoft.com/office/drawing/2014/main" id="{1D726528-7FE9-2027-1BE4-B4F845A34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200"/>
              <a:ext cx="153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1" name="Line 24">
              <a:extLst>
                <a:ext uri="{FF2B5EF4-FFF2-40B4-BE49-F238E27FC236}">
                  <a16:creationId xmlns:a16="http://schemas.microsoft.com/office/drawing/2014/main" id="{A2676B2B-D798-4EF2-7CB7-F73515FB9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200"/>
              <a:ext cx="153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id="{3426C304-37B0-EBFF-040E-9BF094906A97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667000"/>
            <a:ext cx="500063" cy="1447800"/>
            <a:chOff x="432" y="1267"/>
            <a:chExt cx="369" cy="893"/>
          </a:xfrm>
        </p:grpSpPr>
        <p:sp>
          <p:nvSpPr>
            <p:cNvPr id="27658" name="Line 26">
              <a:extLst>
                <a:ext uri="{FF2B5EF4-FFF2-40B4-BE49-F238E27FC236}">
                  <a16:creationId xmlns:a16="http://schemas.microsoft.com/office/drawing/2014/main" id="{82EDB591-046E-1AEE-E222-5D157A3539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1536"/>
              <a:ext cx="0" cy="624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9" name="Text Box 27">
              <a:extLst>
                <a:ext uri="{FF2B5EF4-FFF2-40B4-BE49-F238E27FC236}">
                  <a16:creationId xmlns:a16="http://schemas.microsoft.com/office/drawing/2014/main" id="{35D33EE4-09D9-F9D6-A10E-136219C1F6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267"/>
              <a:ext cx="369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/>
                <a:t>O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89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autoUpdateAnimBg="0"/>
      <p:bldP spid="89109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AC590BB-02EB-6B5A-8468-AAB22347AB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GB" altLang="en-US" sz="3200">
                <a:solidFill>
                  <a:schemeClr val="tx1"/>
                </a:solidFill>
              </a:rPr>
              <a:t>Converging Lens – Case 4:</a:t>
            </a:r>
            <a:br>
              <a:rPr lang="en-GB" altLang="en-US" sz="3200">
                <a:solidFill>
                  <a:schemeClr val="tx1"/>
                </a:solidFill>
              </a:rPr>
            </a:br>
            <a:r>
              <a:rPr lang="en-GB" altLang="en-US" sz="3200">
                <a:solidFill>
                  <a:schemeClr val="tx1"/>
                </a:solidFill>
              </a:rPr>
              <a:t>Object on f </a:t>
            </a:r>
            <a:r>
              <a:rPr lang="en-IE" altLang="en-US" sz="3200">
                <a:solidFill>
                  <a:schemeClr val="tx1"/>
                </a:solidFill>
              </a:rPr>
              <a:t> i.e.</a:t>
            </a:r>
            <a:r>
              <a:rPr lang="en-GB" altLang="en-US" sz="3200" i="1">
                <a:solidFill>
                  <a:schemeClr val="tx1"/>
                </a:solidFill>
              </a:rPr>
              <a:t>u</a:t>
            </a:r>
            <a:r>
              <a:rPr lang="en-GB" altLang="en-US" sz="3200">
                <a:solidFill>
                  <a:schemeClr val="tx1"/>
                </a:solidFill>
              </a:rPr>
              <a:t> </a:t>
            </a:r>
            <a:r>
              <a:rPr lang="en-IE" altLang="en-US" sz="3200">
                <a:solidFill>
                  <a:schemeClr val="tx1"/>
                </a:solidFill>
              </a:rPr>
              <a:t> </a:t>
            </a:r>
            <a:r>
              <a:rPr lang="en-IE" altLang="en-US" sz="3200">
                <a:solidFill>
                  <a:schemeClr val="tx1"/>
                </a:solidFill>
                <a:sym typeface="Symbol" pitchFamily="2" charset="2"/>
              </a:rPr>
              <a:t>=</a:t>
            </a:r>
            <a:r>
              <a:rPr lang="en-GB" altLang="en-US" sz="320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GB" altLang="en-US" sz="3200" i="1">
                <a:solidFill>
                  <a:schemeClr val="tx1"/>
                </a:solidFill>
                <a:sym typeface="Symbol" pitchFamily="2" charset="2"/>
              </a:rPr>
              <a:t>f</a:t>
            </a:r>
            <a:endParaRPr lang="en-IE" altLang="en-US" sz="3200" i="1">
              <a:solidFill>
                <a:schemeClr val="tx1"/>
              </a:solidFill>
              <a:sym typeface="Symbol" pitchFamily="2" charset="2"/>
            </a:endParaRP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AB097058-02FC-1A15-8109-6D52104A9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5835650"/>
            <a:ext cx="72739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IE" altLang="en-US" sz="3600" b="1"/>
              <a:t>The image is virtual &amp; at infinity.</a:t>
            </a:r>
          </a:p>
        </p:txBody>
      </p:sp>
      <p:pic>
        <p:nvPicPr>
          <p:cNvPr id="28676" name="Picture 4">
            <a:extLst>
              <a:ext uri="{FF2B5EF4-FFF2-40B4-BE49-F238E27FC236}">
                <a16:creationId xmlns:a16="http://schemas.microsoft.com/office/drawing/2014/main" id="{BC437F19-3033-A771-CD7A-FB2C905FA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" t="2533" r="1923"/>
          <a:stretch>
            <a:fillRect/>
          </a:stretch>
        </p:blipFill>
        <p:spPr bwMode="auto">
          <a:xfrm>
            <a:off x="457200" y="2057400"/>
            <a:ext cx="8077200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F3541653-308E-3D50-350C-30E991A8B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-76200"/>
            <a:ext cx="8915400" cy="1066800"/>
          </a:xfrm>
        </p:spPr>
        <p:txBody>
          <a:bodyPr/>
          <a:lstStyle/>
          <a:p>
            <a:pPr eaLnBrk="1" hangingPunct="1"/>
            <a:r>
              <a:rPr lang="en-IE" altLang="en-US" sz="3200" u="sng">
                <a:solidFill>
                  <a:schemeClr val="tx1"/>
                </a:solidFill>
              </a:rPr>
              <a:t>SPECIAL CASE</a:t>
            </a:r>
            <a:r>
              <a:rPr lang="en-IE" altLang="en-US" sz="3200">
                <a:solidFill>
                  <a:schemeClr val="tx1"/>
                </a:solidFill>
              </a:rPr>
              <a:t>:</a:t>
            </a:r>
            <a:r>
              <a:rPr lang="en-GB" altLang="en-US" sz="3200">
                <a:solidFill>
                  <a:schemeClr val="tx1"/>
                </a:solidFill>
              </a:rPr>
              <a:t>Converging Lens - Case 5: </a:t>
            </a:r>
            <a:br>
              <a:rPr lang="en-IE" altLang="en-US" sz="3200">
                <a:solidFill>
                  <a:schemeClr val="tx1"/>
                </a:solidFill>
              </a:rPr>
            </a:br>
            <a:r>
              <a:rPr lang="en-GB" altLang="en-US" sz="2800" b="1">
                <a:solidFill>
                  <a:schemeClr val="tx1"/>
                </a:solidFill>
                <a:latin typeface="Verdana" panose="020B0604030504040204" pitchFamily="34" charset="0"/>
              </a:rPr>
              <a:t>Object </a:t>
            </a:r>
            <a:r>
              <a:rPr lang="en-GB" altLang="en-US" sz="2800" b="1" u="sng">
                <a:solidFill>
                  <a:schemeClr val="tx1"/>
                </a:solidFill>
                <a:latin typeface="Verdana" panose="020B0604030504040204" pitchFamily="34" charset="0"/>
              </a:rPr>
              <a:t>INSIDE</a:t>
            </a:r>
            <a:r>
              <a:rPr lang="en-GB" altLang="en-US" sz="2800" b="1">
                <a:solidFill>
                  <a:schemeClr val="tx1"/>
                </a:solidFill>
                <a:latin typeface="Verdana" panose="020B0604030504040204" pitchFamily="34" charset="0"/>
              </a:rPr>
              <a:t> the focal point</a:t>
            </a:r>
            <a:r>
              <a:rPr lang="en-GB" altLang="en-US" sz="3200" b="1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GB" altLang="en-US" sz="3200">
                <a:solidFill>
                  <a:schemeClr val="tx1"/>
                </a:solidFill>
              </a:rPr>
              <a:t>i.e. </a:t>
            </a:r>
            <a:r>
              <a:rPr lang="en-GB" altLang="en-US" sz="3200" b="1" i="1">
                <a:solidFill>
                  <a:schemeClr val="tx1"/>
                </a:solidFill>
              </a:rPr>
              <a:t>u</a:t>
            </a:r>
            <a:r>
              <a:rPr lang="en-GB" altLang="en-US" sz="3200" b="1">
                <a:solidFill>
                  <a:schemeClr val="tx1"/>
                </a:solidFill>
              </a:rPr>
              <a:t> </a:t>
            </a:r>
            <a:r>
              <a:rPr lang="en-GB" altLang="en-US" sz="3200" b="1">
                <a:solidFill>
                  <a:schemeClr val="tx1"/>
                </a:solidFill>
                <a:sym typeface="Symbol" pitchFamily="2" charset="2"/>
              </a:rPr>
              <a:t> </a:t>
            </a:r>
            <a:r>
              <a:rPr lang="en-GB" altLang="en-US" sz="3200" b="1" i="1">
                <a:solidFill>
                  <a:schemeClr val="tx1"/>
                </a:solidFill>
                <a:sym typeface="Symbol" pitchFamily="2" charset="2"/>
              </a:rPr>
              <a:t>f</a:t>
            </a:r>
          </a:p>
        </p:txBody>
      </p:sp>
      <p:pic>
        <p:nvPicPr>
          <p:cNvPr id="90115" name="Picture 3">
            <a:extLst>
              <a:ext uri="{FF2B5EF4-FFF2-40B4-BE49-F238E27FC236}">
                <a16:creationId xmlns:a16="http://schemas.microsoft.com/office/drawing/2014/main" id="{9F973D80-8D6D-02A4-A0D4-693F3FDCA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0"/>
            <a:ext cx="91440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31">
            <a:extLst>
              <a:ext uri="{FF2B5EF4-FFF2-40B4-BE49-F238E27FC236}">
                <a16:creationId xmlns:a16="http://schemas.microsoft.com/office/drawing/2014/main" id="{2EF4DE7C-5B2D-EF3F-6D70-2084E165B73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3124200"/>
            <a:ext cx="5718175" cy="1368425"/>
            <a:chOff x="2160" y="1968"/>
            <a:chExt cx="3602" cy="862"/>
          </a:xfrm>
        </p:grpSpPr>
        <p:grpSp>
          <p:nvGrpSpPr>
            <p:cNvPr id="29723" name="Group 5">
              <a:extLst>
                <a:ext uri="{FF2B5EF4-FFF2-40B4-BE49-F238E27FC236}">
                  <a16:creationId xmlns:a16="http://schemas.microsoft.com/office/drawing/2014/main" id="{7E1AD9E4-F2C5-3696-8ED1-E608FF1AC6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1968"/>
              <a:ext cx="768" cy="161"/>
              <a:chOff x="1920" y="240"/>
              <a:chExt cx="1152" cy="0"/>
            </a:xfrm>
          </p:grpSpPr>
          <p:sp>
            <p:nvSpPr>
              <p:cNvPr id="29725" name="Line 6">
                <a:extLst>
                  <a:ext uri="{FF2B5EF4-FFF2-40B4-BE49-F238E27FC236}">
                    <a16:creationId xmlns:a16="http://schemas.microsoft.com/office/drawing/2014/main" id="{BABE5180-2E2A-36BE-7673-7383330965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40"/>
                <a:ext cx="11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26" name="Line 7">
                <a:extLst>
                  <a:ext uri="{FF2B5EF4-FFF2-40B4-BE49-F238E27FC236}">
                    <a16:creationId xmlns:a16="http://schemas.microsoft.com/office/drawing/2014/main" id="{D3F7762A-FBBB-A629-2028-D11C7F076F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4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724" name="Line 8">
              <a:extLst>
                <a:ext uri="{FF2B5EF4-FFF2-40B4-BE49-F238E27FC236}">
                  <a16:creationId xmlns:a16="http://schemas.microsoft.com/office/drawing/2014/main" id="{50CFCC7E-E00C-E13D-57AB-E271CBCCD0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3021">
              <a:off x="2688" y="2740"/>
              <a:ext cx="3074" cy="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5D9735BD-4E2A-F581-93A1-E86D9FE214E1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667000"/>
            <a:ext cx="601663" cy="1447800"/>
            <a:chOff x="432" y="1267"/>
            <a:chExt cx="444" cy="893"/>
          </a:xfrm>
        </p:grpSpPr>
        <p:sp>
          <p:nvSpPr>
            <p:cNvPr id="29721" name="Line 10">
              <a:extLst>
                <a:ext uri="{FF2B5EF4-FFF2-40B4-BE49-F238E27FC236}">
                  <a16:creationId xmlns:a16="http://schemas.microsoft.com/office/drawing/2014/main" id="{BFCD8081-7445-C3AB-AB9C-BEFD64BC8C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1536"/>
              <a:ext cx="0" cy="624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2" name="Text Box 11">
              <a:extLst>
                <a:ext uri="{FF2B5EF4-FFF2-40B4-BE49-F238E27FC236}">
                  <a16:creationId xmlns:a16="http://schemas.microsoft.com/office/drawing/2014/main" id="{B1AE9965-C930-D2D9-164A-27AD6394A8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267"/>
              <a:ext cx="44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/>
                <a:t> O</a:t>
              </a:r>
            </a:p>
          </p:txBody>
        </p:sp>
      </p:grpSp>
      <p:grpSp>
        <p:nvGrpSpPr>
          <p:cNvPr id="5" name="Group 32">
            <a:extLst>
              <a:ext uri="{FF2B5EF4-FFF2-40B4-BE49-F238E27FC236}">
                <a16:creationId xmlns:a16="http://schemas.microsoft.com/office/drawing/2014/main" id="{F24EAFBB-D5DE-94FD-1374-DC7012854886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038600"/>
            <a:ext cx="7483475" cy="685800"/>
            <a:chOff x="528" y="2544"/>
            <a:chExt cx="4714" cy="432"/>
          </a:xfrm>
        </p:grpSpPr>
        <p:sp>
          <p:nvSpPr>
            <p:cNvPr id="29713" name="Oval 13">
              <a:extLst>
                <a:ext uri="{FF2B5EF4-FFF2-40B4-BE49-F238E27FC236}">
                  <a16:creationId xmlns:a16="http://schemas.microsoft.com/office/drawing/2014/main" id="{6C5C4554-DAD0-74B0-C266-465CF8861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9714" name="Text Box 14">
              <a:extLst>
                <a:ext uri="{FF2B5EF4-FFF2-40B4-BE49-F238E27FC236}">
                  <a16:creationId xmlns:a16="http://schemas.microsoft.com/office/drawing/2014/main" id="{8F2F8974-9341-C05C-1A07-6D23B4262C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640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29715" name="Text Box 15">
              <a:extLst>
                <a:ext uri="{FF2B5EF4-FFF2-40B4-BE49-F238E27FC236}">
                  <a16:creationId xmlns:a16="http://schemas.microsoft.com/office/drawing/2014/main" id="{0F8AF26B-2709-79AD-6334-FA4DE336F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688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29716" name="Oval 16">
              <a:extLst>
                <a:ext uri="{FF2B5EF4-FFF2-40B4-BE49-F238E27FC236}">
                  <a16:creationId xmlns:a16="http://schemas.microsoft.com/office/drawing/2014/main" id="{4DC699E6-9C23-DE4C-FD8E-98EDE2587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9717" name="Text Box 17">
              <a:extLst>
                <a:ext uri="{FF2B5EF4-FFF2-40B4-BE49-F238E27FC236}">
                  <a16:creationId xmlns:a16="http://schemas.microsoft.com/office/drawing/2014/main" id="{A4BD3E29-F121-0234-D1FD-7E30F1B99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640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29718" name="Oval 18">
              <a:extLst>
                <a:ext uri="{FF2B5EF4-FFF2-40B4-BE49-F238E27FC236}">
                  <a16:creationId xmlns:a16="http://schemas.microsoft.com/office/drawing/2014/main" id="{8734A3F5-C964-5318-1AB5-3B83EA9D5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29719" name="Text Box 19">
              <a:extLst>
                <a:ext uri="{FF2B5EF4-FFF2-40B4-BE49-F238E27FC236}">
                  <a16:creationId xmlns:a16="http://schemas.microsoft.com/office/drawing/2014/main" id="{40C8B65A-64A6-B3A0-488F-6FBAF1CA0D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640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29720" name="Oval 20">
              <a:extLst>
                <a:ext uri="{FF2B5EF4-FFF2-40B4-BE49-F238E27FC236}">
                  <a16:creationId xmlns:a16="http://schemas.microsoft.com/office/drawing/2014/main" id="{49A91586-F8B5-67A0-50DD-1C7E1A77D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</p:grpSp>
      <p:grpSp>
        <p:nvGrpSpPr>
          <p:cNvPr id="6" name="Group 21">
            <a:extLst>
              <a:ext uri="{FF2B5EF4-FFF2-40B4-BE49-F238E27FC236}">
                <a16:creationId xmlns:a16="http://schemas.microsoft.com/office/drawing/2014/main" id="{74DFB587-A1E0-3C3A-D72E-AC1A225A7885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3124200"/>
            <a:ext cx="3200400" cy="2895600"/>
            <a:chOff x="2160" y="1968"/>
            <a:chExt cx="2064" cy="1824"/>
          </a:xfrm>
        </p:grpSpPr>
        <p:sp>
          <p:nvSpPr>
            <p:cNvPr id="29711" name="Line 22">
              <a:extLst>
                <a:ext uri="{FF2B5EF4-FFF2-40B4-BE49-F238E27FC236}">
                  <a16:creationId xmlns:a16="http://schemas.microsoft.com/office/drawing/2014/main" id="{AAC4682F-5B42-46CB-876E-B179B71B0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968"/>
              <a:ext cx="2064" cy="18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2" name="Line 23">
              <a:extLst>
                <a:ext uri="{FF2B5EF4-FFF2-40B4-BE49-F238E27FC236}">
                  <a16:creationId xmlns:a16="http://schemas.microsoft.com/office/drawing/2014/main" id="{225C587C-E9C5-62F0-610D-95D147033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256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136" name="Text Box 24">
            <a:extLst>
              <a:ext uri="{FF2B5EF4-FFF2-40B4-BE49-F238E27FC236}">
                <a16:creationId xmlns:a16="http://schemas.microsoft.com/office/drawing/2014/main" id="{E1608A08-4EDF-8DC0-76E7-76D64B17E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78563"/>
            <a:ext cx="9144000" cy="579437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IE" altLang="en-US" sz="3200" b="1">
                <a:solidFill>
                  <a:schemeClr val="bg1"/>
                </a:solidFill>
              </a:rPr>
              <a:t>The image is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</a:t>
            </a:r>
            <a:r>
              <a:rPr lang="en-IE" altLang="en-US" sz="3200" b="1">
                <a:solidFill>
                  <a:schemeClr val="bg1"/>
                </a:solidFill>
              </a:rPr>
              <a:t>Virtual,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</a:t>
            </a:r>
            <a:r>
              <a:rPr lang="en-IE" altLang="en-US" sz="3200" b="1">
                <a:solidFill>
                  <a:schemeClr val="bg1"/>
                </a:solidFill>
              </a:rPr>
              <a:t> Magnified,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</a:t>
            </a:r>
            <a:r>
              <a:rPr lang="en-IE" altLang="en-US" sz="3200" b="1">
                <a:solidFill>
                  <a:schemeClr val="bg1"/>
                </a:solidFill>
              </a:rPr>
              <a:t> Erect.</a:t>
            </a:r>
          </a:p>
        </p:txBody>
      </p:sp>
      <p:grpSp>
        <p:nvGrpSpPr>
          <p:cNvPr id="7" name="Group 25">
            <a:extLst>
              <a:ext uri="{FF2B5EF4-FFF2-40B4-BE49-F238E27FC236}">
                <a16:creationId xmlns:a16="http://schemas.microsoft.com/office/drawing/2014/main" id="{57DF4EA2-CBE8-4D5B-93D4-C750C2FC56D7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219200"/>
            <a:ext cx="3962400" cy="3352800"/>
            <a:chOff x="816" y="768"/>
            <a:chExt cx="2496" cy="2112"/>
          </a:xfrm>
        </p:grpSpPr>
        <p:sp>
          <p:nvSpPr>
            <p:cNvPr id="29709" name="Line 26">
              <a:extLst>
                <a:ext uri="{FF2B5EF4-FFF2-40B4-BE49-F238E27FC236}">
                  <a16:creationId xmlns:a16="http://schemas.microsoft.com/office/drawing/2014/main" id="{D1CE0024-D899-CA5B-F5DD-705ACD8EB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816"/>
              <a:ext cx="2304" cy="20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0" name="Line 27">
              <a:extLst>
                <a:ext uri="{FF2B5EF4-FFF2-40B4-BE49-F238E27FC236}">
                  <a16:creationId xmlns:a16="http://schemas.microsoft.com/office/drawing/2014/main" id="{EA8C531C-F449-2CE0-B2FF-04EDBB3B26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6" y="768"/>
              <a:ext cx="2496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28">
            <a:extLst>
              <a:ext uri="{FF2B5EF4-FFF2-40B4-BE49-F238E27FC236}">
                <a16:creationId xmlns:a16="http://schemas.microsoft.com/office/drawing/2014/main" id="{DD7C010F-3253-D6F3-67FD-A87C2886E2DE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1050925"/>
            <a:ext cx="687387" cy="3063875"/>
            <a:chOff x="431" y="662"/>
            <a:chExt cx="433" cy="1930"/>
          </a:xfrm>
        </p:grpSpPr>
        <p:sp>
          <p:nvSpPr>
            <p:cNvPr id="29707" name="Text Box 29">
              <a:extLst>
                <a:ext uri="{FF2B5EF4-FFF2-40B4-BE49-F238E27FC236}">
                  <a16:creationId xmlns:a16="http://schemas.microsoft.com/office/drawing/2014/main" id="{9CBF96F5-25C0-15FB-84CD-B086CC0824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662"/>
              <a:ext cx="24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4000" b="1">
                  <a:solidFill>
                    <a:srgbClr val="FF3300"/>
                  </a:solidFill>
                </a:rPr>
                <a:t>I</a:t>
              </a:r>
            </a:p>
          </p:txBody>
        </p:sp>
        <p:sp>
          <p:nvSpPr>
            <p:cNvPr id="29708" name="Line 30">
              <a:extLst>
                <a:ext uri="{FF2B5EF4-FFF2-40B4-BE49-F238E27FC236}">
                  <a16:creationId xmlns:a16="http://schemas.microsoft.com/office/drawing/2014/main" id="{ACF912E0-DFBE-7CA0-4BFD-CB6E790506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768"/>
              <a:ext cx="0" cy="1824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prstDash val="sysDot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9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 autoUpdateAnimBg="0"/>
      <p:bldP spid="90136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B2180EE4-65A8-0B69-DDCC-F8B975CF3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-76200"/>
            <a:ext cx="8915400" cy="1066800"/>
          </a:xfrm>
        </p:spPr>
        <p:txBody>
          <a:bodyPr/>
          <a:lstStyle/>
          <a:p>
            <a:pPr eaLnBrk="1" hangingPunct="1"/>
            <a:r>
              <a:rPr lang="en-IE" altLang="en-US" sz="3200" u="sng">
                <a:solidFill>
                  <a:schemeClr val="tx1"/>
                </a:solidFill>
              </a:rPr>
              <a:t>SPECIAL CASE:</a:t>
            </a:r>
            <a:r>
              <a:rPr lang="en-GB" altLang="en-US" sz="3200">
                <a:solidFill>
                  <a:schemeClr val="tx1"/>
                </a:solidFill>
              </a:rPr>
              <a:t> Converging Lens - Case 5: </a:t>
            </a:r>
            <a:br>
              <a:rPr lang="en-IE" altLang="en-US" sz="3200">
                <a:solidFill>
                  <a:schemeClr val="tx1"/>
                </a:solidFill>
              </a:rPr>
            </a:br>
            <a:r>
              <a:rPr lang="en-GB" altLang="en-US" sz="2800" b="1">
                <a:solidFill>
                  <a:schemeClr val="tx1"/>
                </a:solidFill>
                <a:latin typeface="Verdana" panose="020B0604030504040204" pitchFamily="34" charset="0"/>
              </a:rPr>
              <a:t>Object </a:t>
            </a:r>
            <a:r>
              <a:rPr lang="en-GB" altLang="en-US" sz="2800" b="1" u="sng">
                <a:solidFill>
                  <a:schemeClr val="tx1"/>
                </a:solidFill>
                <a:latin typeface="Verdana" panose="020B0604030504040204" pitchFamily="34" charset="0"/>
              </a:rPr>
              <a:t>INSIDE</a:t>
            </a:r>
            <a:r>
              <a:rPr lang="en-GB" altLang="en-US" sz="2800" b="1">
                <a:solidFill>
                  <a:schemeClr val="tx1"/>
                </a:solidFill>
                <a:latin typeface="Verdana" panose="020B0604030504040204" pitchFamily="34" charset="0"/>
              </a:rPr>
              <a:t> the focal point</a:t>
            </a:r>
            <a:r>
              <a:rPr lang="en-GB" altLang="en-US" sz="3200" b="1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GB" altLang="en-US" sz="3200">
                <a:solidFill>
                  <a:schemeClr val="tx1"/>
                </a:solidFill>
              </a:rPr>
              <a:t>i.e. </a:t>
            </a:r>
            <a:r>
              <a:rPr lang="en-GB" altLang="en-US" sz="3200" b="1" i="1">
                <a:solidFill>
                  <a:schemeClr val="tx1"/>
                </a:solidFill>
              </a:rPr>
              <a:t>u</a:t>
            </a:r>
            <a:r>
              <a:rPr lang="en-GB" altLang="en-US" sz="3200" b="1">
                <a:solidFill>
                  <a:schemeClr val="tx1"/>
                </a:solidFill>
              </a:rPr>
              <a:t> </a:t>
            </a:r>
            <a:r>
              <a:rPr lang="en-GB" altLang="en-US" sz="3200" b="1">
                <a:solidFill>
                  <a:schemeClr val="tx1"/>
                </a:solidFill>
                <a:sym typeface="Symbol" pitchFamily="2" charset="2"/>
              </a:rPr>
              <a:t> </a:t>
            </a:r>
            <a:r>
              <a:rPr lang="en-GB" altLang="en-US" sz="3200" b="1" i="1">
                <a:solidFill>
                  <a:schemeClr val="tx1"/>
                </a:solidFill>
                <a:sym typeface="Symbol" pitchFamily="2" charset="2"/>
              </a:rPr>
              <a:t>f</a:t>
            </a:r>
          </a:p>
        </p:txBody>
      </p:sp>
      <p:pic>
        <p:nvPicPr>
          <p:cNvPr id="107523" name="Picture 3">
            <a:extLst>
              <a:ext uri="{FF2B5EF4-FFF2-40B4-BE49-F238E27FC236}">
                <a16:creationId xmlns:a16="http://schemas.microsoft.com/office/drawing/2014/main" id="{BC1CD761-9033-7853-68C0-0AAD80F89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0"/>
            <a:ext cx="91440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9DEB0918-3394-304C-788D-C3F87ABD9F2D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3124200"/>
            <a:ext cx="4267200" cy="922338"/>
            <a:chOff x="2160" y="1968"/>
            <a:chExt cx="2688" cy="581"/>
          </a:xfrm>
        </p:grpSpPr>
        <p:grpSp>
          <p:nvGrpSpPr>
            <p:cNvPr id="30748" name="Group 5">
              <a:extLst>
                <a:ext uri="{FF2B5EF4-FFF2-40B4-BE49-F238E27FC236}">
                  <a16:creationId xmlns:a16="http://schemas.microsoft.com/office/drawing/2014/main" id="{342D3280-1901-677D-5C8D-367FF76769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1968"/>
              <a:ext cx="768" cy="161"/>
              <a:chOff x="1920" y="240"/>
              <a:chExt cx="1152" cy="0"/>
            </a:xfrm>
          </p:grpSpPr>
          <p:sp>
            <p:nvSpPr>
              <p:cNvPr id="30750" name="Line 6">
                <a:extLst>
                  <a:ext uri="{FF2B5EF4-FFF2-40B4-BE49-F238E27FC236}">
                    <a16:creationId xmlns:a16="http://schemas.microsoft.com/office/drawing/2014/main" id="{6E34BB83-6452-6C82-01D6-F7573439BC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40"/>
                <a:ext cx="11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51" name="Line 7">
                <a:extLst>
                  <a:ext uri="{FF2B5EF4-FFF2-40B4-BE49-F238E27FC236}">
                    <a16:creationId xmlns:a16="http://schemas.microsoft.com/office/drawing/2014/main" id="{A24986CB-76B5-B7BA-278A-3E0452D4E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4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749" name="Line 8">
              <a:extLst>
                <a:ext uri="{FF2B5EF4-FFF2-40B4-BE49-F238E27FC236}">
                  <a16:creationId xmlns:a16="http://schemas.microsoft.com/office/drawing/2014/main" id="{7903EFFB-0776-686A-9B92-D5D0B924C14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3021">
              <a:off x="2763" y="2495"/>
              <a:ext cx="2085" cy="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8B0C7D65-7AB3-B094-CF91-F7B2DD80F972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667000"/>
            <a:ext cx="601663" cy="1447800"/>
            <a:chOff x="432" y="1267"/>
            <a:chExt cx="444" cy="893"/>
          </a:xfrm>
        </p:grpSpPr>
        <p:sp>
          <p:nvSpPr>
            <p:cNvPr id="30746" name="Line 10">
              <a:extLst>
                <a:ext uri="{FF2B5EF4-FFF2-40B4-BE49-F238E27FC236}">
                  <a16:creationId xmlns:a16="http://schemas.microsoft.com/office/drawing/2014/main" id="{104B3736-1B6F-1337-F962-16AF8C98FE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1536"/>
              <a:ext cx="0" cy="624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7" name="Text Box 11">
              <a:extLst>
                <a:ext uri="{FF2B5EF4-FFF2-40B4-BE49-F238E27FC236}">
                  <a16:creationId xmlns:a16="http://schemas.microsoft.com/office/drawing/2014/main" id="{EE3C791A-6806-E841-D7F8-4C20F8A9A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267"/>
              <a:ext cx="44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/>
                <a:t> O</a:t>
              </a:r>
            </a:p>
          </p:txBody>
        </p:sp>
      </p:grpSp>
      <p:grpSp>
        <p:nvGrpSpPr>
          <p:cNvPr id="5" name="Group 12">
            <a:extLst>
              <a:ext uri="{FF2B5EF4-FFF2-40B4-BE49-F238E27FC236}">
                <a16:creationId xmlns:a16="http://schemas.microsoft.com/office/drawing/2014/main" id="{0D10A0AB-AEDC-375F-822B-566DA24DBF61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038600"/>
            <a:ext cx="7483475" cy="685800"/>
            <a:chOff x="528" y="2544"/>
            <a:chExt cx="4714" cy="432"/>
          </a:xfrm>
        </p:grpSpPr>
        <p:sp>
          <p:nvSpPr>
            <p:cNvPr id="30738" name="Oval 13">
              <a:extLst>
                <a:ext uri="{FF2B5EF4-FFF2-40B4-BE49-F238E27FC236}">
                  <a16:creationId xmlns:a16="http://schemas.microsoft.com/office/drawing/2014/main" id="{F57F4E50-C057-9FD6-5A18-0D6D465C9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30739" name="Text Box 14">
              <a:extLst>
                <a:ext uri="{FF2B5EF4-FFF2-40B4-BE49-F238E27FC236}">
                  <a16:creationId xmlns:a16="http://schemas.microsoft.com/office/drawing/2014/main" id="{3AE602B2-FA5C-4D0A-33DF-AC3F62FB4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640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30740" name="Text Box 15">
              <a:extLst>
                <a:ext uri="{FF2B5EF4-FFF2-40B4-BE49-F238E27FC236}">
                  <a16:creationId xmlns:a16="http://schemas.microsoft.com/office/drawing/2014/main" id="{50748365-C59E-BA35-85E6-8ABF4C758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688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30741" name="Oval 16">
              <a:extLst>
                <a:ext uri="{FF2B5EF4-FFF2-40B4-BE49-F238E27FC236}">
                  <a16:creationId xmlns:a16="http://schemas.microsoft.com/office/drawing/2014/main" id="{75860F6C-FF23-BC7D-B878-63456FAC0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30742" name="Text Box 17">
              <a:extLst>
                <a:ext uri="{FF2B5EF4-FFF2-40B4-BE49-F238E27FC236}">
                  <a16:creationId xmlns:a16="http://schemas.microsoft.com/office/drawing/2014/main" id="{CD81136D-B4D3-FE5E-3245-08324CC9B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640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2f</a:t>
              </a:r>
            </a:p>
          </p:txBody>
        </p:sp>
        <p:sp>
          <p:nvSpPr>
            <p:cNvPr id="30743" name="Oval 18">
              <a:extLst>
                <a:ext uri="{FF2B5EF4-FFF2-40B4-BE49-F238E27FC236}">
                  <a16:creationId xmlns:a16="http://schemas.microsoft.com/office/drawing/2014/main" id="{2E9FD81F-AC1A-BDC4-CA85-D935DC3BC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30744" name="Text Box 19">
              <a:extLst>
                <a:ext uri="{FF2B5EF4-FFF2-40B4-BE49-F238E27FC236}">
                  <a16:creationId xmlns:a16="http://schemas.microsoft.com/office/drawing/2014/main" id="{E4FECB1C-0204-4D28-87C5-BC7A130C91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640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30745" name="Oval 20">
              <a:extLst>
                <a:ext uri="{FF2B5EF4-FFF2-40B4-BE49-F238E27FC236}">
                  <a16:creationId xmlns:a16="http://schemas.microsoft.com/office/drawing/2014/main" id="{0CB7DCE5-69B8-AC9D-F092-33E3F84CF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</p:grpSp>
      <p:grpSp>
        <p:nvGrpSpPr>
          <p:cNvPr id="6" name="Group 21">
            <a:extLst>
              <a:ext uri="{FF2B5EF4-FFF2-40B4-BE49-F238E27FC236}">
                <a16:creationId xmlns:a16="http://schemas.microsoft.com/office/drawing/2014/main" id="{DCA92A73-1095-3BC3-15B1-16A76672DF3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3124200"/>
            <a:ext cx="3200400" cy="2895600"/>
            <a:chOff x="2160" y="1968"/>
            <a:chExt cx="2064" cy="1824"/>
          </a:xfrm>
        </p:grpSpPr>
        <p:sp>
          <p:nvSpPr>
            <p:cNvPr id="30736" name="Line 22">
              <a:extLst>
                <a:ext uri="{FF2B5EF4-FFF2-40B4-BE49-F238E27FC236}">
                  <a16:creationId xmlns:a16="http://schemas.microsoft.com/office/drawing/2014/main" id="{9273414D-0919-BC98-753E-2F8A91158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968"/>
              <a:ext cx="2064" cy="18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7" name="Line 23">
              <a:extLst>
                <a:ext uri="{FF2B5EF4-FFF2-40B4-BE49-F238E27FC236}">
                  <a16:creationId xmlns:a16="http://schemas.microsoft.com/office/drawing/2014/main" id="{E1AF1024-989D-A4D3-A66B-61345B8A2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256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544" name="Text Box 24">
            <a:extLst>
              <a:ext uri="{FF2B5EF4-FFF2-40B4-BE49-F238E27FC236}">
                <a16:creationId xmlns:a16="http://schemas.microsoft.com/office/drawing/2014/main" id="{AF850357-FF7E-4321-F9B4-3BE75A689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78563"/>
            <a:ext cx="9144000" cy="579437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IE" altLang="en-US" sz="3200" b="1">
                <a:solidFill>
                  <a:schemeClr val="bg1"/>
                </a:solidFill>
              </a:rPr>
              <a:t>The image is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</a:t>
            </a:r>
            <a:r>
              <a:rPr lang="en-IE" altLang="en-US" sz="3200" b="1">
                <a:solidFill>
                  <a:schemeClr val="bg1"/>
                </a:solidFill>
              </a:rPr>
              <a:t>Virtual,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</a:t>
            </a:r>
            <a:r>
              <a:rPr lang="en-IE" altLang="en-US" sz="3200" b="1">
                <a:solidFill>
                  <a:schemeClr val="bg1"/>
                </a:solidFill>
              </a:rPr>
              <a:t> Magnified, </a:t>
            </a:r>
            <a:r>
              <a:rPr lang="en-IE" altLang="en-US" sz="3200" b="1">
                <a:solidFill>
                  <a:srgbClr val="FFFF00"/>
                </a:solidFill>
                <a:sym typeface="Wingdings" pitchFamily="2" charset="2"/>
              </a:rPr>
              <a:t></a:t>
            </a:r>
            <a:r>
              <a:rPr lang="en-IE" altLang="en-US" sz="3200" b="1">
                <a:solidFill>
                  <a:schemeClr val="bg1"/>
                </a:solidFill>
              </a:rPr>
              <a:t> Erect.</a:t>
            </a:r>
          </a:p>
        </p:txBody>
      </p:sp>
      <p:grpSp>
        <p:nvGrpSpPr>
          <p:cNvPr id="7" name="Group 25">
            <a:extLst>
              <a:ext uri="{FF2B5EF4-FFF2-40B4-BE49-F238E27FC236}">
                <a16:creationId xmlns:a16="http://schemas.microsoft.com/office/drawing/2014/main" id="{03415EF2-466C-3E87-1A56-799FF97C2040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219200"/>
            <a:ext cx="3962400" cy="3352800"/>
            <a:chOff x="816" y="768"/>
            <a:chExt cx="2496" cy="2112"/>
          </a:xfrm>
        </p:grpSpPr>
        <p:sp>
          <p:nvSpPr>
            <p:cNvPr id="30734" name="Line 26">
              <a:extLst>
                <a:ext uri="{FF2B5EF4-FFF2-40B4-BE49-F238E27FC236}">
                  <a16:creationId xmlns:a16="http://schemas.microsoft.com/office/drawing/2014/main" id="{639031D9-6428-8584-567A-83E4A091F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816"/>
              <a:ext cx="2304" cy="20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5" name="Line 27">
              <a:extLst>
                <a:ext uri="{FF2B5EF4-FFF2-40B4-BE49-F238E27FC236}">
                  <a16:creationId xmlns:a16="http://schemas.microsoft.com/office/drawing/2014/main" id="{A3B7BC58-1438-0B7A-65EA-263CA7FE59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6" y="768"/>
              <a:ext cx="2496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28">
            <a:extLst>
              <a:ext uri="{FF2B5EF4-FFF2-40B4-BE49-F238E27FC236}">
                <a16:creationId xmlns:a16="http://schemas.microsoft.com/office/drawing/2014/main" id="{70BC88A4-7376-746D-6DA2-C2AABD526CEE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1050925"/>
            <a:ext cx="687387" cy="3063875"/>
            <a:chOff x="431" y="662"/>
            <a:chExt cx="433" cy="1930"/>
          </a:xfrm>
        </p:grpSpPr>
        <p:sp>
          <p:nvSpPr>
            <p:cNvPr id="30732" name="Text Box 29">
              <a:extLst>
                <a:ext uri="{FF2B5EF4-FFF2-40B4-BE49-F238E27FC236}">
                  <a16:creationId xmlns:a16="http://schemas.microsoft.com/office/drawing/2014/main" id="{3F321F79-FC87-05BD-366F-C3471BFE71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662"/>
              <a:ext cx="24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4000" b="1">
                  <a:solidFill>
                    <a:srgbClr val="FF3300"/>
                  </a:solidFill>
                </a:rPr>
                <a:t>I</a:t>
              </a:r>
            </a:p>
          </p:txBody>
        </p:sp>
        <p:sp>
          <p:nvSpPr>
            <p:cNvPr id="30733" name="Line 30">
              <a:extLst>
                <a:ext uri="{FF2B5EF4-FFF2-40B4-BE49-F238E27FC236}">
                  <a16:creationId xmlns:a16="http://schemas.microsoft.com/office/drawing/2014/main" id="{9BC50CD7-2E9A-1C8E-0A77-A750EABF6B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768"/>
              <a:ext cx="0" cy="1824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prstDash val="sysDot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0731" name="Picture 31">
            <a:extLst>
              <a:ext uri="{FF2B5EF4-FFF2-40B4-BE49-F238E27FC236}">
                <a16:creationId xmlns:a16="http://schemas.microsoft.com/office/drawing/2014/main" id="{9110A298-8024-0B77-2DAD-AA7706CB8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673044">
            <a:off x="7153275" y="4010025"/>
            <a:ext cx="682625" cy="292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07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2" grpId="0" autoUpdateAnimBg="0"/>
      <p:bldP spid="107544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C4E84EB-5C54-02A1-B7F5-B55E580EA9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991600" cy="1066800"/>
          </a:xfrm>
          <a:noFill/>
        </p:spPr>
        <p:txBody>
          <a:bodyPr/>
          <a:lstStyle/>
          <a:p>
            <a:pPr eaLnBrk="1" hangingPunct="1"/>
            <a:r>
              <a:rPr lang="en-IE" altLang="en-US" sz="3200" u="sng"/>
              <a:t>SPECIAL CASE:</a:t>
            </a:r>
            <a:r>
              <a:rPr lang="en-GB" altLang="en-US" sz="3200"/>
              <a:t>Converging Lens – Case 5</a:t>
            </a:r>
            <a:r>
              <a:rPr lang="en-IE" altLang="en-US" sz="3200"/>
              <a:t> </a:t>
            </a:r>
            <a:r>
              <a:rPr lang="en-GB" altLang="en-US" sz="2800" b="1">
                <a:latin typeface="Verdana" panose="020B0604030504040204" pitchFamily="34" charset="0"/>
              </a:rPr>
              <a:t>Object </a:t>
            </a:r>
            <a:r>
              <a:rPr lang="en-GB" altLang="en-US" sz="2800" b="1" u="sng">
                <a:latin typeface="Verdana" panose="020B0604030504040204" pitchFamily="34" charset="0"/>
              </a:rPr>
              <a:t>INSIDE</a:t>
            </a:r>
            <a:r>
              <a:rPr lang="en-GB" altLang="en-US" sz="2800" b="1">
                <a:latin typeface="Verdana" panose="020B0604030504040204" pitchFamily="34" charset="0"/>
              </a:rPr>
              <a:t> the focal point</a:t>
            </a:r>
            <a:r>
              <a:rPr lang="en-GB" altLang="en-US" sz="3200" b="1">
                <a:latin typeface="Verdana" panose="020B0604030504040204" pitchFamily="34" charset="0"/>
              </a:rPr>
              <a:t> </a:t>
            </a:r>
            <a:r>
              <a:rPr lang="en-GB" altLang="en-US" sz="3200"/>
              <a:t>i.e. </a:t>
            </a:r>
            <a:r>
              <a:rPr lang="en-GB" altLang="en-US" sz="3200" b="1" i="1"/>
              <a:t>u</a:t>
            </a:r>
            <a:r>
              <a:rPr lang="en-GB" altLang="en-US" sz="3200" b="1"/>
              <a:t> </a:t>
            </a:r>
            <a:r>
              <a:rPr lang="en-GB" altLang="en-US" sz="3200" b="1">
                <a:sym typeface="Symbol" pitchFamily="2" charset="2"/>
              </a:rPr>
              <a:t> </a:t>
            </a:r>
            <a:r>
              <a:rPr lang="en-GB" altLang="en-US" sz="3200" b="1" i="1">
                <a:sym typeface="Symbol" pitchFamily="2" charset="2"/>
              </a:rPr>
              <a:t>f</a:t>
            </a:r>
            <a:endParaRPr lang="en-IE" altLang="en-US" sz="3200" b="1" i="1">
              <a:sym typeface="Symbol" pitchFamily="2" charset="2"/>
            </a:endParaRPr>
          </a:p>
        </p:txBody>
      </p:sp>
      <p:sp>
        <p:nvSpPr>
          <p:cNvPr id="31747" name="Text Box 3">
            <a:extLst>
              <a:ext uri="{FF2B5EF4-FFF2-40B4-BE49-F238E27FC236}">
                <a16:creationId xmlns:a16="http://schemas.microsoft.com/office/drawing/2014/main" id="{86255A51-4EE0-DAD8-7CB5-CFD209DE1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883275"/>
            <a:ext cx="8312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IE" altLang="en-US" sz="3600" b="1">
                <a:solidFill>
                  <a:schemeClr val="bg1"/>
                </a:solidFill>
              </a:rPr>
              <a:t>The image is virtual, erect and magnified.</a:t>
            </a:r>
          </a:p>
        </p:txBody>
      </p:sp>
      <p:pic>
        <p:nvPicPr>
          <p:cNvPr id="31748" name="Picture 4">
            <a:extLst>
              <a:ext uri="{FF2B5EF4-FFF2-40B4-BE49-F238E27FC236}">
                <a16:creationId xmlns:a16="http://schemas.microsoft.com/office/drawing/2014/main" id="{482BE5CB-1FBA-B39B-727E-58E88B778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1"/>
          <a:stretch>
            <a:fillRect/>
          </a:stretch>
        </p:blipFill>
        <p:spPr bwMode="auto">
          <a:xfrm>
            <a:off x="685800" y="1905000"/>
            <a:ext cx="7567613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Line 5">
            <a:extLst>
              <a:ext uri="{FF2B5EF4-FFF2-40B4-BE49-F238E27FC236}">
                <a16:creationId xmlns:a16="http://schemas.microsoft.com/office/drawing/2014/main" id="{AB241FEC-B0FE-B964-D842-D788114C19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286000"/>
            <a:ext cx="0" cy="1981200"/>
          </a:xfrm>
          <a:prstGeom prst="line">
            <a:avLst/>
          </a:prstGeom>
          <a:noFill/>
          <a:ln w="76200">
            <a:solidFill>
              <a:srgbClr val="FF3300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B744443-0F7B-94B1-FA46-D4254EBB4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0" y="381000"/>
            <a:ext cx="5334000" cy="5334000"/>
          </a:xfrm>
        </p:spPr>
        <p:txBody>
          <a:bodyPr/>
          <a:lstStyle/>
          <a:p>
            <a:pPr eaLnBrk="1" hangingPunct="1"/>
            <a:r>
              <a:rPr lang="en-GB" altLang="en-US"/>
              <a:t>Converging Lens – Case 5:</a:t>
            </a:r>
            <a:br>
              <a:rPr lang="en-GB" altLang="en-US"/>
            </a:br>
            <a:r>
              <a:rPr lang="en-GB" altLang="en-US"/>
              <a:t>Object inside f </a:t>
            </a:r>
            <a:br>
              <a:rPr lang="en-GB" altLang="en-US"/>
            </a:br>
            <a:br>
              <a:rPr lang="en-GB" altLang="en-US"/>
            </a:br>
            <a:r>
              <a:rPr lang="en-GB" altLang="en-US"/>
              <a:t>This is called a</a:t>
            </a:r>
            <a:br>
              <a:rPr lang="en-GB" altLang="en-US"/>
            </a:br>
            <a:br>
              <a:rPr lang="en-GB" altLang="en-US"/>
            </a:br>
            <a:r>
              <a:rPr lang="en-IE" altLang="en-US"/>
              <a:t> </a:t>
            </a:r>
            <a:r>
              <a:rPr lang="en-IE" altLang="en-US" u="sng"/>
              <a:t>Simple Microscope</a:t>
            </a:r>
            <a:br>
              <a:rPr lang="en-IE" altLang="en-US"/>
            </a:br>
            <a:r>
              <a:rPr lang="en-IE" altLang="en-US" i="1"/>
              <a:t>or</a:t>
            </a:r>
            <a:br>
              <a:rPr lang="en-IE" altLang="en-US"/>
            </a:br>
            <a:r>
              <a:rPr lang="en-IE" altLang="en-US" u="sng"/>
              <a:t>Magnifying Glass</a:t>
            </a:r>
            <a:r>
              <a:rPr lang="en-IE" altLang="en-US"/>
              <a:t> </a:t>
            </a:r>
          </a:p>
        </p:txBody>
      </p:sp>
      <p:pic>
        <p:nvPicPr>
          <p:cNvPr id="32771" name="Picture 3" descr="C:\WINDOWS\Desktop\Physics 1      O'Regan\O'Regan Chapter 05 - Lenses\SimpleMIcroscope1.JPG">
            <a:extLst>
              <a:ext uri="{FF2B5EF4-FFF2-40B4-BE49-F238E27FC236}">
                <a16:creationId xmlns:a16="http://schemas.microsoft.com/office/drawing/2014/main" id="{64709A2A-8D25-3FB5-1724-AC4497091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3419475" cy="308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Text Box 4">
            <a:extLst>
              <a:ext uri="{FF2B5EF4-FFF2-40B4-BE49-F238E27FC236}">
                <a16:creationId xmlns:a16="http://schemas.microsoft.com/office/drawing/2014/main" id="{8AD81D1E-0157-7EA9-8DDB-D88BAA19B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6305550"/>
            <a:ext cx="8474075" cy="579438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IE" altLang="en-US" sz="3200" b="1"/>
              <a:t>N.B.  The image is </a:t>
            </a:r>
            <a:r>
              <a:rPr lang="en-IE" altLang="en-US" sz="3200" b="1" u="sng"/>
              <a:t>virtual</a:t>
            </a:r>
            <a:r>
              <a:rPr lang="en-IE" altLang="en-US" sz="3200" b="1"/>
              <a:t>, </a:t>
            </a:r>
            <a:r>
              <a:rPr lang="en-IE" altLang="en-US" sz="3200" b="1" u="sng"/>
              <a:t>erect</a:t>
            </a:r>
            <a:r>
              <a:rPr lang="en-IE" altLang="en-US" sz="3200" b="1"/>
              <a:t> and </a:t>
            </a:r>
            <a:r>
              <a:rPr lang="en-IE" altLang="en-US" sz="3200" b="1" u="sng"/>
              <a:t>magnified</a:t>
            </a:r>
            <a:r>
              <a:rPr lang="en-IE" altLang="en-US" sz="3200" b="1"/>
              <a:t>.</a:t>
            </a:r>
            <a:endParaRPr lang="en-GB" altLang="en-US" sz="3200"/>
          </a:p>
        </p:txBody>
      </p:sp>
      <p:pic>
        <p:nvPicPr>
          <p:cNvPr id="32773" name="Picture 1027" descr="C:\science &amp; maths\physics\pics\convex lens.jpg">
            <a:extLst>
              <a:ext uri="{FF2B5EF4-FFF2-40B4-BE49-F238E27FC236}">
                <a16:creationId xmlns:a16="http://schemas.microsoft.com/office/drawing/2014/main" id="{2C2A8B0D-5FD2-F653-7B27-820740A4D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46438"/>
            <a:ext cx="3419475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7B05DA-2A21-D7A9-78AD-991BD90CA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17742"/>
            <a:ext cx="7886700" cy="2569462"/>
          </a:xfrm>
        </p:spPr>
        <p:txBody>
          <a:bodyPr>
            <a:normAutofit/>
          </a:bodyPr>
          <a:lstStyle/>
          <a:p>
            <a:r>
              <a:rPr lang="en-IE" altLang="en-US" sz="8800" dirty="0"/>
              <a:t>Lens Formula</a:t>
            </a:r>
            <a:endParaRPr lang="en-GB" sz="8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16CFE4-950E-5179-ED9A-44D84560FCDF}"/>
                  </a:ext>
                </a:extLst>
              </p:cNvPr>
              <p:cNvSpPr txBox="1"/>
              <p:nvPr/>
            </p:nvSpPr>
            <p:spPr>
              <a:xfrm>
                <a:off x="2083981" y="3438572"/>
                <a:ext cx="4976038" cy="2368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7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7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7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GB" sz="7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7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7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7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GB" sz="7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7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7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7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16CFE4-950E-5179-ED9A-44D84560F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981" y="3438572"/>
                <a:ext cx="4976038" cy="23681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581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D41FF-1638-5B29-98B6-649D34006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6C8269B7-ACB7-F50D-D0B9-CF4981D6B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z="3600" b="1" dirty="0"/>
              <a:t>What is the lens formula</a:t>
            </a:r>
            <a:endParaRPr lang="en-GB" altLang="en-US" sz="3600" b="1" dirty="0"/>
          </a:p>
        </p:txBody>
      </p:sp>
      <p:sp>
        <p:nvSpPr>
          <p:cNvPr id="15367" name="Text Box 14">
            <a:extLst>
              <a:ext uri="{FF2B5EF4-FFF2-40B4-BE49-F238E27FC236}">
                <a16:creationId xmlns:a16="http://schemas.microsoft.com/office/drawing/2014/main" id="{BE4CEA84-A3CD-A899-74D0-84A0E30B5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744" y="4605756"/>
            <a:ext cx="787193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800" i="1" dirty="0">
                <a:latin typeface="Times New Roman" panose="02020603050405020304" pitchFamily="18" charset="0"/>
              </a:rPr>
              <a:t>u</a:t>
            </a:r>
            <a:r>
              <a:rPr lang="en-GB" altLang="en-US" sz="2800" b="0" i="1" dirty="0">
                <a:latin typeface="Times New Roman" panose="02020603050405020304" pitchFamily="18" charset="0"/>
              </a:rPr>
              <a:t> </a:t>
            </a:r>
            <a:r>
              <a:rPr lang="en-GB" altLang="en-US" sz="2800" b="0" dirty="0"/>
              <a:t>= distance from object to the optic centre.</a:t>
            </a:r>
          </a:p>
          <a:p>
            <a:pPr eaLnBrk="1" hangingPunct="1"/>
            <a:r>
              <a:rPr lang="en-GB" altLang="en-US" sz="2800" i="1" dirty="0">
                <a:latin typeface="Times New Roman" panose="02020603050405020304" pitchFamily="18" charset="0"/>
              </a:rPr>
              <a:t>v</a:t>
            </a:r>
            <a:r>
              <a:rPr lang="en-GB" altLang="en-US" sz="2800" dirty="0">
                <a:latin typeface="Times New Roman" panose="02020603050405020304" pitchFamily="18" charset="0"/>
              </a:rPr>
              <a:t> </a:t>
            </a:r>
            <a:r>
              <a:rPr lang="en-GB" altLang="en-US" sz="2800" b="0" dirty="0"/>
              <a:t>= distance from image to the optic centre. </a:t>
            </a:r>
          </a:p>
          <a:p>
            <a:pPr eaLnBrk="1" hangingPunct="1"/>
            <a:r>
              <a:rPr lang="en-GB" altLang="en-US" sz="2800" i="1" dirty="0">
                <a:latin typeface="Times New Roman" panose="02020603050405020304" pitchFamily="18" charset="0"/>
              </a:rPr>
              <a:t>f</a:t>
            </a:r>
            <a:r>
              <a:rPr lang="en-GB" altLang="en-US" sz="2800" dirty="0">
                <a:latin typeface="Times New Roman" panose="02020603050405020304" pitchFamily="18" charset="0"/>
              </a:rPr>
              <a:t> </a:t>
            </a:r>
            <a:r>
              <a:rPr lang="en-GB" altLang="en-US" sz="2800" b="0" dirty="0">
                <a:latin typeface="Times New Roman" panose="02020603050405020304" pitchFamily="18" charset="0"/>
              </a:rPr>
              <a:t> </a:t>
            </a:r>
            <a:r>
              <a:rPr lang="en-GB" altLang="en-US" sz="2800" b="0" dirty="0"/>
              <a:t>= Focal Length of the lens.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9" name="Object 4">
                <a:extLst>
                  <a:ext uri="{FF2B5EF4-FFF2-40B4-BE49-F238E27FC236}">
                    <a16:creationId xmlns:a16="http://schemas.microsoft.com/office/drawing/2014/main" id="{19BB68F0-40F6-800C-3275-B82399F2FABA}"/>
                  </a:ext>
                </a:extLst>
              </p:cNvPr>
              <p:cNvSpPr txBox="1"/>
              <p:nvPr/>
            </p:nvSpPr>
            <p:spPr bwMode="auto">
              <a:xfrm>
                <a:off x="2641744" y="997313"/>
                <a:ext cx="2808311" cy="1495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GB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GB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5369" name="Object 4">
                <a:extLst>
                  <a:ext uri="{FF2B5EF4-FFF2-40B4-BE49-F238E27FC236}">
                    <a16:creationId xmlns:a16="http://schemas.microsoft.com/office/drawing/2014/main" id="{19BB68F0-40F6-800C-3275-B82399F2F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1744" y="997313"/>
                <a:ext cx="2808311" cy="1495425"/>
              </a:xfrm>
              <a:prstGeom prst="rect">
                <a:avLst/>
              </a:prstGeom>
              <a:blipFill>
                <a:blip r:embed="rId3"/>
                <a:stretch>
                  <a:fillRect l="-2242" b="-25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714041C-5773-80F7-3C9D-DBEDC0C16CE5}"/>
              </a:ext>
            </a:extLst>
          </p:cNvPr>
          <p:cNvCxnSpPr>
            <a:cxnSpLocks/>
          </p:cNvCxnSpPr>
          <p:nvPr/>
        </p:nvCxnSpPr>
        <p:spPr bwMode="auto">
          <a:xfrm>
            <a:off x="1877667" y="4014272"/>
            <a:ext cx="21081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7976B3E-91B8-35BA-2A9E-BCE78CC85CD5}"/>
              </a:ext>
            </a:extLst>
          </p:cNvPr>
          <p:cNvCxnSpPr>
            <a:cxnSpLocks/>
          </p:cNvCxnSpPr>
          <p:nvPr/>
        </p:nvCxnSpPr>
        <p:spPr bwMode="auto">
          <a:xfrm flipV="1">
            <a:off x="3993578" y="4014272"/>
            <a:ext cx="3075192" cy="16841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205F49B-1A0A-FC81-8409-CF677225F28C}"/>
              </a:ext>
            </a:extLst>
          </p:cNvPr>
          <p:cNvSpPr/>
          <p:nvPr/>
        </p:nvSpPr>
        <p:spPr bwMode="auto">
          <a:xfrm>
            <a:off x="3870659" y="3024958"/>
            <a:ext cx="245839" cy="795663"/>
          </a:xfrm>
          <a:custGeom>
            <a:avLst/>
            <a:gdLst>
              <a:gd name="connsiteX0" fmla="*/ 191386 w 627321"/>
              <a:gd name="connsiteY0" fmla="*/ 0 h 2519916"/>
              <a:gd name="connsiteX1" fmla="*/ 627321 w 627321"/>
              <a:gd name="connsiteY1" fmla="*/ 2519916 h 2519916"/>
              <a:gd name="connsiteX2" fmla="*/ 0 w 627321"/>
              <a:gd name="connsiteY2" fmla="*/ 2509283 h 2519916"/>
              <a:gd name="connsiteX3" fmla="*/ 191386 w 627321"/>
              <a:gd name="connsiteY3" fmla="*/ 0 h 2519916"/>
              <a:gd name="connsiteX0" fmla="*/ 191386 w 191386"/>
              <a:gd name="connsiteY0" fmla="*/ 0 h 2509283"/>
              <a:gd name="connsiteX1" fmla="*/ 0 w 191386"/>
              <a:gd name="connsiteY1" fmla="*/ 2509283 h 2509283"/>
              <a:gd name="connsiteX2" fmla="*/ 191386 w 191386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191386 w 282600"/>
              <a:gd name="connsiteY0" fmla="*/ 0 h 2509283"/>
              <a:gd name="connsiteX1" fmla="*/ 0 w 282600"/>
              <a:gd name="connsiteY1" fmla="*/ 2509283 h 2509283"/>
              <a:gd name="connsiteX2" fmla="*/ 191386 w 282600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242724 w 272066"/>
              <a:gd name="connsiteY0" fmla="*/ 0 h 2509283"/>
              <a:gd name="connsiteX1" fmla="*/ 51338 w 272066"/>
              <a:gd name="connsiteY1" fmla="*/ 2509283 h 2509283"/>
              <a:gd name="connsiteX2" fmla="*/ 242724 w 272066"/>
              <a:gd name="connsiteY2" fmla="*/ 0 h 2509283"/>
              <a:gd name="connsiteX0" fmla="*/ 242724 w 431108"/>
              <a:gd name="connsiteY0" fmla="*/ 0 h 2509283"/>
              <a:gd name="connsiteX1" fmla="*/ 51338 w 431108"/>
              <a:gd name="connsiteY1" fmla="*/ 2509283 h 2509283"/>
              <a:gd name="connsiteX2" fmla="*/ 242724 w 431108"/>
              <a:gd name="connsiteY2" fmla="*/ 0 h 2509283"/>
              <a:gd name="connsiteX0" fmla="*/ 198091 w 442874"/>
              <a:gd name="connsiteY0" fmla="*/ 0 h 2488018"/>
              <a:gd name="connsiteX1" fmla="*/ 144928 w 442874"/>
              <a:gd name="connsiteY1" fmla="*/ 2488018 h 2488018"/>
              <a:gd name="connsiteX2" fmla="*/ 198091 w 442874"/>
              <a:gd name="connsiteY2" fmla="*/ 0 h 2488018"/>
              <a:gd name="connsiteX0" fmla="*/ 258630 w 503413"/>
              <a:gd name="connsiteY0" fmla="*/ 0 h 2488018"/>
              <a:gd name="connsiteX1" fmla="*/ 205467 w 503413"/>
              <a:gd name="connsiteY1" fmla="*/ 2488018 h 2488018"/>
              <a:gd name="connsiteX2" fmla="*/ 258630 w 503413"/>
              <a:gd name="connsiteY2" fmla="*/ 0 h 2488018"/>
              <a:gd name="connsiteX0" fmla="*/ 258630 w 434490"/>
              <a:gd name="connsiteY0" fmla="*/ 0 h 2488018"/>
              <a:gd name="connsiteX1" fmla="*/ 205467 w 434490"/>
              <a:gd name="connsiteY1" fmla="*/ 2488018 h 2488018"/>
              <a:gd name="connsiteX2" fmla="*/ 258630 w 434490"/>
              <a:gd name="connsiteY2" fmla="*/ 0 h 2488018"/>
              <a:gd name="connsiteX0" fmla="*/ 242605 w 433746"/>
              <a:gd name="connsiteY0" fmla="*/ 0 h 2668772"/>
              <a:gd name="connsiteX1" fmla="*/ 231972 w 433746"/>
              <a:gd name="connsiteY1" fmla="*/ 2668772 h 2668772"/>
              <a:gd name="connsiteX2" fmla="*/ 242605 w 433746"/>
              <a:gd name="connsiteY2" fmla="*/ 0 h 2668772"/>
              <a:gd name="connsiteX0" fmla="*/ 179477 w 370618"/>
              <a:gd name="connsiteY0" fmla="*/ 0 h 2668772"/>
              <a:gd name="connsiteX1" fmla="*/ 168844 w 370618"/>
              <a:gd name="connsiteY1" fmla="*/ 2668772 h 2668772"/>
              <a:gd name="connsiteX2" fmla="*/ 179477 w 370618"/>
              <a:gd name="connsiteY2" fmla="*/ 0 h 2668772"/>
              <a:gd name="connsiteX0" fmla="*/ 179477 w 326609"/>
              <a:gd name="connsiteY0" fmla="*/ 0 h 2668772"/>
              <a:gd name="connsiteX1" fmla="*/ 168844 w 326609"/>
              <a:gd name="connsiteY1" fmla="*/ 2668772 h 2668772"/>
              <a:gd name="connsiteX2" fmla="*/ 179477 w 326609"/>
              <a:gd name="connsiteY2" fmla="*/ 0 h 2668772"/>
              <a:gd name="connsiteX0" fmla="*/ 179477 w 322355"/>
              <a:gd name="connsiteY0" fmla="*/ 0 h 2668772"/>
              <a:gd name="connsiteX1" fmla="*/ 168844 w 322355"/>
              <a:gd name="connsiteY1" fmla="*/ 2668772 h 2668772"/>
              <a:gd name="connsiteX2" fmla="*/ 179477 w 322355"/>
              <a:gd name="connsiteY2" fmla="*/ 0 h 2668772"/>
              <a:gd name="connsiteX0" fmla="*/ 157761 w 300639"/>
              <a:gd name="connsiteY0" fmla="*/ 0 h 2668772"/>
              <a:gd name="connsiteX1" fmla="*/ 147128 w 300639"/>
              <a:gd name="connsiteY1" fmla="*/ 2668772 h 2668772"/>
              <a:gd name="connsiteX2" fmla="*/ 157761 w 300639"/>
              <a:gd name="connsiteY2" fmla="*/ 0 h 2668772"/>
              <a:gd name="connsiteX0" fmla="*/ 144523 w 302708"/>
              <a:gd name="connsiteY0" fmla="*/ 0 h 2668772"/>
              <a:gd name="connsiteX1" fmla="*/ 165788 w 302708"/>
              <a:gd name="connsiteY1" fmla="*/ 2668772 h 2668772"/>
              <a:gd name="connsiteX2" fmla="*/ 144523 w 302708"/>
              <a:gd name="connsiteY2" fmla="*/ 0 h 2668772"/>
              <a:gd name="connsiteX0" fmla="*/ 141246 w 299431"/>
              <a:gd name="connsiteY0" fmla="*/ 0 h 2668772"/>
              <a:gd name="connsiteX1" fmla="*/ 162511 w 299431"/>
              <a:gd name="connsiteY1" fmla="*/ 2668772 h 2668772"/>
              <a:gd name="connsiteX2" fmla="*/ 141246 w 299431"/>
              <a:gd name="connsiteY2" fmla="*/ 0 h 2668772"/>
              <a:gd name="connsiteX0" fmla="*/ 141246 w 295417"/>
              <a:gd name="connsiteY0" fmla="*/ 0 h 2668772"/>
              <a:gd name="connsiteX1" fmla="*/ 162511 w 295417"/>
              <a:gd name="connsiteY1" fmla="*/ 2668772 h 2668772"/>
              <a:gd name="connsiteX2" fmla="*/ 141246 w 295417"/>
              <a:gd name="connsiteY2" fmla="*/ 0 h 2668772"/>
              <a:gd name="connsiteX0" fmla="*/ 174134 w 296321"/>
              <a:gd name="connsiteY0" fmla="*/ 0 h 2690037"/>
              <a:gd name="connsiteX1" fmla="*/ 120972 w 296321"/>
              <a:gd name="connsiteY1" fmla="*/ 2690037 h 2690037"/>
              <a:gd name="connsiteX2" fmla="*/ 174134 w 296321"/>
              <a:gd name="connsiteY2" fmla="*/ 0 h 2690037"/>
              <a:gd name="connsiteX0" fmla="*/ 141244 w 295416"/>
              <a:gd name="connsiteY0" fmla="*/ 0 h 2690037"/>
              <a:gd name="connsiteX1" fmla="*/ 162510 w 295416"/>
              <a:gd name="connsiteY1" fmla="*/ 2690037 h 2690037"/>
              <a:gd name="connsiteX2" fmla="*/ 141244 w 295416"/>
              <a:gd name="connsiteY2" fmla="*/ 0 h 2690037"/>
              <a:gd name="connsiteX0" fmla="*/ 110167 w 264339"/>
              <a:gd name="connsiteY0" fmla="*/ 0 h 2690037"/>
              <a:gd name="connsiteX1" fmla="*/ 131433 w 264339"/>
              <a:gd name="connsiteY1" fmla="*/ 2690037 h 2690037"/>
              <a:gd name="connsiteX2" fmla="*/ 110167 w 264339"/>
              <a:gd name="connsiteY2" fmla="*/ 0 h 2690037"/>
              <a:gd name="connsiteX0" fmla="*/ 117454 w 271626"/>
              <a:gd name="connsiteY0" fmla="*/ 0 h 2690037"/>
              <a:gd name="connsiteX1" fmla="*/ 138720 w 271626"/>
              <a:gd name="connsiteY1" fmla="*/ 2690037 h 2690037"/>
              <a:gd name="connsiteX2" fmla="*/ 117454 w 271626"/>
              <a:gd name="connsiteY2" fmla="*/ 0 h 2690037"/>
              <a:gd name="connsiteX0" fmla="*/ 117454 w 267667"/>
              <a:gd name="connsiteY0" fmla="*/ 0 h 2690037"/>
              <a:gd name="connsiteX1" fmla="*/ 138720 w 267667"/>
              <a:gd name="connsiteY1" fmla="*/ 2690037 h 2690037"/>
              <a:gd name="connsiteX2" fmla="*/ 117454 w 267667"/>
              <a:gd name="connsiteY2" fmla="*/ 0 h 269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667" h="2690037">
                <a:moveTo>
                  <a:pt x="117454" y="0"/>
                </a:moveTo>
                <a:cubicBezTo>
                  <a:pt x="330105" y="698204"/>
                  <a:pt x="298207" y="2076893"/>
                  <a:pt x="138720" y="2690037"/>
                </a:cubicBezTo>
                <a:cubicBezTo>
                  <a:pt x="-31401" y="2044995"/>
                  <a:pt x="-52666" y="730102"/>
                  <a:pt x="117454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91CD0A-C3DA-C0E4-2CB9-619DCD6EC15B}"/>
                  </a:ext>
                </a:extLst>
              </p:cNvPr>
              <p:cNvSpPr txBox="1"/>
              <p:nvPr/>
            </p:nvSpPr>
            <p:spPr>
              <a:xfrm>
                <a:off x="2660974" y="3482067"/>
                <a:ext cx="544573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</m:oMath>
                  </m:oMathPara>
                </a14:m>
                <a:endParaRPr lang="en-GB" sz="32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91CD0A-C3DA-C0E4-2CB9-619DCD6EC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974" y="3482067"/>
                <a:ext cx="544573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34409C-2F63-B61C-9ECA-3BE5C12B6FB1}"/>
                  </a:ext>
                </a:extLst>
              </p:cNvPr>
              <p:cNvSpPr txBox="1"/>
              <p:nvPr/>
            </p:nvSpPr>
            <p:spPr>
              <a:xfrm>
                <a:off x="5358224" y="3482067"/>
                <a:ext cx="533351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𝑣</m:t>
                      </m:r>
                    </m:oMath>
                  </m:oMathPara>
                </a14:m>
                <a:endParaRPr lang="en-GB" sz="32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34409C-2F63-B61C-9ECA-3BE5C12B6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224" y="3482067"/>
                <a:ext cx="533351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Down 9">
            <a:extLst>
              <a:ext uri="{FF2B5EF4-FFF2-40B4-BE49-F238E27FC236}">
                <a16:creationId xmlns:a16="http://schemas.microsoft.com/office/drawing/2014/main" id="{8158C627-E8AD-CE8F-3FA9-E00ACA0615FF}"/>
              </a:ext>
            </a:extLst>
          </p:cNvPr>
          <p:cNvSpPr/>
          <p:nvPr/>
        </p:nvSpPr>
        <p:spPr>
          <a:xfrm flipV="1">
            <a:off x="1877483" y="3198368"/>
            <a:ext cx="245839" cy="383236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CC0DF56-EC95-A69A-C82E-831C4C75C513}"/>
              </a:ext>
            </a:extLst>
          </p:cNvPr>
          <p:cNvSpPr/>
          <p:nvPr/>
        </p:nvSpPr>
        <p:spPr>
          <a:xfrm>
            <a:off x="6865960" y="3101716"/>
            <a:ext cx="287682" cy="677108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52840A-B43C-6CBE-ACAF-170B45CE39C6}"/>
              </a:ext>
            </a:extLst>
          </p:cNvPr>
          <p:cNvSpPr txBox="1"/>
          <p:nvPr/>
        </p:nvSpPr>
        <p:spPr>
          <a:xfrm>
            <a:off x="631178" y="3127432"/>
            <a:ext cx="132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Object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99F41C-EB3D-FA2F-60ED-54EA82AD1997}"/>
              </a:ext>
            </a:extLst>
          </p:cNvPr>
          <p:cNvSpPr txBox="1"/>
          <p:nvPr/>
        </p:nvSpPr>
        <p:spPr>
          <a:xfrm>
            <a:off x="7153642" y="3058384"/>
            <a:ext cx="1184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D62A344-07F7-34E3-D7FD-AF8029B7D830}"/>
              </a:ext>
            </a:extLst>
          </p:cNvPr>
          <p:cNvCxnSpPr>
            <a:cxnSpLocks/>
          </p:cNvCxnSpPr>
          <p:nvPr/>
        </p:nvCxnSpPr>
        <p:spPr>
          <a:xfrm flipH="1">
            <a:off x="3985767" y="3778824"/>
            <a:ext cx="9774" cy="60974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53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7" grpId="0"/>
      <p:bldP spid="15369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D41FF-1638-5B29-98B6-649D34006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6C8269B7-ACB7-F50D-D0B9-CF4981D6B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 sz="3600" b="1" dirty="0"/>
              <a:t>What is the lens formula</a:t>
            </a:r>
            <a:endParaRPr lang="en-GB" altLang="en-US" sz="3600" b="1" dirty="0"/>
          </a:p>
        </p:txBody>
      </p:sp>
      <p:sp>
        <p:nvSpPr>
          <p:cNvPr id="15367" name="Text Box 14">
            <a:extLst>
              <a:ext uri="{FF2B5EF4-FFF2-40B4-BE49-F238E27FC236}">
                <a16:creationId xmlns:a16="http://schemas.microsoft.com/office/drawing/2014/main" id="{BE4CEA84-A3CD-A899-74D0-84A0E30B5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744" y="4605756"/>
            <a:ext cx="787193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2800" i="1" dirty="0">
                <a:latin typeface="Times New Roman" panose="02020603050405020304" pitchFamily="18" charset="0"/>
              </a:rPr>
              <a:t>u</a:t>
            </a:r>
            <a:r>
              <a:rPr lang="en-GB" altLang="en-US" sz="2800" b="0" i="1" dirty="0">
                <a:latin typeface="Times New Roman" panose="02020603050405020304" pitchFamily="18" charset="0"/>
              </a:rPr>
              <a:t> </a:t>
            </a:r>
            <a:r>
              <a:rPr lang="en-GB" altLang="en-US" sz="2800" b="0" dirty="0"/>
              <a:t>= distance from object to the optic centre.</a:t>
            </a:r>
          </a:p>
          <a:p>
            <a:pPr eaLnBrk="1" hangingPunct="1"/>
            <a:r>
              <a:rPr lang="en-GB" altLang="en-US" sz="2800" i="1" dirty="0">
                <a:latin typeface="Times New Roman" panose="02020603050405020304" pitchFamily="18" charset="0"/>
              </a:rPr>
              <a:t>v</a:t>
            </a:r>
            <a:r>
              <a:rPr lang="en-GB" altLang="en-US" sz="2800" dirty="0">
                <a:latin typeface="Times New Roman" panose="02020603050405020304" pitchFamily="18" charset="0"/>
              </a:rPr>
              <a:t> </a:t>
            </a:r>
            <a:r>
              <a:rPr lang="en-GB" altLang="en-US" sz="2800" b="0" dirty="0"/>
              <a:t>= distance from image to the optic centre. </a:t>
            </a:r>
          </a:p>
          <a:p>
            <a:pPr eaLnBrk="1" hangingPunct="1"/>
            <a:r>
              <a:rPr lang="en-GB" altLang="en-US" sz="2800" i="1" dirty="0">
                <a:latin typeface="Times New Roman" panose="02020603050405020304" pitchFamily="18" charset="0"/>
              </a:rPr>
              <a:t>f</a:t>
            </a:r>
            <a:r>
              <a:rPr lang="en-GB" altLang="en-US" sz="2800" dirty="0">
                <a:latin typeface="Times New Roman" panose="02020603050405020304" pitchFamily="18" charset="0"/>
              </a:rPr>
              <a:t> </a:t>
            </a:r>
            <a:r>
              <a:rPr lang="en-GB" altLang="en-US" sz="2800" b="0" dirty="0">
                <a:latin typeface="Times New Roman" panose="02020603050405020304" pitchFamily="18" charset="0"/>
              </a:rPr>
              <a:t> </a:t>
            </a:r>
            <a:r>
              <a:rPr lang="en-GB" altLang="en-US" sz="2800" b="0" dirty="0"/>
              <a:t>= Focal Length of the lens.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9" name="Object 4">
                <a:extLst>
                  <a:ext uri="{FF2B5EF4-FFF2-40B4-BE49-F238E27FC236}">
                    <a16:creationId xmlns:a16="http://schemas.microsoft.com/office/drawing/2014/main" id="{19BB68F0-40F6-800C-3275-B82399F2FABA}"/>
                  </a:ext>
                </a:extLst>
              </p:cNvPr>
              <p:cNvSpPr txBox="1"/>
              <p:nvPr/>
            </p:nvSpPr>
            <p:spPr bwMode="auto">
              <a:xfrm>
                <a:off x="2641744" y="997313"/>
                <a:ext cx="2808311" cy="1495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GB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GB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5369" name="Object 4">
                <a:extLst>
                  <a:ext uri="{FF2B5EF4-FFF2-40B4-BE49-F238E27FC236}">
                    <a16:creationId xmlns:a16="http://schemas.microsoft.com/office/drawing/2014/main" id="{19BB68F0-40F6-800C-3275-B82399F2F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1744" y="997313"/>
                <a:ext cx="2808311" cy="1495425"/>
              </a:xfrm>
              <a:prstGeom prst="rect">
                <a:avLst/>
              </a:prstGeom>
              <a:blipFill>
                <a:blip r:embed="rId3"/>
                <a:stretch>
                  <a:fillRect l="-2242" b="-25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714041C-5773-80F7-3C9D-DBEDC0C16CE5}"/>
              </a:ext>
            </a:extLst>
          </p:cNvPr>
          <p:cNvCxnSpPr>
            <a:cxnSpLocks/>
          </p:cNvCxnSpPr>
          <p:nvPr/>
        </p:nvCxnSpPr>
        <p:spPr bwMode="auto">
          <a:xfrm>
            <a:off x="1877667" y="4014272"/>
            <a:ext cx="21081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7976B3E-91B8-35BA-2A9E-BCE78CC85CD5}"/>
              </a:ext>
            </a:extLst>
          </p:cNvPr>
          <p:cNvCxnSpPr>
            <a:cxnSpLocks/>
          </p:cNvCxnSpPr>
          <p:nvPr/>
        </p:nvCxnSpPr>
        <p:spPr bwMode="auto">
          <a:xfrm flipV="1">
            <a:off x="3993578" y="4014272"/>
            <a:ext cx="3075192" cy="16841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205F49B-1A0A-FC81-8409-CF677225F28C}"/>
              </a:ext>
            </a:extLst>
          </p:cNvPr>
          <p:cNvSpPr/>
          <p:nvPr/>
        </p:nvSpPr>
        <p:spPr bwMode="auto">
          <a:xfrm>
            <a:off x="3870659" y="3024958"/>
            <a:ext cx="245839" cy="795663"/>
          </a:xfrm>
          <a:custGeom>
            <a:avLst/>
            <a:gdLst>
              <a:gd name="connsiteX0" fmla="*/ 191386 w 627321"/>
              <a:gd name="connsiteY0" fmla="*/ 0 h 2519916"/>
              <a:gd name="connsiteX1" fmla="*/ 627321 w 627321"/>
              <a:gd name="connsiteY1" fmla="*/ 2519916 h 2519916"/>
              <a:gd name="connsiteX2" fmla="*/ 0 w 627321"/>
              <a:gd name="connsiteY2" fmla="*/ 2509283 h 2519916"/>
              <a:gd name="connsiteX3" fmla="*/ 191386 w 627321"/>
              <a:gd name="connsiteY3" fmla="*/ 0 h 2519916"/>
              <a:gd name="connsiteX0" fmla="*/ 191386 w 191386"/>
              <a:gd name="connsiteY0" fmla="*/ 0 h 2509283"/>
              <a:gd name="connsiteX1" fmla="*/ 0 w 191386"/>
              <a:gd name="connsiteY1" fmla="*/ 2509283 h 2509283"/>
              <a:gd name="connsiteX2" fmla="*/ 191386 w 191386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191386 w 282600"/>
              <a:gd name="connsiteY0" fmla="*/ 0 h 2509283"/>
              <a:gd name="connsiteX1" fmla="*/ 0 w 282600"/>
              <a:gd name="connsiteY1" fmla="*/ 2509283 h 2509283"/>
              <a:gd name="connsiteX2" fmla="*/ 191386 w 282600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242724 w 272066"/>
              <a:gd name="connsiteY0" fmla="*/ 0 h 2509283"/>
              <a:gd name="connsiteX1" fmla="*/ 51338 w 272066"/>
              <a:gd name="connsiteY1" fmla="*/ 2509283 h 2509283"/>
              <a:gd name="connsiteX2" fmla="*/ 242724 w 272066"/>
              <a:gd name="connsiteY2" fmla="*/ 0 h 2509283"/>
              <a:gd name="connsiteX0" fmla="*/ 242724 w 431108"/>
              <a:gd name="connsiteY0" fmla="*/ 0 h 2509283"/>
              <a:gd name="connsiteX1" fmla="*/ 51338 w 431108"/>
              <a:gd name="connsiteY1" fmla="*/ 2509283 h 2509283"/>
              <a:gd name="connsiteX2" fmla="*/ 242724 w 431108"/>
              <a:gd name="connsiteY2" fmla="*/ 0 h 2509283"/>
              <a:gd name="connsiteX0" fmla="*/ 198091 w 442874"/>
              <a:gd name="connsiteY0" fmla="*/ 0 h 2488018"/>
              <a:gd name="connsiteX1" fmla="*/ 144928 w 442874"/>
              <a:gd name="connsiteY1" fmla="*/ 2488018 h 2488018"/>
              <a:gd name="connsiteX2" fmla="*/ 198091 w 442874"/>
              <a:gd name="connsiteY2" fmla="*/ 0 h 2488018"/>
              <a:gd name="connsiteX0" fmla="*/ 258630 w 503413"/>
              <a:gd name="connsiteY0" fmla="*/ 0 h 2488018"/>
              <a:gd name="connsiteX1" fmla="*/ 205467 w 503413"/>
              <a:gd name="connsiteY1" fmla="*/ 2488018 h 2488018"/>
              <a:gd name="connsiteX2" fmla="*/ 258630 w 503413"/>
              <a:gd name="connsiteY2" fmla="*/ 0 h 2488018"/>
              <a:gd name="connsiteX0" fmla="*/ 258630 w 434490"/>
              <a:gd name="connsiteY0" fmla="*/ 0 h 2488018"/>
              <a:gd name="connsiteX1" fmla="*/ 205467 w 434490"/>
              <a:gd name="connsiteY1" fmla="*/ 2488018 h 2488018"/>
              <a:gd name="connsiteX2" fmla="*/ 258630 w 434490"/>
              <a:gd name="connsiteY2" fmla="*/ 0 h 2488018"/>
              <a:gd name="connsiteX0" fmla="*/ 242605 w 433746"/>
              <a:gd name="connsiteY0" fmla="*/ 0 h 2668772"/>
              <a:gd name="connsiteX1" fmla="*/ 231972 w 433746"/>
              <a:gd name="connsiteY1" fmla="*/ 2668772 h 2668772"/>
              <a:gd name="connsiteX2" fmla="*/ 242605 w 433746"/>
              <a:gd name="connsiteY2" fmla="*/ 0 h 2668772"/>
              <a:gd name="connsiteX0" fmla="*/ 179477 w 370618"/>
              <a:gd name="connsiteY0" fmla="*/ 0 h 2668772"/>
              <a:gd name="connsiteX1" fmla="*/ 168844 w 370618"/>
              <a:gd name="connsiteY1" fmla="*/ 2668772 h 2668772"/>
              <a:gd name="connsiteX2" fmla="*/ 179477 w 370618"/>
              <a:gd name="connsiteY2" fmla="*/ 0 h 2668772"/>
              <a:gd name="connsiteX0" fmla="*/ 179477 w 326609"/>
              <a:gd name="connsiteY0" fmla="*/ 0 h 2668772"/>
              <a:gd name="connsiteX1" fmla="*/ 168844 w 326609"/>
              <a:gd name="connsiteY1" fmla="*/ 2668772 h 2668772"/>
              <a:gd name="connsiteX2" fmla="*/ 179477 w 326609"/>
              <a:gd name="connsiteY2" fmla="*/ 0 h 2668772"/>
              <a:gd name="connsiteX0" fmla="*/ 179477 w 322355"/>
              <a:gd name="connsiteY0" fmla="*/ 0 h 2668772"/>
              <a:gd name="connsiteX1" fmla="*/ 168844 w 322355"/>
              <a:gd name="connsiteY1" fmla="*/ 2668772 h 2668772"/>
              <a:gd name="connsiteX2" fmla="*/ 179477 w 322355"/>
              <a:gd name="connsiteY2" fmla="*/ 0 h 2668772"/>
              <a:gd name="connsiteX0" fmla="*/ 157761 w 300639"/>
              <a:gd name="connsiteY0" fmla="*/ 0 h 2668772"/>
              <a:gd name="connsiteX1" fmla="*/ 147128 w 300639"/>
              <a:gd name="connsiteY1" fmla="*/ 2668772 h 2668772"/>
              <a:gd name="connsiteX2" fmla="*/ 157761 w 300639"/>
              <a:gd name="connsiteY2" fmla="*/ 0 h 2668772"/>
              <a:gd name="connsiteX0" fmla="*/ 144523 w 302708"/>
              <a:gd name="connsiteY0" fmla="*/ 0 h 2668772"/>
              <a:gd name="connsiteX1" fmla="*/ 165788 w 302708"/>
              <a:gd name="connsiteY1" fmla="*/ 2668772 h 2668772"/>
              <a:gd name="connsiteX2" fmla="*/ 144523 w 302708"/>
              <a:gd name="connsiteY2" fmla="*/ 0 h 2668772"/>
              <a:gd name="connsiteX0" fmla="*/ 141246 w 299431"/>
              <a:gd name="connsiteY0" fmla="*/ 0 h 2668772"/>
              <a:gd name="connsiteX1" fmla="*/ 162511 w 299431"/>
              <a:gd name="connsiteY1" fmla="*/ 2668772 h 2668772"/>
              <a:gd name="connsiteX2" fmla="*/ 141246 w 299431"/>
              <a:gd name="connsiteY2" fmla="*/ 0 h 2668772"/>
              <a:gd name="connsiteX0" fmla="*/ 141246 w 295417"/>
              <a:gd name="connsiteY0" fmla="*/ 0 h 2668772"/>
              <a:gd name="connsiteX1" fmla="*/ 162511 w 295417"/>
              <a:gd name="connsiteY1" fmla="*/ 2668772 h 2668772"/>
              <a:gd name="connsiteX2" fmla="*/ 141246 w 295417"/>
              <a:gd name="connsiteY2" fmla="*/ 0 h 2668772"/>
              <a:gd name="connsiteX0" fmla="*/ 174134 w 296321"/>
              <a:gd name="connsiteY0" fmla="*/ 0 h 2690037"/>
              <a:gd name="connsiteX1" fmla="*/ 120972 w 296321"/>
              <a:gd name="connsiteY1" fmla="*/ 2690037 h 2690037"/>
              <a:gd name="connsiteX2" fmla="*/ 174134 w 296321"/>
              <a:gd name="connsiteY2" fmla="*/ 0 h 2690037"/>
              <a:gd name="connsiteX0" fmla="*/ 141244 w 295416"/>
              <a:gd name="connsiteY0" fmla="*/ 0 h 2690037"/>
              <a:gd name="connsiteX1" fmla="*/ 162510 w 295416"/>
              <a:gd name="connsiteY1" fmla="*/ 2690037 h 2690037"/>
              <a:gd name="connsiteX2" fmla="*/ 141244 w 295416"/>
              <a:gd name="connsiteY2" fmla="*/ 0 h 2690037"/>
              <a:gd name="connsiteX0" fmla="*/ 110167 w 264339"/>
              <a:gd name="connsiteY0" fmla="*/ 0 h 2690037"/>
              <a:gd name="connsiteX1" fmla="*/ 131433 w 264339"/>
              <a:gd name="connsiteY1" fmla="*/ 2690037 h 2690037"/>
              <a:gd name="connsiteX2" fmla="*/ 110167 w 264339"/>
              <a:gd name="connsiteY2" fmla="*/ 0 h 2690037"/>
              <a:gd name="connsiteX0" fmla="*/ 117454 w 271626"/>
              <a:gd name="connsiteY0" fmla="*/ 0 h 2690037"/>
              <a:gd name="connsiteX1" fmla="*/ 138720 w 271626"/>
              <a:gd name="connsiteY1" fmla="*/ 2690037 h 2690037"/>
              <a:gd name="connsiteX2" fmla="*/ 117454 w 271626"/>
              <a:gd name="connsiteY2" fmla="*/ 0 h 2690037"/>
              <a:gd name="connsiteX0" fmla="*/ 117454 w 267667"/>
              <a:gd name="connsiteY0" fmla="*/ 0 h 2690037"/>
              <a:gd name="connsiteX1" fmla="*/ 138720 w 267667"/>
              <a:gd name="connsiteY1" fmla="*/ 2690037 h 2690037"/>
              <a:gd name="connsiteX2" fmla="*/ 117454 w 267667"/>
              <a:gd name="connsiteY2" fmla="*/ 0 h 269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667" h="2690037">
                <a:moveTo>
                  <a:pt x="117454" y="0"/>
                </a:moveTo>
                <a:cubicBezTo>
                  <a:pt x="330105" y="698204"/>
                  <a:pt x="298207" y="2076893"/>
                  <a:pt x="138720" y="2690037"/>
                </a:cubicBezTo>
                <a:cubicBezTo>
                  <a:pt x="-31401" y="2044995"/>
                  <a:pt x="-52666" y="730102"/>
                  <a:pt x="117454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91CD0A-C3DA-C0E4-2CB9-619DCD6EC15B}"/>
                  </a:ext>
                </a:extLst>
              </p:cNvPr>
              <p:cNvSpPr txBox="1"/>
              <p:nvPr/>
            </p:nvSpPr>
            <p:spPr>
              <a:xfrm>
                <a:off x="2660974" y="3482067"/>
                <a:ext cx="544573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</m:oMath>
                  </m:oMathPara>
                </a14:m>
                <a:endParaRPr lang="en-GB" sz="32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91CD0A-C3DA-C0E4-2CB9-619DCD6EC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974" y="3482067"/>
                <a:ext cx="544573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34409C-2F63-B61C-9ECA-3BE5C12B6FB1}"/>
                  </a:ext>
                </a:extLst>
              </p:cNvPr>
              <p:cNvSpPr txBox="1"/>
              <p:nvPr/>
            </p:nvSpPr>
            <p:spPr>
              <a:xfrm>
                <a:off x="5358224" y="3482067"/>
                <a:ext cx="533351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𝑣</m:t>
                      </m:r>
                    </m:oMath>
                  </m:oMathPara>
                </a14:m>
                <a:endParaRPr lang="en-GB" sz="3200" dirty="0" err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34409C-2F63-B61C-9ECA-3BE5C12B6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224" y="3482067"/>
                <a:ext cx="533351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Down 9">
            <a:extLst>
              <a:ext uri="{FF2B5EF4-FFF2-40B4-BE49-F238E27FC236}">
                <a16:creationId xmlns:a16="http://schemas.microsoft.com/office/drawing/2014/main" id="{8158C627-E8AD-CE8F-3FA9-E00ACA0615FF}"/>
              </a:ext>
            </a:extLst>
          </p:cNvPr>
          <p:cNvSpPr/>
          <p:nvPr/>
        </p:nvSpPr>
        <p:spPr>
          <a:xfrm flipV="1">
            <a:off x="1877483" y="3198368"/>
            <a:ext cx="245839" cy="383236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CC0DF56-EC95-A69A-C82E-831C4C75C513}"/>
              </a:ext>
            </a:extLst>
          </p:cNvPr>
          <p:cNvSpPr/>
          <p:nvPr/>
        </p:nvSpPr>
        <p:spPr>
          <a:xfrm>
            <a:off x="6865960" y="3101716"/>
            <a:ext cx="287682" cy="677108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52840A-B43C-6CBE-ACAF-170B45CE39C6}"/>
              </a:ext>
            </a:extLst>
          </p:cNvPr>
          <p:cNvSpPr txBox="1"/>
          <p:nvPr/>
        </p:nvSpPr>
        <p:spPr>
          <a:xfrm>
            <a:off x="631178" y="3127432"/>
            <a:ext cx="132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Object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99F41C-EB3D-FA2F-60ED-54EA82AD1997}"/>
              </a:ext>
            </a:extLst>
          </p:cNvPr>
          <p:cNvSpPr txBox="1"/>
          <p:nvPr/>
        </p:nvSpPr>
        <p:spPr>
          <a:xfrm>
            <a:off x="7153642" y="3058384"/>
            <a:ext cx="1184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D62A344-07F7-34E3-D7FD-AF8029B7D830}"/>
              </a:ext>
            </a:extLst>
          </p:cNvPr>
          <p:cNvCxnSpPr>
            <a:cxnSpLocks/>
          </p:cNvCxnSpPr>
          <p:nvPr/>
        </p:nvCxnSpPr>
        <p:spPr>
          <a:xfrm flipH="1">
            <a:off x="3985767" y="3778824"/>
            <a:ext cx="9774" cy="60974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10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7" grpId="0"/>
      <p:bldP spid="15369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8E1F2ED1-4AD2-D712-4994-C0107FA81D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155246"/>
            <a:ext cx="8724900" cy="1089529"/>
          </a:xfrm>
        </p:spPr>
        <p:txBody>
          <a:bodyPr/>
          <a:lstStyle/>
          <a:p>
            <a:pPr eaLnBrk="1" hangingPunct="1"/>
            <a:r>
              <a:rPr lang="en-IE" altLang="en-US" dirty="0"/>
              <a:t>When do you get negatives in the </a:t>
            </a:r>
            <a:r>
              <a:rPr lang="en-IE" altLang="en-US" sz="3600" b="1" dirty="0"/>
              <a:t>lens formula</a:t>
            </a:r>
            <a:endParaRPr lang="en-GB" altLang="en-US" sz="3600" b="1" dirty="0"/>
          </a:p>
        </p:txBody>
      </p:sp>
      <p:sp>
        <p:nvSpPr>
          <p:cNvPr id="15368" name="Text Box 15">
            <a:extLst>
              <a:ext uri="{FF2B5EF4-FFF2-40B4-BE49-F238E27FC236}">
                <a16:creationId xmlns:a16="http://schemas.microsoft.com/office/drawing/2014/main" id="{97DFE439-74FD-249D-6D25-5CF398569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275" y="3272760"/>
            <a:ext cx="684139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200" i="1" dirty="0">
                <a:latin typeface="Times New Roman" panose="02020603050405020304" pitchFamily="18" charset="0"/>
              </a:rPr>
              <a:t>f</a:t>
            </a:r>
            <a:r>
              <a:rPr lang="en-IE" altLang="en-US" sz="3200" b="0" dirty="0"/>
              <a:t> is positive for a converging lens</a:t>
            </a:r>
          </a:p>
          <a:p>
            <a:pPr eaLnBrk="1" hangingPunct="1"/>
            <a:r>
              <a:rPr lang="en-GB" altLang="en-US" sz="32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f</a:t>
            </a:r>
            <a:r>
              <a:rPr lang="en-IE" altLang="en-US" sz="3200" dirty="0">
                <a:solidFill>
                  <a:srgbClr val="C00000"/>
                </a:solidFill>
              </a:rPr>
              <a:t> is negative for a diverging lens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9" name="Object 4">
                <a:extLst>
                  <a:ext uri="{FF2B5EF4-FFF2-40B4-BE49-F238E27FC236}">
                    <a16:creationId xmlns:a16="http://schemas.microsoft.com/office/drawing/2014/main" id="{C6FAC569-3D18-5347-24AE-13D20A1CBF60}"/>
                  </a:ext>
                </a:extLst>
              </p:cNvPr>
              <p:cNvSpPr txBox="1"/>
              <p:nvPr/>
            </p:nvSpPr>
            <p:spPr bwMode="auto">
              <a:xfrm>
                <a:off x="2733184" y="1012598"/>
                <a:ext cx="2808311" cy="1495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GB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GB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5369" name="Object 4">
                <a:extLst>
                  <a:ext uri="{FF2B5EF4-FFF2-40B4-BE49-F238E27FC236}">
                    <a16:creationId xmlns:a16="http://schemas.microsoft.com/office/drawing/2014/main" id="{C6FAC569-3D18-5347-24AE-13D20A1CB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3184" y="1012598"/>
                <a:ext cx="2808311" cy="1495425"/>
              </a:xfrm>
              <a:prstGeom prst="rect">
                <a:avLst/>
              </a:prstGeom>
              <a:blipFill>
                <a:blip r:embed="rId3"/>
                <a:stretch>
                  <a:fillRect l="-2703" b="-25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15">
            <a:extLst>
              <a:ext uri="{FF2B5EF4-FFF2-40B4-BE49-F238E27FC236}">
                <a16:creationId xmlns:a16="http://schemas.microsoft.com/office/drawing/2014/main" id="{863DD396-2522-743F-2404-077DA4DF5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276" y="4618843"/>
            <a:ext cx="684139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IE" altLang="en-US" sz="3200" b="0" dirty="0"/>
              <a:t>v is positive for a real image and </a:t>
            </a:r>
          </a:p>
          <a:p>
            <a:pPr eaLnBrk="1" hangingPunct="1"/>
            <a:r>
              <a:rPr lang="en-IE" altLang="en-US" sz="3200" dirty="0">
                <a:solidFill>
                  <a:srgbClr val="C00000"/>
                </a:solidFill>
              </a:rPr>
              <a:t>v is negative for a virtual image</a:t>
            </a:r>
            <a:endParaRPr lang="en-GB" altLang="en-US" sz="3200" dirty="0">
              <a:solidFill>
                <a:srgbClr val="C00000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C5EC16C-0577-1164-8644-6C4F962677C5}"/>
              </a:ext>
            </a:extLst>
          </p:cNvPr>
          <p:cNvSpPr/>
          <p:nvPr/>
        </p:nvSpPr>
        <p:spPr bwMode="auto">
          <a:xfrm>
            <a:off x="8423158" y="2879943"/>
            <a:ext cx="543042" cy="2060467"/>
          </a:xfrm>
          <a:custGeom>
            <a:avLst/>
            <a:gdLst>
              <a:gd name="connsiteX0" fmla="*/ 0 w 372140"/>
              <a:gd name="connsiteY0" fmla="*/ 21265 h 2286000"/>
              <a:gd name="connsiteX1" fmla="*/ 372140 w 372140"/>
              <a:gd name="connsiteY1" fmla="*/ 0 h 2286000"/>
              <a:gd name="connsiteX2" fmla="*/ 276447 w 372140"/>
              <a:gd name="connsiteY2" fmla="*/ 1105786 h 2286000"/>
              <a:gd name="connsiteX3" fmla="*/ 372140 w 372140"/>
              <a:gd name="connsiteY3" fmla="*/ 2286000 h 2286000"/>
              <a:gd name="connsiteX4" fmla="*/ 53163 w 372140"/>
              <a:gd name="connsiteY4" fmla="*/ 2286000 h 2286000"/>
              <a:gd name="connsiteX5" fmla="*/ 170121 w 372140"/>
              <a:gd name="connsiteY5" fmla="*/ 1116419 h 2286000"/>
              <a:gd name="connsiteX6" fmla="*/ 0 w 372140"/>
              <a:gd name="connsiteY6" fmla="*/ 21265 h 2286000"/>
              <a:gd name="connsiteX0" fmla="*/ 0 w 350875"/>
              <a:gd name="connsiteY0" fmla="*/ 0 h 2296632"/>
              <a:gd name="connsiteX1" fmla="*/ 350875 w 350875"/>
              <a:gd name="connsiteY1" fmla="*/ 10632 h 2296632"/>
              <a:gd name="connsiteX2" fmla="*/ 255182 w 350875"/>
              <a:gd name="connsiteY2" fmla="*/ 1116418 h 2296632"/>
              <a:gd name="connsiteX3" fmla="*/ 350875 w 350875"/>
              <a:gd name="connsiteY3" fmla="*/ 2296632 h 2296632"/>
              <a:gd name="connsiteX4" fmla="*/ 31898 w 350875"/>
              <a:gd name="connsiteY4" fmla="*/ 2296632 h 2296632"/>
              <a:gd name="connsiteX5" fmla="*/ 148856 w 350875"/>
              <a:gd name="connsiteY5" fmla="*/ 1127051 h 2296632"/>
              <a:gd name="connsiteX6" fmla="*/ 0 w 350875"/>
              <a:gd name="connsiteY6" fmla="*/ 0 h 2296632"/>
              <a:gd name="connsiteX0" fmla="*/ 4251 w 355126"/>
              <a:gd name="connsiteY0" fmla="*/ 0 h 2296632"/>
              <a:gd name="connsiteX1" fmla="*/ 355126 w 355126"/>
              <a:gd name="connsiteY1" fmla="*/ 10632 h 2296632"/>
              <a:gd name="connsiteX2" fmla="*/ 259433 w 355126"/>
              <a:gd name="connsiteY2" fmla="*/ 1116418 h 2296632"/>
              <a:gd name="connsiteX3" fmla="*/ 355126 w 355126"/>
              <a:gd name="connsiteY3" fmla="*/ 2296632 h 2296632"/>
              <a:gd name="connsiteX4" fmla="*/ 36149 w 355126"/>
              <a:gd name="connsiteY4" fmla="*/ 2296632 h 2296632"/>
              <a:gd name="connsiteX5" fmla="*/ 153107 w 355126"/>
              <a:gd name="connsiteY5" fmla="*/ 1127051 h 2296632"/>
              <a:gd name="connsiteX6" fmla="*/ 4251 w 355126"/>
              <a:gd name="connsiteY6" fmla="*/ 0 h 2296632"/>
              <a:gd name="connsiteX0" fmla="*/ 5021 w 355896"/>
              <a:gd name="connsiteY0" fmla="*/ 0 h 2296632"/>
              <a:gd name="connsiteX1" fmla="*/ 355896 w 355896"/>
              <a:gd name="connsiteY1" fmla="*/ 10632 h 2296632"/>
              <a:gd name="connsiteX2" fmla="*/ 260203 w 355896"/>
              <a:gd name="connsiteY2" fmla="*/ 1116418 h 2296632"/>
              <a:gd name="connsiteX3" fmla="*/ 355896 w 355896"/>
              <a:gd name="connsiteY3" fmla="*/ 2296632 h 2296632"/>
              <a:gd name="connsiteX4" fmla="*/ 36919 w 355896"/>
              <a:gd name="connsiteY4" fmla="*/ 2296632 h 2296632"/>
              <a:gd name="connsiteX5" fmla="*/ 153877 w 355896"/>
              <a:gd name="connsiteY5" fmla="*/ 1127051 h 2296632"/>
              <a:gd name="connsiteX6" fmla="*/ 5021 w 355896"/>
              <a:gd name="connsiteY6" fmla="*/ 0 h 2296632"/>
              <a:gd name="connsiteX0" fmla="*/ 5021 w 364023"/>
              <a:gd name="connsiteY0" fmla="*/ 0 h 2296632"/>
              <a:gd name="connsiteX1" fmla="*/ 355896 w 364023"/>
              <a:gd name="connsiteY1" fmla="*/ 10632 h 2296632"/>
              <a:gd name="connsiteX2" fmla="*/ 260203 w 364023"/>
              <a:gd name="connsiteY2" fmla="*/ 1116418 h 2296632"/>
              <a:gd name="connsiteX3" fmla="*/ 355896 w 364023"/>
              <a:gd name="connsiteY3" fmla="*/ 2296632 h 2296632"/>
              <a:gd name="connsiteX4" fmla="*/ 36919 w 364023"/>
              <a:gd name="connsiteY4" fmla="*/ 2296632 h 2296632"/>
              <a:gd name="connsiteX5" fmla="*/ 153877 w 364023"/>
              <a:gd name="connsiteY5" fmla="*/ 1127051 h 2296632"/>
              <a:gd name="connsiteX6" fmla="*/ 5021 w 364023"/>
              <a:gd name="connsiteY6" fmla="*/ 0 h 2296632"/>
              <a:gd name="connsiteX0" fmla="*/ 5021 w 364023"/>
              <a:gd name="connsiteY0" fmla="*/ 0 h 2296632"/>
              <a:gd name="connsiteX1" fmla="*/ 355896 w 364023"/>
              <a:gd name="connsiteY1" fmla="*/ 10632 h 2296632"/>
              <a:gd name="connsiteX2" fmla="*/ 260203 w 364023"/>
              <a:gd name="connsiteY2" fmla="*/ 1116418 h 2296632"/>
              <a:gd name="connsiteX3" fmla="*/ 355896 w 364023"/>
              <a:gd name="connsiteY3" fmla="*/ 2296632 h 2296632"/>
              <a:gd name="connsiteX4" fmla="*/ 36919 w 364023"/>
              <a:gd name="connsiteY4" fmla="*/ 2296632 h 2296632"/>
              <a:gd name="connsiteX5" fmla="*/ 153877 w 364023"/>
              <a:gd name="connsiteY5" fmla="*/ 1127051 h 2296632"/>
              <a:gd name="connsiteX6" fmla="*/ 5021 w 364023"/>
              <a:gd name="connsiteY6" fmla="*/ 0 h 2296632"/>
              <a:gd name="connsiteX0" fmla="*/ 5021 w 362470"/>
              <a:gd name="connsiteY0" fmla="*/ 0 h 2296632"/>
              <a:gd name="connsiteX1" fmla="*/ 355896 w 362470"/>
              <a:gd name="connsiteY1" fmla="*/ 10632 h 2296632"/>
              <a:gd name="connsiteX2" fmla="*/ 260203 w 362470"/>
              <a:gd name="connsiteY2" fmla="*/ 1116418 h 2296632"/>
              <a:gd name="connsiteX3" fmla="*/ 355896 w 362470"/>
              <a:gd name="connsiteY3" fmla="*/ 2296632 h 2296632"/>
              <a:gd name="connsiteX4" fmla="*/ 36919 w 362470"/>
              <a:gd name="connsiteY4" fmla="*/ 2296632 h 2296632"/>
              <a:gd name="connsiteX5" fmla="*/ 153877 w 362470"/>
              <a:gd name="connsiteY5" fmla="*/ 1127051 h 2296632"/>
              <a:gd name="connsiteX6" fmla="*/ 5021 w 362470"/>
              <a:gd name="connsiteY6" fmla="*/ 0 h 2296632"/>
              <a:gd name="connsiteX0" fmla="*/ 0 w 357449"/>
              <a:gd name="connsiteY0" fmla="*/ 0 h 2296632"/>
              <a:gd name="connsiteX1" fmla="*/ 350875 w 357449"/>
              <a:gd name="connsiteY1" fmla="*/ 10632 h 2296632"/>
              <a:gd name="connsiteX2" fmla="*/ 255182 w 357449"/>
              <a:gd name="connsiteY2" fmla="*/ 1116418 h 2296632"/>
              <a:gd name="connsiteX3" fmla="*/ 350875 w 357449"/>
              <a:gd name="connsiteY3" fmla="*/ 2296632 h 2296632"/>
              <a:gd name="connsiteX4" fmla="*/ 31898 w 357449"/>
              <a:gd name="connsiteY4" fmla="*/ 2296632 h 2296632"/>
              <a:gd name="connsiteX5" fmla="*/ 148856 w 357449"/>
              <a:gd name="connsiteY5" fmla="*/ 1127051 h 2296632"/>
              <a:gd name="connsiteX6" fmla="*/ 0 w 357449"/>
              <a:gd name="connsiteY6" fmla="*/ 0 h 2296632"/>
              <a:gd name="connsiteX0" fmla="*/ 0 w 350875"/>
              <a:gd name="connsiteY0" fmla="*/ 0 h 2296632"/>
              <a:gd name="connsiteX1" fmla="*/ 350875 w 350875"/>
              <a:gd name="connsiteY1" fmla="*/ 10632 h 2296632"/>
              <a:gd name="connsiteX2" fmla="*/ 255182 w 350875"/>
              <a:gd name="connsiteY2" fmla="*/ 1116418 h 2296632"/>
              <a:gd name="connsiteX3" fmla="*/ 350875 w 350875"/>
              <a:gd name="connsiteY3" fmla="*/ 2296632 h 2296632"/>
              <a:gd name="connsiteX4" fmla="*/ 31898 w 350875"/>
              <a:gd name="connsiteY4" fmla="*/ 2296632 h 2296632"/>
              <a:gd name="connsiteX5" fmla="*/ 148856 w 350875"/>
              <a:gd name="connsiteY5" fmla="*/ 1127051 h 2296632"/>
              <a:gd name="connsiteX6" fmla="*/ 0 w 350875"/>
              <a:gd name="connsiteY6" fmla="*/ 0 h 2296632"/>
              <a:gd name="connsiteX0" fmla="*/ 0 w 350875"/>
              <a:gd name="connsiteY0" fmla="*/ 0 h 2296632"/>
              <a:gd name="connsiteX1" fmla="*/ 350875 w 350875"/>
              <a:gd name="connsiteY1" fmla="*/ 10632 h 2296632"/>
              <a:gd name="connsiteX2" fmla="*/ 255182 w 350875"/>
              <a:gd name="connsiteY2" fmla="*/ 1116418 h 2296632"/>
              <a:gd name="connsiteX3" fmla="*/ 350875 w 350875"/>
              <a:gd name="connsiteY3" fmla="*/ 2296632 h 2296632"/>
              <a:gd name="connsiteX4" fmla="*/ 31898 w 350875"/>
              <a:gd name="connsiteY4" fmla="*/ 2296632 h 2296632"/>
              <a:gd name="connsiteX5" fmla="*/ 148856 w 350875"/>
              <a:gd name="connsiteY5" fmla="*/ 1127051 h 2296632"/>
              <a:gd name="connsiteX6" fmla="*/ 0 w 350875"/>
              <a:gd name="connsiteY6" fmla="*/ 0 h 2296632"/>
              <a:gd name="connsiteX0" fmla="*/ 0 w 350875"/>
              <a:gd name="connsiteY0" fmla="*/ 0 h 2296632"/>
              <a:gd name="connsiteX1" fmla="*/ 350875 w 350875"/>
              <a:gd name="connsiteY1" fmla="*/ 10632 h 2296632"/>
              <a:gd name="connsiteX2" fmla="*/ 255182 w 350875"/>
              <a:gd name="connsiteY2" fmla="*/ 1116418 h 2296632"/>
              <a:gd name="connsiteX3" fmla="*/ 350875 w 350875"/>
              <a:gd name="connsiteY3" fmla="*/ 2296632 h 2296632"/>
              <a:gd name="connsiteX4" fmla="*/ 31898 w 350875"/>
              <a:gd name="connsiteY4" fmla="*/ 2296632 h 2296632"/>
              <a:gd name="connsiteX5" fmla="*/ 148856 w 350875"/>
              <a:gd name="connsiteY5" fmla="*/ 1127051 h 2296632"/>
              <a:gd name="connsiteX6" fmla="*/ 0 w 350875"/>
              <a:gd name="connsiteY6" fmla="*/ 0 h 2296632"/>
              <a:gd name="connsiteX0" fmla="*/ 0 w 350875"/>
              <a:gd name="connsiteY0" fmla="*/ 0 h 2296632"/>
              <a:gd name="connsiteX1" fmla="*/ 350875 w 350875"/>
              <a:gd name="connsiteY1" fmla="*/ 10632 h 2296632"/>
              <a:gd name="connsiteX2" fmla="*/ 255182 w 350875"/>
              <a:gd name="connsiteY2" fmla="*/ 1116418 h 2296632"/>
              <a:gd name="connsiteX3" fmla="*/ 350875 w 350875"/>
              <a:gd name="connsiteY3" fmla="*/ 2296632 h 2296632"/>
              <a:gd name="connsiteX4" fmla="*/ 31898 w 350875"/>
              <a:gd name="connsiteY4" fmla="*/ 2296632 h 2296632"/>
              <a:gd name="connsiteX5" fmla="*/ 148856 w 350875"/>
              <a:gd name="connsiteY5" fmla="*/ 1127051 h 2296632"/>
              <a:gd name="connsiteX6" fmla="*/ 0 w 350875"/>
              <a:gd name="connsiteY6" fmla="*/ 0 h 2296632"/>
              <a:gd name="connsiteX0" fmla="*/ 0 w 350875"/>
              <a:gd name="connsiteY0" fmla="*/ 0 h 2296632"/>
              <a:gd name="connsiteX1" fmla="*/ 350875 w 350875"/>
              <a:gd name="connsiteY1" fmla="*/ 10632 h 2296632"/>
              <a:gd name="connsiteX2" fmla="*/ 255182 w 350875"/>
              <a:gd name="connsiteY2" fmla="*/ 1116418 h 2296632"/>
              <a:gd name="connsiteX3" fmla="*/ 350875 w 350875"/>
              <a:gd name="connsiteY3" fmla="*/ 2296632 h 2296632"/>
              <a:gd name="connsiteX4" fmla="*/ 31898 w 350875"/>
              <a:gd name="connsiteY4" fmla="*/ 2296632 h 2296632"/>
              <a:gd name="connsiteX5" fmla="*/ 148856 w 350875"/>
              <a:gd name="connsiteY5" fmla="*/ 1127051 h 2296632"/>
              <a:gd name="connsiteX6" fmla="*/ 0 w 350875"/>
              <a:gd name="connsiteY6" fmla="*/ 0 h 2296632"/>
              <a:gd name="connsiteX0" fmla="*/ 1969 w 318977"/>
              <a:gd name="connsiteY0" fmla="*/ 6301 h 2286000"/>
              <a:gd name="connsiteX1" fmla="*/ 318977 w 318977"/>
              <a:gd name="connsiteY1" fmla="*/ 0 h 2286000"/>
              <a:gd name="connsiteX2" fmla="*/ 223284 w 318977"/>
              <a:gd name="connsiteY2" fmla="*/ 1105786 h 2286000"/>
              <a:gd name="connsiteX3" fmla="*/ 318977 w 318977"/>
              <a:gd name="connsiteY3" fmla="*/ 2286000 h 2286000"/>
              <a:gd name="connsiteX4" fmla="*/ 0 w 318977"/>
              <a:gd name="connsiteY4" fmla="*/ 2286000 h 2286000"/>
              <a:gd name="connsiteX5" fmla="*/ 116958 w 318977"/>
              <a:gd name="connsiteY5" fmla="*/ 1116419 h 2286000"/>
              <a:gd name="connsiteX6" fmla="*/ 1969 w 318977"/>
              <a:gd name="connsiteY6" fmla="*/ 6301 h 2286000"/>
              <a:gd name="connsiteX0" fmla="*/ 14669 w 318977"/>
              <a:gd name="connsiteY0" fmla="*/ 0 h 2288165"/>
              <a:gd name="connsiteX1" fmla="*/ 318977 w 318977"/>
              <a:gd name="connsiteY1" fmla="*/ 2165 h 2288165"/>
              <a:gd name="connsiteX2" fmla="*/ 223284 w 318977"/>
              <a:gd name="connsiteY2" fmla="*/ 1107951 h 2288165"/>
              <a:gd name="connsiteX3" fmla="*/ 318977 w 318977"/>
              <a:gd name="connsiteY3" fmla="*/ 2288165 h 2288165"/>
              <a:gd name="connsiteX4" fmla="*/ 0 w 318977"/>
              <a:gd name="connsiteY4" fmla="*/ 2288165 h 2288165"/>
              <a:gd name="connsiteX5" fmla="*/ 116958 w 318977"/>
              <a:gd name="connsiteY5" fmla="*/ 1118584 h 2288165"/>
              <a:gd name="connsiteX6" fmla="*/ 14669 w 318977"/>
              <a:gd name="connsiteY6" fmla="*/ 0 h 2288165"/>
              <a:gd name="connsiteX0" fmla="*/ 0 w 304308"/>
              <a:gd name="connsiteY0" fmla="*/ 0 h 2288165"/>
              <a:gd name="connsiteX1" fmla="*/ 304308 w 304308"/>
              <a:gd name="connsiteY1" fmla="*/ 2165 h 2288165"/>
              <a:gd name="connsiteX2" fmla="*/ 208615 w 304308"/>
              <a:gd name="connsiteY2" fmla="*/ 1107951 h 2288165"/>
              <a:gd name="connsiteX3" fmla="*/ 304308 w 304308"/>
              <a:gd name="connsiteY3" fmla="*/ 2288165 h 2288165"/>
              <a:gd name="connsiteX4" fmla="*/ 48831 w 304308"/>
              <a:gd name="connsiteY4" fmla="*/ 2279698 h 2288165"/>
              <a:gd name="connsiteX5" fmla="*/ 102289 w 304308"/>
              <a:gd name="connsiteY5" fmla="*/ 1118584 h 2288165"/>
              <a:gd name="connsiteX6" fmla="*/ 0 w 304308"/>
              <a:gd name="connsiteY6" fmla="*/ 0 h 2288165"/>
              <a:gd name="connsiteX0" fmla="*/ 0 w 304308"/>
              <a:gd name="connsiteY0" fmla="*/ 0 h 2288165"/>
              <a:gd name="connsiteX1" fmla="*/ 304308 w 304308"/>
              <a:gd name="connsiteY1" fmla="*/ 2165 h 2288165"/>
              <a:gd name="connsiteX2" fmla="*/ 208615 w 304308"/>
              <a:gd name="connsiteY2" fmla="*/ 1107951 h 2288165"/>
              <a:gd name="connsiteX3" fmla="*/ 304308 w 304308"/>
              <a:gd name="connsiteY3" fmla="*/ 2288165 h 2288165"/>
              <a:gd name="connsiteX4" fmla="*/ 48831 w 304308"/>
              <a:gd name="connsiteY4" fmla="*/ 2279698 h 2288165"/>
              <a:gd name="connsiteX5" fmla="*/ 102289 w 304308"/>
              <a:gd name="connsiteY5" fmla="*/ 1118584 h 2288165"/>
              <a:gd name="connsiteX6" fmla="*/ 0 w 304308"/>
              <a:gd name="connsiteY6" fmla="*/ 0 h 2288165"/>
              <a:gd name="connsiteX0" fmla="*/ 0 w 304308"/>
              <a:gd name="connsiteY0" fmla="*/ 0 h 2288165"/>
              <a:gd name="connsiteX1" fmla="*/ 304308 w 304308"/>
              <a:gd name="connsiteY1" fmla="*/ 2165 h 2288165"/>
              <a:gd name="connsiteX2" fmla="*/ 208615 w 304308"/>
              <a:gd name="connsiteY2" fmla="*/ 1129118 h 2288165"/>
              <a:gd name="connsiteX3" fmla="*/ 304308 w 304308"/>
              <a:gd name="connsiteY3" fmla="*/ 2288165 h 2288165"/>
              <a:gd name="connsiteX4" fmla="*/ 48831 w 304308"/>
              <a:gd name="connsiteY4" fmla="*/ 2279698 h 2288165"/>
              <a:gd name="connsiteX5" fmla="*/ 102289 w 304308"/>
              <a:gd name="connsiteY5" fmla="*/ 1118584 h 2288165"/>
              <a:gd name="connsiteX6" fmla="*/ 0 w 304308"/>
              <a:gd name="connsiteY6" fmla="*/ 0 h 2288165"/>
              <a:gd name="connsiteX0" fmla="*/ 0 w 304308"/>
              <a:gd name="connsiteY0" fmla="*/ 0 h 2296631"/>
              <a:gd name="connsiteX1" fmla="*/ 304308 w 304308"/>
              <a:gd name="connsiteY1" fmla="*/ 2165 h 2296631"/>
              <a:gd name="connsiteX2" fmla="*/ 208615 w 304308"/>
              <a:gd name="connsiteY2" fmla="*/ 1129118 h 2296631"/>
              <a:gd name="connsiteX3" fmla="*/ 304308 w 304308"/>
              <a:gd name="connsiteY3" fmla="*/ 2288165 h 2296631"/>
              <a:gd name="connsiteX4" fmla="*/ 23431 w 304308"/>
              <a:gd name="connsiteY4" fmla="*/ 2296631 h 2296631"/>
              <a:gd name="connsiteX5" fmla="*/ 102289 w 304308"/>
              <a:gd name="connsiteY5" fmla="*/ 1118584 h 2296631"/>
              <a:gd name="connsiteX6" fmla="*/ 0 w 304308"/>
              <a:gd name="connsiteY6" fmla="*/ 0 h 2296631"/>
              <a:gd name="connsiteX0" fmla="*/ 0 w 304308"/>
              <a:gd name="connsiteY0" fmla="*/ 0 h 2301325"/>
              <a:gd name="connsiteX1" fmla="*/ 304308 w 304308"/>
              <a:gd name="connsiteY1" fmla="*/ 2165 h 2301325"/>
              <a:gd name="connsiteX2" fmla="*/ 208615 w 304308"/>
              <a:gd name="connsiteY2" fmla="*/ 1129118 h 2301325"/>
              <a:gd name="connsiteX3" fmla="*/ 304308 w 304308"/>
              <a:gd name="connsiteY3" fmla="*/ 2288165 h 2301325"/>
              <a:gd name="connsiteX4" fmla="*/ 3156 w 304308"/>
              <a:gd name="connsiteY4" fmla="*/ 2301325 h 2301325"/>
              <a:gd name="connsiteX5" fmla="*/ 102289 w 304308"/>
              <a:gd name="connsiteY5" fmla="*/ 1118584 h 2301325"/>
              <a:gd name="connsiteX6" fmla="*/ 0 w 304308"/>
              <a:gd name="connsiteY6" fmla="*/ 0 h 2301325"/>
              <a:gd name="connsiteX0" fmla="*/ 0 w 304308"/>
              <a:gd name="connsiteY0" fmla="*/ 0 h 2296631"/>
              <a:gd name="connsiteX1" fmla="*/ 304308 w 304308"/>
              <a:gd name="connsiteY1" fmla="*/ 2165 h 2296631"/>
              <a:gd name="connsiteX2" fmla="*/ 208615 w 304308"/>
              <a:gd name="connsiteY2" fmla="*/ 1129118 h 2296631"/>
              <a:gd name="connsiteX3" fmla="*/ 304308 w 304308"/>
              <a:gd name="connsiteY3" fmla="*/ 2288165 h 2296631"/>
              <a:gd name="connsiteX4" fmla="*/ 3156 w 304308"/>
              <a:gd name="connsiteY4" fmla="*/ 2296631 h 2296631"/>
              <a:gd name="connsiteX5" fmla="*/ 102289 w 304308"/>
              <a:gd name="connsiteY5" fmla="*/ 1118584 h 2296631"/>
              <a:gd name="connsiteX6" fmla="*/ 0 w 304308"/>
              <a:gd name="connsiteY6" fmla="*/ 0 h 2296631"/>
              <a:gd name="connsiteX0" fmla="*/ 0 w 304308"/>
              <a:gd name="connsiteY0" fmla="*/ 0 h 2289590"/>
              <a:gd name="connsiteX1" fmla="*/ 304308 w 304308"/>
              <a:gd name="connsiteY1" fmla="*/ 2165 h 2289590"/>
              <a:gd name="connsiteX2" fmla="*/ 208615 w 304308"/>
              <a:gd name="connsiteY2" fmla="*/ 1129118 h 2289590"/>
              <a:gd name="connsiteX3" fmla="*/ 304308 w 304308"/>
              <a:gd name="connsiteY3" fmla="*/ 2288165 h 2289590"/>
              <a:gd name="connsiteX4" fmla="*/ 920 w 304308"/>
              <a:gd name="connsiteY4" fmla="*/ 2289590 h 2289590"/>
              <a:gd name="connsiteX5" fmla="*/ 102289 w 304308"/>
              <a:gd name="connsiteY5" fmla="*/ 1118584 h 2289590"/>
              <a:gd name="connsiteX6" fmla="*/ 0 w 304308"/>
              <a:gd name="connsiteY6" fmla="*/ 0 h 2289590"/>
              <a:gd name="connsiteX0" fmla="*/ 0 w 304308"/>
              <a:gd name="connsiteY0" fmla="*/ 0 h 2289590"/>
              <a:gd name="connsiteX1" fmla="*/ 304308 w 304308"/>
              <a:gd name="connsiteY1" fmla="*/ 2165 h 2289590"/>
              <a:gd name="connsiteX2" fmla="*/ 208615 w 304308"/>
              <a:gd name="connsiteY2" fmla="*/ 1129118 h 2289590"/>
              <a:gd name="connsiteX3" fmla="*/ 302966 w 304308"/>
              <a:gd name="connsiteY3" fmla="*/ 2286404 h 2289590"/>
              <a:gd name="connsiteX4" fmla="*/ 920 w 304308"/>
              <a:gd name="connsiteY4" fmla="*/ 2289590 h 2289590"/>
              <a:gd name="connsiteX5" fmla="*/ 102289 w 304308"/>
              <a:gd name="connsiteY5" fmla="*/ 1118584 h 2289590"/>
              <a:gd name="connsiteX6" fmla="*/ 0 w 304308"/>
              <a:gd name="connsiteY6" fmla="*/ 0 h 2289590"/>
              <a:gd name="connsiteX0" fmla="*/ 0 w 304308"/>
              <a:gd name="connsiteY0" fmla="*/ 0 h 2289590"/>
              <a:gd name="connsiteX1" fmla="*/ 304308 w 304308"/>
              <a:gd name="connsiteY1" fmla="*/ 2165 h 2289590"/>
              <a:gd name="connsiteX2" fmla="*/ 208615 w 304308"/>
              <a:gd name="connsiteY2" fmla="*/ 1129118 h 2289590"/>
              <a:gd name="connsiteX3" fmla="*/ 302966 w 304308"/>
              <a:gd name="connsiteY3" fmla="*/ 2286404 h 2289590"/>
              <a:gd name="connsiteX4" fmla="*/ 920 w 304308"/>
              <a:gd name="connsiteY4" fmla="*/ 2289590 h 2289590"/>
              <a:gd name="connsiteX5" fmla="*/ 102736 w 304308"/>
              <a:gd name="connsiteY5" fmla="*/ 1141468 h 2289590"/>
              <a:gd name="connsiteX6" fmla="*/ 0 w 304308"/>
              <a:gd name="connsiteY6" fmla="*/ 0 h 2289590"/>
              <a:gd name="connsiteX0" fmla="*/ 0 w 304308"/>
              <a:gd name="connsiteY0" fmla="*/ 0 h 2289590"/>
              <a:gd name="connsiteX1" fmla="*/ 304308 w 304308"/>
              <a:gd name="connsiteY1" fmla="*/ 2165 h 2289590"/>
              <a:gd name="connsiteX2" fmla="*/ 202353 w 304308"/>
              <a:gd name="connsiteY2" fmla="*/ 1146721 h 2289590"/>
              <a:gd name="connsiteX3" fmla="*/ 302966 w 304308"/>
              <a:gd name="connsiteY3" fmla="*/ 2286404 h 2289590"/>
              <a:gd name="connsiteX4" fmla="*/ 920 w 304308"/>
              <a:gd name="connsiteY4" fmla="*/ 2289590 h 2289590"/>
              <a:gd name="connsiteX5" fmla="*/ 102736 w 304308"/>
              <a:gd name="connsiteY5" fmla="*/ 1141468 h 2289590"/>
              <a:gd name="connsiteX6" fmla="*/ 0 w 304308"/>
              <a:gd name="connsiteY6" fmla="*/ 0 h 2289590"/>
              <a:gd name="connsiteX0" fmla="*/ 0 w 304308"/>
              <a:gd name="connsiteY0" fmla="*/ 0 h 2289590"/>
              <a:gd name="connsiteX1" fmla="*/ 304308 w 304308"/>
              <a:gd name="connsiteY1" fmla="*/ 2165 h 2289590"/>
              <a:gd name="connsiteX2" fmla="*/ 201906 w 304308"/>
              <a:gd name="connsiteY2" fmla="*/ 1136159 h 2289590"/>
              <a:gd name="connsiteX3" fmla="*/ 302966 w 304308"/>
              <a:gd name="connsiteY3" fmla="*/ 2286404 h 2289590"/>
              <a:gd name="connsiteX4" fmla="*/ 920 w 304308"/>
              <a:gd name="connsiteY4" fmla="*/ 2289590 h 2289590"/>
              <a:gd name="connsiteX5" fmla="*/ 102736 w 304308"/>
              <a:gd name="connsiteY5" fmla="*/ 1141468 h 2289590"/>
              <a:gd name="connsiteX6" fmla="*/ 0 w 304308"/>
              <a:gd name="connsiteY6" fmla="*/ 0 h 2289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4308" h="2289590">
                <a:moveTo>
                  <a:pt x="0" y="0"/>
                </a:moveTo>
                <a:lnTo>
                  <a:pt x="304308" y="2165"/>
                </a:lnTo>
                <a:cubicBezTo>
                  <a:pt x="251145" y="220132"/>
                  <a:pt x="202130" y="755453"/>
                  <a:pt x="201906" y="1136159"/>
                </a:cubicBezTo>
                <a:cubicBezTo>
                  <a:pt x="201682" y="1516865"/>
                  <a:pt x="276385" y="2100334"/>
                  <a:pt x="302966" y="2286404"/>
                </a:cubicBezTo>
                <a:lnTo>
                  <a:pt x="920" y="2289590"/>
                </a:lnTo>
                <a:cubicBezTo>
                  <a:pt x="50243" y="2039528"/>
                  <a:pt x="102889" y="1523066"/>
                  <a:pt x="102736" y="1141468"/>
                </a:cubicBezTo>
                <a:cubicBezTo>
                  <a:pt x="102583" y="759870"/>
                  <a:pt x="62023" y="186070"/>
                  <a:pt x="0" y="0"/>
                </a:cubicBezTo>
                <a:close/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93999A9-2660-B862-54F7-35F2B0981583}"/>
              </a:ext>
            </a:extLst>
          </p:cNvPr>
          <p:cNvSpPr/>
          <p:nvPr/>
        </p:nvSpPr>
        <p:spPr>
          <a:xfrm>
            <a:off x="7305870" y="2885980"/>
            <a:ext cx="543042" cy="2054430"/>
          </a:xfrm>
          <a:custGeom>
            <a:avLst/>
            <a:gdLst>
              <a:gd name="connsiteX0" fmla="*/ 124709 w 249418"/>
              <a:gd name="connsiteY0" fmla="*/ 0 h 1980320"/>
              <a:gd name="connsiteX1" fmla="*/ 165655 w 249418"/>
              <a:gd name="connsiteY1" fmla="*/ 159242 h 1980320"/>
              <a:gd name="connsiteX2" fmla="*/ 249418 w 249418"/>
              <a:gd name="connsiteY2" fmla="*/ 990160 h 1980320"/>
              <a:gd name="connsiteX3" fmla="*/ 165655 w 249418"/>
              <a:gd name="connsiteY3" fmla="*/ 1821078 h 1980320"/>
              <a:gd name="connsiteX4" fmla="*/ 124709 w 249418"/>
              <a:gd name="connsiteY4" fmla="*/ 1980320 h 1980320"/>
              <a:gd name="connsiteX5" fmla="*/ 83764 w 249418"/>
              <a:gd name="connsiteY5" fmla="*/ 1821078 h 1980320"/>
              <a:gd name="connsiteX6" fmla="*/ 0 w 249418"/>
              <a:gd name="connsiteY6" fmla="*/ 990160 h 1980320"/>
              <a:gd name="connsiteX7" fmla="*/ 83764 w 249418"/>
              <a:gd name="connsiteY7" fmla="*/ 159242 h 198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418" h="1980320">
                <a:moveTo>
                  <a:pt x="124709" y="0"/>
                </a:moveTo>
                <a:lnTo>
                  <a:pt x="165655" y="159242"/>
                </a:lnTo>
                <a:cubicBezTo>
                  <a:pt x="220576" y="427636"/>
                  <a:pt x="249418" y="705530"/>
                  <a:pt x="249418" y="990160"/>
                </a:cubicBezTo>
                <a:cubicBezTo>
                  <a:pt x="249418" y="1274791"/>
                  <a:pt x="220576" y="1552684"/>
                  <a:pt x="165655" y="1821078"/>
                </a:cubicBezTo>
                <a:lnTo>
                  <a:pt x="124709" y="1980320"/>
                </a:lnTo>
                <a:lnTo>
                  <a:pt x="83764" y="1821078"/>
                </a:lnTo>
                <a:cubicBezTo>
                  <a:pt x="28843" y="1552684"/>
                  <a:pt x="0" y="1274791"/>
                  <a:pt x="0" y="990160"/>
                </a:cubicBezTo>
                <a:cubicBezTo>
                  <a:pt x="0" y="705530"/>
                  <a:pt x="28843" y="427636"/>
                  <a:pt x="83764" y="159242"/>
                </a:cubicBezTo>
                <a:close/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 b="1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45" title="Screenshot 2025-09-23 22.09.57.png"/>
          <p:cNvPicPr preferRelativeResize="0"/>
          <p:nvPr/>
        </p:nvPicPr>
        <p:blipFill rotWithShape="1">
          <a:blip r:embed="rId3">
            <a:alphaModFix/>
          </a:blip>
          <a:srcRect l="3050" r="722"/>
          <a:stretch/>
        </p:blipFill>
        <p:spPr>
          <a:xfrm>
            <a:off x="2575" y="20525"/>
            <a:ext cx="9144000" cy="6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5" title="Screenshot 2026-02-23 08.52.29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798625"/>
            <a:ext cx="8178887" cy="59069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1D186B-B4DC-9305-4105-247A032D1E77}"/>
              </a:ext>
            </a:extLst>
          </p:cNvPr>
          <p:cNvSpPr/>
          <p:nvPr/>
        </p:nvSpPr>
        <p:spPr>
          <a:xfrm>
            <a:off x="329609" y="2360428"/>
            <a:ext cx="2604977" cy="12971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4B4E3E-6C0A-CD1A-8F9E-3652FAEA28EC}"/>
              </a:ext>
            </a:extLst>
          </p:cNvPr>
          <p:cNvSpPr/>
          <p:nvPr/>
        </p:nvSpPr>
        <p:spPr>
          <a:xfrm>
            <a:off x="4128977" y="2278912"/>
            <a:ext cx="4089990" cy="3430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0B6C7D-F19F-6E5C-DF05-44A66BC0E224}"/>
              </a:ext>
            </a:extLst>
          </p:cNvPr>
          <p:cNvSpPr/>
          <p:nvPr/>
        </p:nvSpPr>
        <p:spPr>
          <a:xfrm>
            <a:off x="329609" y="4412512"/>
            <a:ext cx="3687048" cy="20733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E030AA-7614-0118-4B86-81979EB65753}"/>
              </a:ext>
            </a:extLst>
          </p:cNvPr>
          <p:cNvSpPr/>
          <p:nvPr/>
        </p:nvSpPr>
        <p:spPr>
          <a:xfrm>
            <a:off x="329608" y="3657600"/>
            <a:ext cx="2604977" cy="800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6F3F-5DE9-AB43-7973-8DBDE4474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5FBA4C-2BF6-E00D-1D1A-7A7774D52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8F3652-9011-4E48-C7FD-9BFAE647F2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292" y="461664"/>
            <a:ext cx="8899415" cy="1255728"/>
          </a:xfrm>
          <a:noFill/>
        </p:spPr>
        <p:txBody>
          <a:bodyPr/>
          <a:lstStyle/>
          <a:p>
            <a:r>
              <a:rPr lang="en-GB" dirty="0"/>
              <a:t>An object 30 cm from a converging lens creates a real image 20 cm from the lens. Calculate the focal length of the lens.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A028E7-CAD0-2AAC-3C8B-1E5A8FB38DA3}"/>
                  </a:ext>
                </a:extLst>
              </p:cNvPr>
              <p:cNvSpPr txBox="1"/>
              <p:nvPr/>
            </p:nvSpPr>
            <p:spPr>
              <a:xfrm>
                <a:off x="5146627" y="1895720"/>
                <a:ext cx="1808187" cy="977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A028E7-CAD0-2AAC-3C8B-1E5A8FB38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27" y="1895720"/>
                <a:ext cx="1808187" cy="977319"/>
              </a:xfrm>
              <a:prstGeom prst="rect">
                <a:avLst/>
              </a:prstGeom>
              <a:blipFill>
                <a:blip r:embed="rId2"/>
                <a:stretch>
                  <a:fillRect l="-699"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52B60A-FDC7-F56A-E5C6-D95F4E50D9E5}"/>
                  </a:ext>
                </a:extLst>
              </p:cNvPr>
              <p:cNvSpPr txBox="1"/>
              <p:nvPr/>
            </p:nvSpPr>
            <p:spPr>
              <a:xfrm>
                <a:off x="2123728" y="3014476"/>
                <a:ext cx="2592055" cy="977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52B60A-FDC7-F56A-E5C6-D95F4E50D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3014476"/>
                <a:ext cx="2592055" cy="9773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DBDE66-F4B1-FB52-90B9-171FFCA72757}"/>
                  </a:ext>
                </a:extLst>
              </p:cNvPr>
              <p:cNvSpPr txBox="1"/>
              <p:nvPr/>
            </p:nvSpPr>
            <p:spPr>
              <a:xfrm>
                <a:off x="2116543" y="4028687"/>
                <a:ext cx="1767279" cy="986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DBDE66-F4B1-FB52-90B9-171FFCA72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43" y="4028687"/>
                <a:ext cx="1767279" cy="9861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5B1D65-8B2B-B28D-407D-B5E48BD86382}"/>
                  </a:ext>
                </a:extLst>
              </p:cNvPr>
              <p:cNvSpPr txBox="1"/>
              <p:nvPr/>
            </p:nvSpPr>
            <p:spPr>
              <a:xfrm>
                <a:off x="2113684" y="5089692"/>
                <a:ext cx="3183244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=12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5B1D65-8B2B-B28D-407D-B5E48BD86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684" y="5089692"/>
                <a:ext cx="3183244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90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F0929-1969-1B5F-694A-DA0290EC9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66F0FC-141F-3B90-52C2-F86E45CAF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98369B-4B7E-5A2F-D4D8-B52BD5DCA3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292" y="461664"/>
            <a:ext cx="8899415" cy="1255728"/>
          </a:xfrm>
          <a:noFill/>
        </p:spPr>
        <p:txBody>
          <a:bodyPr/>
          <a:lstStyle/>
          <a:p>
            <a:r>
              <a:rPr lang="en-GB" dirty="0"/>
              <a:t>An object 30 cm from a converging lens creates a real image 18.5 cm from the lens. Calculate the focal length of the lens to 3 significant figures.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166D87-2098-78B8-165E-681C830FA1F3}"/>
                  </a:ext>
                </a:extLst>
              </p:cNvPr>
              <p:cNvSpPr txBox="1"/>
              <p:nvPr/>
            </p:nvSpPr>
            <p:spPr>
              <a:xfrm>
                <a:off x="2123728" y="2011876"/>
                <a:ext cx="1808187" cy="977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166D87-2098-78B8-165E-681C830FA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2011876"/>
                <a:ext cx="1808187" cy="9773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06961A-0153-F3FE-9ACD-4B362418F490}"/>
                  </a:ext>
                </a:extLst>
              </p:cNvPr>
              <p:cNvSpPr txBox="1"/>
              <p:nvPr/>
            </p:nvSpPr>
            <p:spPr>
              <a:xfrm>
                <a:off x="2123728" y="3014476"/>
                <a:ext cx="2864567" cy="977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18.5</m:t>
                          </m:r>
                        </m:den>
                      </m:f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06961A-0153-F3FE-9ACD-4B362418F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3014476"/>
                <a:ext cx="2864567" cy="9773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1B1447-C19C-0569-E387-6F64655562CA}"/>
                  </a:ext>
                </a:extLst>
              </p:cNvPr>
              <p:cNvSpPr txBox="1"/>
              <p:nvPr/>
            </p:nvSpPr>
            <p:spPr>
              <a:xfrm>
                <a:off x="2116543" y="4028687"/>
                <a:ext cx="2636106" cy="977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=0.08739</m:t>
                      </m:r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1B1447-C19C-0569-E387-6F6465556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43" y="4028687"/>
                <a:ext cx="2636106" cy="9773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6A0CCD-D384-5427-B224-471A6DD1A0E5}"/>
                  </a:ext>
                </a:extLst>
              </p:cNvPr>
              <p:cNvSpPr txBox="1"/>
              <p:nvPr/>
            </p:nvSpPr>
            <p:spPr>
              <a:xfrm>
                <a:off x="2113684" y="5089692"/>
                <a:ext cx="4324582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0.08739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=11.4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6A0CCD-D384-5427-B224-471A6DD1A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684" y="5089692"/>
                <a:ext cx="4324582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CE658E4-778D-83DB-3CBB-D7403B543453}"/>
              </a:ext>
            </a:extLst>
          </p:cNvPr>
          <p:cNvSpPr txBox="1"/>
          <p:nvPr/>
        </p:nvSpPr>
        <p:spPr>
          <a:xfrm>
            <a:off x="122292" y="6611779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New V1.1</a:t>
            </a:r>
          </a:p>
        </p:txBody>
      </p:sp>
    </p:spTree>
    <p:extLst>
      <p:ext uri="{BB962C8B-B14F-4D97-AF65-F5344CB8AC3E}">
        <p14:creationId xmlns:p14="http://schemas.microsoft.com/office/powerpoint/2010/main" val="216363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2A496-41BC-635A-A68D-9D922F8FD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81DE85-50F2-C250-80A7-620A0BCC2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277005-40ED-690A-CEA7-99AEDEF685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292" y="461664"/>
            <a:ext cx="8899415" cy="1255728"/>
          </a:xfrm>
          <a:noFill/>
        </p:spPr>
        <p:txBody>
          <a:bodyPr/>
          <a:lstStyle/>
          <a:p>
            <a:r>
              <a:rPr lang="en-GB" dirty="0"/>
              <a:t>An object 20 cm from a converging lens creates a real image 22.6 cm from the lens. Calculate the focal length of the lens to 3 significant figures.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8C48C3-7472-0928-8CD5-B7F21D511041}"/>
                  </a:ext>
                </a:extLst>
              </p:cNvPr>
              <p:cNvSpPr txBox="1"/>
              <p:nvPr/>
            </p:nvSpPr>
            <p:spPr>
              <a:xfrm>
                <a:off x="6730411" y="3681884"/>
                <a:ext cx="1229887" cy="6613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GB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GB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GB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8C48C3-7472-0928-8CD5-B7F21D511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411" y="3681884"/>
                <a:ext cx="1229887" cy="6613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BBA473-0131-D649-2DF2-F7E4EDE63DA9}"/>
                  </a:ext>
                </a:extLst>
              </p:cNvPr>
              <p:cNvSpPr txBox="1"/>
              <p:nvPr/>
            </p:nvSpPr>
            <p:spPr>
              <a:xfrm>
                <a:off x="6450370" y="4343219"/>
                <a:ext cx="1913023" cy="6613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GB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22.6</m:t>
                          </m:r>
                        </m:den>
                      </m:f>
                    </m:oMath>
                  </m:oMathPara>
                </a14:m>
                <a:endParaRPr lang="en-GB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BBA473-0131-D649-2DF2-F7E4EDE63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370" y="4343219"/>
                <a:ext cx="1913023" cy="6613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45C75C-C4A2-1C5B-9821-C6F293AA3C7C}"/>
                  </a:ext>
                </a:extLst>
              </p:cNvPr>
              <p:cNvSpPr txBox="1"/>
              <p:nvPr/>
            </p:nvSpPr>
            <p:spPr>
              <a:xfrm>
                <a:off x="6324470" y="5004554"/>
                <a:ext cx="1765548" cy="6613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GB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=0.09425</m:t>
                      </m:r>
                    </m:oMath>
                  </m:oMathPara>
                </a14:m>
                <a:endParaRPr lang="en-GB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45C75C-C4A2-1C5B-9821-C6F293AA3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470" y="5004554"/>
                <a:ext cx="1765548" cy="6613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788136-B5FD-AB39-EE17-3225C3BDA79B}"/>
                  </a:ext>
                </a:extLst>
              </p:cNvPr>
              <p:cNvSpPr txBox="1"/>
              <p:nvPr/>
            </p:nvSpPr>
            <p:spPr>
              <a:xfrm>
                <a:off x="6166951" y="5665889"/>
                <a:ext cx="2854756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0.09425</m:t>
                          </m:r>
                        </m:den>
                      </m:f>
                      <m:r>
                        <a:rPr lang="en-GB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=10.6 </m:t>
                      </m:r>
                      <m:r>
                        <a:rPr lang="en-GB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788136-B5FD-AB39-EE17-3225C3BDA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951" y="5665889"/>
                <a:ext cx="2854756" cy="612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6A32A42-381B-2958-B624-DECBBA945B37}"/>
              </a:ext>
            </a:extLst>
          </p:cNvPr>
          <p:cNvSpPr txBox="1"/>
          <p:nvPr/>
        </p:nvSpPr>
        <p:spPr>
          <a:xfrm>
            <a:off x="122292" y="6611779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New V1.1</a:t>
            </a:r>
          </a:p>
        </p:txBody>
      </p:sp>
    </p:spTree>
    <p:extLst>
      <p:ext uri="{BB962C8B-B14F-4D97-AF65-F5344CB8AC3E}">
        <p14:creationId xmlns:p14="http://schemas.microsoft.com/office/powerpoint/2010/main" val="156593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23F02-2B1F-E475-3D3A-90FEFE049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CEE79D-9FAD-C0A0-4FA0-F789900AA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C67E9EA1-0C38-6560-15ED-ABCFCF1DFBE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122292" y="461664"/>
                <a:ext cx="8899415" cy="867930"/>
              </a:xfrm>
              <a:noFill/>
            </p:spPr>
            <p:txBody>
              <a:bodyPr/>
              <a:lstStyle/>
              <a:p>
                <a:r>
                  <a:rPr lang="en-GB" dirty="0"/>
                  <a:t>An object is 30 cm from a converging lens with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r>
                  <a:rPr lang="en-GB" dirty="0"/>
                  <a:t> find the position of the image. Is it real or virtual?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C67E9EA1-0C38-6560-15ED-ABCFCF1DFB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122292" y="461664"/>
                <a:ext cx="8899415" cy="867930"/>
              </a:xfrm>
              <a:blipFill>
                <a:blip r:embed="rId2"/>
                <a:stretch>
                  <a:fillRect l="-1425" t="-11594" r="-1282" b="-18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8EEEE2-D841-79AF-3BB6-BAF5F9EFE4BA}"/>
                  </a:ext>
                </a:extLst>
              </p:cNvPr>
              <p:cNvSpPr txBox="1"/>
              <p:nvPr/>
            </p:nvSpPr>
            <p:spPr>
              <a:xfrm>
                <a:off x="2123728" y="1560940"/>
                <a:ext cx="1808187" cy="977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GB" sz="2800" b="0" i="1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8EEEE2-D841-79AF-3BB6-BAF5F9EFE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560940"/>
                <a:ext cx="1808187" cy="9773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4077BA-4016-3C52-D521-44EB06C4C831}"/>
                  </a:ext>
                </a:extLst>
              </p:cNvPr>
              <p:cNvSpPr txBox="1"/>
              <p:nvPr/>
            </p:nvSpPr>
            <p:spPr>
              <a:xfrm>
                <a:off x="2123728" y="2563540"/>
                <a:ext cx="2590453" cy="901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4077BA-4016-3C52-D521-44EB06C4C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2563540"/>
                <a:ext cx="2590453" cy="9019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216636-A85B-20C5-537F-604930140E1F}"/>
                  </a:ext>
                </a:extLst>
              </p:cNvPr>
              <p:cNvSpPr txBox="1"/>
              <p:nvPr/>
            </p:nvSpPr>
            <p:spPr>
              <a:xfrm>
                <a:off x="2116543" y="3577751"/>
                <a:ext cx="2590453" cy="901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216636-A85B-20C5-537F-604930140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43" y="3577751"/>
                <a:ext cx="2590453" cy="9019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3923A9-1AC5-D574-95D9-A99EE6C3F56C}"/>
                  </a:ext>
                </a:extLst>
              </p:cNvPr>
              <p:cNvSpPr txBox="1"/>
              <p:nvPr/>
            </p:nvSpPr>
            <p:spPr>
              <a:xfrm>
                <a:off x="2113684" y="4638756"/>
                <a:ext cx="3057697" cy="901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3−1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3923A9-1AC5-D574-95D9-A99EE6C3F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684" y="4638756"/>
                <a:ext cx="3057697" cy="9019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77A76F-454F-0DC6-AEE0-89539ADFD58D}"/>
                  </a:ext>
                </a:extLst>
              </p:cNvPr>
              <p:cNvSpPr txBox="1"/>
              <p:nvPr/>
            </p:nvSpPr>
            <p:spPr>
              <a:xfrm>
                <a:off x="2123728" y="5699761"/>
                <a:ext cx="23168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=15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77A76F-454F-0DC6-AEE0-89539ADFD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5699761"/>
                <a:ext cx="231685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8108719-5FC2-5B45-B5DA-A14826B22224}"/>
              </a:ext>
            </a:extLst>
          </p:cNvPr>
          <p:cNvSpPr txBox="1"/>
          <p:nvPr/>
        </p:nvSpPr>
        <p:spPr>
          <a:xfrm>
            <a:off x="5164760" y="2563540"/>
            <a:ext cx="32564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dirty="0">
                <a:solidFill>
                  <a:srgbClr val="0000FF"/>
                </a:solidFill>
              </a:rPr>
              <a:t>converging lens means f is positive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26CC1F-8137-05F2-8B53-C5E5121D9CC7}"/>
                  </a:ext>
                </a:extLst>
              </p:cNvPr>
              <p:cNvSpPr txBox="1"/>
              <p:nvPr/>
            </p:nvSpPr>
            <p:spPr>
              <a:xfrm>
                <a:off x="6057988" y="5245229"/>
                <a:ext cx="2808312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GB" sz="28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𝑝𝑜𝑠𝑖𝑡𝑖𝑣𝑒</m:t>
                      </m:r>
                    </m:oMath>
                  </m:oMathPara>
                </a14:m>
                <a:endParaRPr lang="en-GB" sz="2800" b="0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𝑖𝑚𝑎𝑔𝑒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𝑟𝑒𝑎𝑙</m:t>
                      </m:r>
                    </m:oMath>
                  </m:oMathPara>
                </a14:m>
                <a:endParaRPr lang="en-GB" sz="2800" b="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26CC1F-8137-05F2-8B53-C5E5121D9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988" y="5245229"/>
                <a:ext cx="2808312" cy="9541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15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31A162-80FA-8324-0AE8-C30E75D7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6B5DC0-E6B7-4B2C-5703-591263AC78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292" y="461664"/>
            <a:ext cx="9021708" cy="1643527"/>
          </a:xfrm>
          <a:noFill/>
        </p:spPr>
        <p:txBody>
          <a:bodyPr/>
          <a:lstStyle/>
          <a:p>
            <a:r>
              <a:rPr lang="en-GB" dirty="0"/>
              <a:t>Magnifying glasses are converging lenses. In normal use the object is closer to the lens than its Focus. If a lens has a focal length of 10 cm and an object is placed 5 cm from the lens. Will the image be real or virtual?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20C6A0-FFB3-F32E-B8EC-93E3DAAAACB1}"/>
                  </a:ext>
                </a:extLst>
              </p:cNvPr>
              <p:cNvSpPr txBox="1"/>
              <p:nvPr/>
            </p:nvSpPr>
            <p:spPr>
              <a:xfrm>
                <a:off x="242522" y="2201294"/>
                <a:ext cx="1808187" cy="977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20C6A0-FFB3-F32E-B8EC-93E3DAAAA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22" y="2201294"/>
                <a:ext cx="1808187" cy="9773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0467C2-1A5C-0D70-3472-F4A35946E343}"/>
                  </a:ext>
                </a:extLst>
              </p:cNvPr>
              <p:cNvSpPr txBox="1"/>
              <p:nvPr/>
            </p:nvSpPr>
            <p:spPr>
              <a:xfrm>
                <a:off x="242522" y="3203894"/>
                <a:ext cx="2391680" cy="901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0467C2-1A5C-0D70-3472-F4A35946E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22" y="3203894"/>
                <a:ext cx="2391680" cy="9019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388A7C-9D5D-EA14-F1E8-D7B82280EDD7}"/>
                  </a:ext>
                </a:extLst>
              </p:cNvPr>
              <p:cNvSpPr txBox="1"/>
              <p:nvPr/>
            </p:nvSpPr>
            <p:spPr>
              <a:xfrm>
                <a:off x="235337" y="4218105"/>
                <a:ext cx="2391680" cy="901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388A7C-9D5D-EA14-F1E8-D7B82280E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37" y="4218105"/>
                <a:ext cx="2391680" cy="9019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88231B-2237-A19C-00CE-E52CAC1AFBA8}"/>
                  </a:ext>
                </a:extLst>
              </p:cNvPr>
              <p:cNvSpPr txBox="1"/>
              <p:nvPr/>
            </p:nvSpPr>
            <p:spPr>
              <a:xfrm>
                <a:off x="242522" y="5232316"/>
                <a:ext cx="3385222" cy="901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88231B-2237-A19C-00CE-E52CAC1AF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22" y="5232316"/>
                <a:ext cx="3385222" cy="9019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46D48A-A82D-D4D7-59E3-9CFD21B6A0E3}"/>
                  </a:ext>
                </a:extLst>
              </p:cNvPr>
              <p:cNvSpPr txBox="1"/>
              <p:nvPr/>
            </p:nvSpPr>
            <p:spPr>
              <a:xfrm>
                <a:off x="395536" y="6288379"/>
                <a:ext cx="25845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=−10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sz="2800" b="0" i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46D48A-A82D-D4D7-59E3-9CFD21B6A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6288379"/>
                <a:ext cx="258455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57A68C-E83B-8C62-9A2E-46E755CF8C22}"/>
                  </a:ext>
                </a:extLst>
              </p:cNvPr>
              <p:cNvSpPr txBox="1"/>
              <p:nvPr/>
            </p:nvSpPr>
            <p:spPr>
              <a:xfrm>
                <a:off x="4460833" y="2339527"/>
                <a:ext cx="4522263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28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GB" sz="28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𝑛𝑒𝑔𝑎𝑡𝑖𝑣𝑒</m:t>
                      </m:r>
                    </m:oMath>
                  </m:oMathPara>
                </a14:m>
                <a:endParaRPr lang="en-GB" sz="2800" b="0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𝑖𝑚𝑎𝑔𝑒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𝑣𝑖𝑟𝑡𝑢𝑎𝑙</m:t>
                      </m:r>
                    </m:oMath>
                  </m:oMathPara>
                </a14:m>
                <a:endParaRPr lang="en-GB" sz="2800" b="0" dirty="0">
                  <a:solidFill>
                    <a:srgbClr val="0000FF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𝑠𝑎𝑚𝑒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𝑠𝑖𝑑𝑒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𝑙𝑒𝑛𝑠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𝑜𝑏𝑗𝑒𝑐𝑡</m:t>
                      </m:r>
                    </m:oMath>
                  </m:oMathPara>
                </a14:m>
                <a:endParaRPr lang="en-GB" sz="2800" b="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57A68C-E83B-8C62-9A2E-46E755CF8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833" y="2339527"/>
                <a:ext cx="4522263" cy="13849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9A0595-C801-FE1A-5401-31C2D020486D}"/>
              </a:ext>
            </a:extLst>
          </p:cNvPr>
          <p:cNvCxnSpPr>
            <a:cxnSpLocks/>
          </p:cNvCxnSpPr>
          <p:nvPr/>
        </p:nvCxnSpPr>
        <p:spPr bwMode="auto">
          <a:xfrm>
            <a:off x="3995936" y="2420888"/>
            <a:ext cx="4251" cy="44371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012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E8F0A0-23FC-5034-F551-76C120EF9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318F2-763E-9A27-F5B7-9FD254955C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292" y="461664"/>
            <a:ext cx="8899415" cy="1900007"/>
          </a:xfrm>
          <a:noFill/>
        </p:spPr>
        <p:txBody>
          <a:bodyPr/>
          <a:lstStyle/>
          <a:p>
            <a:r>
              <a:rPr lang="en-GB" dirty="0"/>
              <a:t>A converging lens has a focal length of 20 cm. An object is placed 30 cm from the lens, </a:t>
            </a:r>
          </a:p>
          <a:p>
            <a:pPr marL="571500" indent="-571500">
              <a:buAutoNum type="romanLcParenBoth"/>
            </a:pPr>
            <a:r>
              <a:rPr lang="en-GB" dirty="0"/>
              <a:t>calculate how far the image will be from the lens.</a:t>
            </a:r>
          </a:p>
          <a:p>
            <a:pPr marL="571500" indent="-571500">
              <a:buAutoNum type="romanLcParenBoth"/>
            </a:pPr>
            <a:r>
              <a:rPr lang="en-GB" dirty="0"/>
              <a:t>Is the image real or virtual.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C55AB-4477-823C-7123-D2232E9CFF55}"/>
              </a:ext>
            </a:extLst>
          </p:cNvPr>
          <p:cNvSpPr txBox="1"/>
          <p:nvPr/>
        </p:nvSpPr>
        <p:spPr>
          <a:xfrm>
            <a:off x="7265096" y="5837129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 cm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EB7F7-DDFB-FD00-5281-107F6B240274}"/>
              </a:ext>
            </a:extLst>
          </p:cNvPr>
          <p:cNvSpPr txBox="1"/>
          <p:nvPr/>
        </p:nvSpPr>
        <p:spPr>
          <a:xfrm>
            <a:off x="7264157" y="6211670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image</a:t>
            </a:r>
          </a:p>
        </p:txBody>
      </p:sp>
    </p:spTree>
    <p:extLst>
      <p:ext uri="{BB962C8B-B14F-4D97-AF65-F5344CB8AC3E}">
        <p14:creationId xmlns:p14="http://schemas.microsoft.com/office/powerpoint/2010/main" val="21675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FC163-A2B6-6550-AF90-C662EF91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928C35-EB7F-512A-FD58-92C036C59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2E0D4-1D56-2D31-BD93-D82EEF53D6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292" y="461664"/>
            <a:ext cx="8899415" cy="1900007"/>
          </a:xfrm>
          <a:noFill/>
        </p:spPr>
        <p:txBody>
          <a:bodyPr/>
          <a:lstStyle/>
          <a:p>
            <a:r>
              <a:rPr lang="en-GB" dirty="0"/>
              <a:t>A converging lens has a focal length of 20 cm. An object is placed 15 cm from the lens, </a:t>
            </a:r>
          </a:p>
          <a:p>
            <a:pPr marL="571500" indent="-571500">
              <a:buAutoNum type="romanLcParenBoth"/>
            </a:pPr>
            <a:r>
              <a:rPr lang="en-GB" dirty="0"/>
              <a:t>calculate how far the image will be from the lens.</a:t>
            </a:r>
          </a:p>
          <a:p>
            <a:pPr marL="571500" indent="-571500">
              <a:buAutoNum type="romanLcParenBoth"/>
            </a:pPr>
            <a:r>
              <a:rPr lang="en-GB" dirty="0"/>
              <a:t>Is the image real or virtual.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C4D6C-D6F8-C165-10B1-1F194454CE02}"/>
              </a:ext>
            </a:extLst>
          </p:cNvPr>
          <p:cNvSpPr txBox="1"/>
          <p:nvPr/>
        </p:nvSpPr>
        <p:spPr>
          <a:xfrm>
            <a:off x="7265096" y="583712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-60 cm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1DEF0-D9AB-B7DA-4859-3524A133E36E}"/>
              </a:ext>
            </a:extLst>
          </p:cNvPr>
          <p:cNvSpPr txBox="1"/>
          <p:nvPr/>
        </p:nvSpPr>
        <p:spPr>
          <a:xfrm>
            <a:off x="7264157" y="6211670"/>
            <a:ext cx="1527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image</a:t>
            </a:r>
          </a:p>
        </p:txBody>
      </p:sp>
    </p:spTree>
    <p:extLst>
      <p:ext uri="{BB962C8B-B14F-4D97-AF65-F5344CB8AC3E}">
        <p14:creationId xmlns:p14="http://schemas.microsoft.com/office/powerpoint/2010/main" val="11696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2D5C8-D007-68DD-4555-83EDD962E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0ED1B5-4568-AB5A-AB16-8AF5CF329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01BDD9-FA41-62EC-DD03-5F59D00AD7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292" y="461664"/>
            <a:ext cx="8899415" cy="2287806"/>
          </a:xfrm>
          <a:noFill/>
        </p:spPr>
        <p:txBody>
          <a:bodyPr/>
          <a:lstStyle/>
          <a:p>
            <a:r>
              <a:rPr lang="en-GB" dirty="0"/>
              <a:t>A converging lens has a focal length of 15 cm. An object is placed 2 m from the lens, </a:t>
            </a:r>
          </a:p>
          <a:p>
            <a:pPr marL="571500" indent="-571500">
              <a:buAutoNum type="romanLcParenBoth"/>
            </a:pPr>
            <a:r>
              <a:rPr lang="en-GB" dirty="0"/>
              <a:t>To 4 significant figures, calculate how far the image will be from the lens.</a:t>
            </a:r>
          </a:p>
          <a:p>
            <a:pPr marL="571500" indent="-571500">
              <a:buAutoNum type="romanLcParenBoth"/>
            </a:pPr>
            <a:r>
              <a:rPr lang="en-GB" dirty="0"/>
              <a:t>Is the image real or virtual.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93DBAC-792F-E7B7-DAC0-223B8BA69990}"/>
              </a:ext>
            </a:extLst>
          </p:cNvPr>
          <p:cNvSpPr txBox="1"/>
          <p:nvPr/>
        </p:nvSpPr>
        <p:spPr>
          <a:xfrm>
            <a:off x="7265096" y="5837129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16.22 cm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F533F1-7CCC-6937-9EB0-C4077A08EF3A}"/>
              </a:ext>
            </a:extLst>
          </p:cNvPr>
          <p:cNvSpPr txBox="1"/>
          <p:nvPr/>
        </p:nvSpPr>
        <p:spPr>
          <a:xfrm>
            <a:off x="7264157" y="6211670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image</a:t>
            </a:r>
          </a:p>
        </p:txBody>
      </p:sp>
    </p:spTree>
    <p:extLst>
      <p:ext uri="{BB962C8B-B14F-4D97-AF65-F5344CB8AC3E}">
        <p14:creationId xmlns:p14="http://schemas.microsoft.com/office/powerpoint/2010/main" val="130824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19BA5-ADAF-0E58-B92D-793CE7F6A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97C192-951D-D43F-6B9B-4FD08749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86301-2374-90DC-0D45-3D3B34FC8C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292" y="461664"/>
            <a:ext cx="8899415" cy="2416046"/>
          </a:xfrm>
          <a:noFill/>
        </p:spPr>
        <p:txBody>
          <a:bodyPr/>
          <a:lstStyle/>
          <a:p>
            <a:r>
              <a:rPr lang="en-GB" dirty="0"/>
              <a:t>A converging lens has a focal length of 20 cm. </a:t>
            </a:r>
          </a:p>
          <a:p>
            <a:pPr marL="571500" indent="-571500">
              <a:buAutoNum type="romanLcParenBoth"/>
            </a:pPr>
            <a:r>
              <a:rPr lang="en-GB" dirty="0"/>
              <a:t>How far from the lens will an image of the sun be formed.</a:t>
            </a:r>
          </a:p>
          <a:p>
            <a:pPr marL="571500" indent="-571500">
              <a:buAutoNum type="romanLcParenBoth"/>
            </a:pPr>
            <a:r>
              <a:rPr lang="en-GB" dirty="0"/>
              <a:t>Justify your answer</a:t>
            </a:r>
          </a:p>
          <a:p>
            <a:pPr marL="571500" indent="-571500">
              <a:buAutoNum type="romanLcParenBoth"/>
            </a:pPr>
            <a:r>
              <a:rPr lang="en-GB" dirty="0"/>
              <a:t>Will this image be real or virtual?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794395-FEC4-0353-0FEA-1B0F95DDCE63}"/>
              </a:ext>
            </a:extLst>
          </p:cNvPr>
          <p:cNvSpPr txBox="1"/>
          <p:nvPr/>
        </p:nvSpPr>
        <p:spPr>
          <a:xfrm>
            <a:off x="6730411" y="4255666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9D280E-205D-82B4-15A5-E7AF6CB25515}"/>
                  </a:ext>
                </a:extLst>
              </p:cNvPr>
              <p:cNvSpPr txBox="1"/>
              <p:nvPr/>
            </p:nvSpPr>
            <p:spPr>
              <a:xfrm>
                <a:off x="6730411" y="4611232"/>
                <a:ext cx="2413589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:r>
                  <a:rPr lang="en-GB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GB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=∞</m:t>
                    </m:r>
                  </m:oMath>
                </a14:m>
                <a:endParaRPr lang="en-GB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>
                  <a:spcAft>
                    <a:spcPts val="1200"/>
                  </a:spcAft>
                </a:pPr>
                <a:r>
                  <a:rPr lang="en-GB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</a:t>
                </a:r>
              </a:p>
              <a:p>
                <a:pPr algn="l">
                  <a:spcAft>
                    <a:spcPts val="1200"/>
                  </a:spcAft>
                </a:pPr>
                <a:r>
                  <a:rPr lang="en-GB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“parallel beams converge at the focus”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9D280E-205D-82B4-15A5-E7AF6CB25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411" y="4611232"/>
                <a:ext cx="2413589" cy="1785104"/>
              </a:xfrm>
              <a:prstGeom prst="rect">
                <a:avLst/>
              </a:prstGeom>
              <a:blipFill>
                <a:blip r:embed="rId2"/>
                <a:stretch>
                  <a:fillRect l="-2020" t="-1706" b="-44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E9F6E52-9A36-1906-609F-BCF6EA3A8E75}"/>
              </a:ext>
            </a:extLst>
          </p:cNvPr>
          <p:cNvSpPr txBox="1"/>
          <p:nvPr/>
        </p:nvSpPr>
        <p:spPr>
          <a:xfrm>
            <a:off x="6730411" y="6488668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image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15945F5-A762-4A20-4D33-92DE67D21FDD}"/>
              </a:ext>
            </a:extLst>
          </p:cNvPr>
          <p:cNvGrpSpPr/>
          <p:nvPr/>
        </p:nvGrpSpPr>
        <p:grpSpPr>
          <a:xfrm>
            <a:off x="6902777" y="3099766"/>
            <a:ext cx="755324" cy="739823"/>
            <a:chOff x="298776" y="3017556"/>
            <a:chExt cx="1937657" cy="1897893"/>
          </a:xfrm>
        </p:grpSpPr>
        <p:sp>
          <p:nvSpPr>
            <p:cNvPr id="10" name="Star: 16 Points 9">
              <a:extLst>
                <a:ext uri="{FF2B5EF4-FFF2-40B4-BE49-F238E27FC236}">
                  <a16:creationId xmlns:a16="http://schemas.microsoft.com/office/drawing/2014/main" id="{63DF41F2-FE43-F6A3-9F75-BA61CD207CA9}"/>
                </a:ext>
              </a:extLst>
            </p:cNvPr>
            <p:cNvSpPr/>
            <p:nvPr/>
          </p:nvSpPr>
          <p:spPr>
            <a:xfrm>
              <a:off x="298776" y="3017556"/>
              <a:ext cx="1937657" cy="1897893"/>
            </a:xfrm>
            <a:prstGeom prst="star16">
              <a:avLst>
                <a:gd name="adj" fmla="val 25455"/>
              </a:avLst>
            </a:prstGeom>
            <a:solidFill>
              <a:srgbClr val="FFFF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12FFDBF-20C4-7154-2D58-098F6D7F268E}"/>
                </a:ext>
              </a:extLst>
            </p:cNvPr>
            <p:cNvSpPr/>
            <p:nvPr/>
          </p:nvSpPr>
          <p:spPr>
            <a:xfrm>
              <a:off x="875718" y="3574616"/>
              <a:ext cx="783772" cy="783772"/>
            </a:xfrm>
            <a:prstGeom prst="ellipse">
              <a:avLst/>
            </a:prstGeom>
            <a:solidFill>
              <a:srgbClr val="FFAE1D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57677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CE83-D9EB-FC18-27B4-DBD25E7C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D9F6A-1543-1373-6980-FB9EF54127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292" y="461664"/>
            <a:ext cx="8899415" cy="1255728"/>
          </a:xfrm>
          <a:noFill/>
        </p:spPr>
        <p:txBody>
          <a:bodyPr/>
          <a:lstStyle/>
          <a:p>
            <a:r>
              <a:rPr lang="en-GB" dirty="0"/>
              <a:t>A projector lens forms an image on a screen 3 meters from the lens. The focal length of the lens is 8 cm. How far is the internal LCD (</a:t>
            </a:r>
            <a:r>
              <a:rPr lang="en-GB" dirty="0" err="1"/>
              <a:t>ie</a:t>
            </a:r>
            <a:r>
              <a:rPr lang="en-GB" dirty="0"/>
              <a:t> the object) from the lens.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B2E5D-F5B5-7713-5E17-0EBA854C0A82}"/>
              </a:ext>
            </a:extLst>
          </p:cNvPr>
          <p:cNvSpPr txBox="1"/>
          <p:nvPr/>
        </p:nvSpPr>
        <p:spPr>
          <a:xfrm>
            <a:off x="7590773" y="6211670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8.22 cm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6E5F8F-4BC3-DB2B-A8B1-E72592325F4D}"/>
              </a:ext>
            </a:extLst>
          </p:cNvPr>
          <p:cNvSpPr/>
          <p:nvPr/>
        </p:nvSpPr>
        <p:spPr>
          <a:xfrm>
            <a:off x="6576033" y="2080619"/>
            <a:ext cx="850900" cy="58649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8AB1D64-9381-6993-BC74-EFDC8C1B9307}"/>
              </a:ext>
            </a:extLst>
          </p:cNvPr>
          <p:cNvSpPr/>
          <p:nvPr/>
        </p:nvSpPr>
        <p:spPr>
          <a:xfrm>
            <a:off x="7434871" y="2240958"/>
            <a:ext cx="93662" cy="315241"/>
          </a:xfrm>
          <a:custGeom>
            <a:avLst/>
            <a:gdLst>
              <a:gd name="connsiteX0" fmla="*/ 1587 w 93662"/>
              <a:gd name="connsiteY0" fmla="*/ 60325 h 341312"/>
              <a:gd name="connsiteX1" fmla="*/ 93662 w 93662"/>
              <a:gd name="connsiteY1" fmla="*/ 0 h 341312"/>
              <a:gd name="connsiteX2" fmla="*/ 93662 w 93662"/>
              <a:gd name="connsiteY2" fmla="*/ 341312 h 341312"/>
              <a:gd name="connsiteX3" fmla="*/ 0 w 93662"/>
              <a:gd name="connsiteY3" fmla="*/ 274637 h 341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662" h="341312">
                <a:moveTo>
                  <a:pt x="1587" y="60325"/>
                </a:moveTo>
                <a:lnTo>
                  <a:pt x="93662" y="0"/>
                </a:lnTo>
                <a:lnTo>
                  <a:pt x="93662" y="341312"/>
                </a:lnTo>
                <a:lnTo>
                  <a:pt x="0" y="274637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DEC43-FA4D-9972-37DA-6396EADB5249}"/>
              </a:ext>
            </a:extLst>
          </p:cNvPr>
          <p:cNvCxnSpPr>
            <a:cxnSpLocks/>
          </p:cNvCxnSpPr>
          <p:nvPr/>
        </p:nvCxnSpPr>
        <p:spPr>
          <a:xfrm flipV="1">
            <a:off x="7536471" y="1924181"/>
            <a:ext cx="1331383" cy="405096"/>
          </a:xfrm>
          <a:prstGeom prst="line">
            <a:avLst/>
          </a:prstGeom>
          <a:ln w="28575">
            <a:solidFill>
              <a:schemeClr val="tx1"/>
            </a:solidFill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62EB65-8FC6-2E35-DA0B-09642D3DB2EE}"/>
              </a:ext>
            </a:extLst>
          </p:cNvPr>
          <p:cNvCxnSpPr>
            <a:cxnSpLocks/>
          </p:cNvCxnSpPr>
          <p:nvPr/>
        </p:nvCxnSpPr>
        <p:spPr>
          <a:xfrm>
            <a:off x="7536471" y="2477672"/>
            <a:ext cx="1331383" cy="383998"/>
          </a:xfrm>
          <a:prstGeom prst="line">
            <a:avLst/>
          </a:prstGeom>
          <a:ln w="28575">
            <a:solidFill>
              <a:schemeClr val="tx1"/>
            </a:solidFill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30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834FA-F204-A300-0E12-1F9298E9A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09891-007B-B31B-D2EE-012A0F51C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3739C-0B43-31EF-A855-7F2498A7C1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292" y="461664"/>
            <a:ext cx="8899415" cy="1643527"/>
          </a:xfrm>
          <a:noFill/>
        </p:spPr>
        <p:txBody>
          <a:bodyPr/>
          <a:lstStyle/>
          <a:p>
            <a:r>
              <a:rPr lang="en-GB" dirty="0"/>
              <a:t>A phone camera lens is 4.4 mm from the sensor. If an object 3 m from the camera is perfectly in focus, what is the focal length of the lens?  Answer to 4 significant figures.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3D91A5-9AC1-69F8-1E74-B7AB7A0A8870}"/>
              </a:ext>
            </a:extLst>
          </p:cNvPr>
          <p:cNvSpPr txBox="1"/>
          <p:nvPr/>
        </p:nvSpPr>
        <p:spPr>
          <a:xfrm>
            <a:off x="7615825" y="6211670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4.394 mm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336BDB0-6B69-C207-29A2-A91D4A5D3C65}"/>
              </a:ext>
            </a:extLst>
          </p:cNvPr>
          <p:cNvSpPr/>
          <p:nvPr/>
        </p:nvSpPr>
        <p:spPr>
          <a:xfrm>
            <a:off x="7615826" y="2297340"/>
            <a:ext cx="230838" cy="177176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468422A-4D69-D7E8-97A9-3D958721329B}"/>
              </a:ext>
            </a:extLst>
          </p:cNvPr>
          <p:cNvSpPr/>
          <p:nvPr/>
        </p:nvSpPr>
        <p:spPr bwMode="auto">
          <a:xfrm>
            <a:off x="7500406" y="2393617"/>
            <a:ext cx="230837" cy="463598"/>
          </a:xfrm>
          <a:custGeom>
            <a:avLst/>
            <a:gdLst>
              <a:gd name="connsiteX0" fmla="*/ 191386 w 627321"/>
              <a:gd name="connsiteY0" fmla="*/ 0 h 2519916"/>
              <a:gd name="connsiteX1" fmla="*/ 627321 w 627321"/>
              <a:gd name="connsiteY1" fmla="*/ 2519916 h 2519916"/>
              <a:gd name="connsiteX2" fmla="*/ 0 w 627321"/>
              <a:gd name="connsiteY2" fmla="*/ 2509283 h 2519916"/>
              <a:gd name="connsiteX3" fmla="*/ 191386 w 627321"/>
              <a:gd name="connsiteY3" fmla="*/ 0 h 2519916"/>
              <a:gd name="connsiteX0" fmla="*/ 191386 w 191386"/>
              <a:gd name="connsiteY0" fmla="*/ 0 h 2509283"/>
              <a:gd name="connsiteX1" fmla="*/ 0 w 191386"/>
              <a:gd name="connsiteY1" fmla="*/ 2509283 h 2509283"/>
              <a:gd name="connsiteX2" fmla="*/ 191386 w 191386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191386 w 282600"/>
              <a:gd name="connsiteY0" fmla="*/ 0 h 2509283"/>
              <a:gd name="connsiteX1" fmla="*/ 0 w 282600"/>
              <a:gd name="connsiteY1" fmla="*/ 2509283 h 2509283"/>
              <a:gd name="connsiteX2" fmla="*/ 191386 w 282600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242724 w 272066"/>
              <a:gd name="connsiteY0" fmla="*/ 0 h 2509283"/>
              <a:gd name="connsiteX1" fmla="*/ 51338 w 272066"/>
              <a:gd name="connsiteY1" fmla="*/ 2509283 h 2509283"/>
              <a:gd name="connsiteX2" fmla="*/ 242724 w 272066"/>
              <a:gd name="connsiteY2" fmla="*/ 0 h 2509283"/>
              <a:gd name="connsiteX0" fmla="*/ 242724 w 431108"/>
              <a:gd name="connsiteY0" fmla="*/ 0 h 2509283"/>
              <a:gd name="connsiteX1" fmla="*/ 51338 w 431108"/>
              <a:gd name="connsiteY1" fmla="*/ 2509283 h 2509283"/>
              <a:gd name="connsiteX2" fmla="*/ 242724 w 431108"/>
              <a:gd name="connsiteY2" fmla="*/ 0 h 2509283"/>
              <a:gd name="connsiteX0" fmla="*/ 198091 w 442874"/>
              <a:gd name="connsiteY0" fmla="*/ 0 h 2488018"/>
              <a:gd name="connsiteX1" fmla="*/ 144928 w 442874"/>
              <a:gd name="connsiteY1" fmla="*/ 2488018 h 2488018"/>
              <a:gd name="connsiteX2" fmla="*/ 198091 w 442874"/>
              <a:gd name="connsiteY2" fmla="*/ 0 h 2488018"/>
              <a:gd name="connsiteX0" fmla="*/ 258630 w 503413"/>
              <a:gd name="connsiteY0" fmla="*/ 0 h 2488018"/>
              <a:gd name="connsiteX1" fmla="*/ 205467 w 503413"/>
              <a:gd name="connsiteY1" fmla="*/ 2488018 h 2488018"/>
              <a:gd name="connsiteX2" fmla="*/ 258630 w 503413"/>
              <a:gd name="connsiteY2" fmla="*/ 0 h 2488018"/>
              <a:gd name="connsiteX0" fmla="*/ 258630 w 434490"/>
              <a:gd name="connsiteY0" fmla="*/ 0 h 2488018"/>
              <a:gd name="connsiteX1" fmla="*/ 205467 w 434490"/>
              <a:gd name="connsiteY1" fmla="*/ 2488018 h 2488018"/>
              <a:gd name="connsiteX2" fmla="*/ 258630 w 434490"/>
              <a:gd name="connsiteY2" fmla="*/ 0 h 2488018"/>
              <a:gd name="connsiteX0" fmla="*/ 242605 w 433746"/>
              <a:gd name="connsiteY0" fmla="*/ 0 h 2668772"/>
              <a:gd name="connsiteX1" fmla="*/ 231972 w 433746"/>
              <a:gd name="connsiteY1" fmla="*/ 2668772 h 2668772"/>
              <a:gd name="connsiteX2" fmla="*/ 242605 w 433746"/>
              <a:gd name="connsiteY2" fmla="*/ 0 h 2668772"/>
              <a:gd name="connsiteX0" fmla="*/ 179477 w 370618"/>
              <a:gd name="connsiteY0" fmla="*/ 0 h 2668772"/>
              <a:gd name="connsiteX1" fmla="*/ 168844 w 370618"/>
              <a:gd name="connsiteY1" fmla="*/ 2668772 h 2668772"/>
              <a:gd name="connsiteX2" fmla="*/ 179477 w 370618"/>
              <a:gd name="connsiteY2" fmla="*/ 0 h 2668772"/>
              <a:gd name="connsiteX0" fmla="*/ 179477 w 326609"/>
              <a:gd name="connsiteY0" fmla="*/ 0 h 2668772"/>
              <a:gd name="connsiteX1" fmla="*/ 168844 w 326609"/>
              <a:gd name="connsiteY1" fmla="*/ 2668772 h 2668772"/>
              <a:gd name="connsiteX2" fmla="*/ 179477 w 326609"/>
              <a:gd name="connsiteY2" fmla="*/ 0 h 2668772"/>
              <a:gd name="connsiteX0" fmla="*/ 179477 w 322355"/>
              <a:gd name="connsiteY0" fmla="*/ 0 h 2668772"/>
              <a:gd name="connsiteX1" fmla="*/ 168844 w 322355"/>
              <a:gd name="connsiteY1" fmla="*/ 2668772 h 2668772"/>
              <a:gd name="connsiteX2" fmla="*/ 179477 w 322355"/>
              <a:gd name="connsiteY2" fmla="*/ 0 h 2668772"/>
              <a:gd name="connsiteX0" fmla="*/ 157761 w 300639"/>
              <a:gd name="connsiteY0" fmla="*/ 0 h 2668772"/>
              <a:gd name="connsiteX1" fmla="*/ 147128 w 300639"/>
              <a:gd name="connsiteY1" fmla="*/ 2668772 h 2668772"/>
              <a:gd name="connsiteX2" fmla="*/ 157761 w 300639"/>
              <a:gd name="connsiteY2" fmla="*/ 0 h 2668772"/>
              <a:gd name="connsiteX0" fmla="*/ 144523 w 302708"/>
              <a:gd name="connsiteY0" fmla="*/ 0 h 2668772"/>
              <a:gd name="connsiteX1" fmla="*/ 165788 w 302708"/>
              <a:gd name="connsiteY1" fmla="*/ 2668772 h 2668772"/>
              <a:gd name="connsiteX2" fmla="*/ 144523 w 302708"/>
              <a:gd name="connsiteY2" fmla="*/ 0 h 2668772"/>
              <a:gd name="connsiteX0" fmla="*/ 141246 w 299431"/>
              <a:gd name="connsiteY0" fmla="*/ 0 h 2668772"/>
              <a:gd name="connsiteX1" fmla="*/ 162511 w 299431"/>
              <a:gd name="connsiteY1" fmla="*/ 2668772 h 2668772"/>
              <a:gd name="connsiteX2" fmla="*/ 141246 w 299431"/>
              <a:gd name="connsiteY2" fmla="*/ 0 h 2668772"/>
              <a:gd name="connsiteX0" fmla="*/ 141246 w 295417"/>
              <a:gd name="connsiteY0" fmla="*/ 0 h 2668772"/>
              <a:gd name="connsiteX1" fmla="*/ 162511 w 295417"/>
              <a:gd name="connsiteY1" fmla="*/ 2668772 h 2668772"/>
              <a:gd name="connsiteX2" fmla="*/ 141246 w 295417"/>
              <a:gd name="connsiteY2" fmla="*/ 0 h 2668772"/>
              <a:gd name="connsiteX0" fmla="*/ 174134 w 296321"/>
              <a:gd name="connsiteY0" fmla="*/ 0 h 2690037"/>
              <a:gd name="connsiteX1" fmla="*/ 120972 w 296321"/>
              <a:gd name="connsiteY1" fmla="*/ 2690037 h 2690037"/>
              <a:gd name="connsiteX2" fmla="*/ 174134 w 296321"/>
              <a:gd name="connsiteY2" fmla="*/ 0 h 2690037"/>
              <a:gd name="connsiteX0" fmla="*/ 141244 w 295416"/>
              <a:gd name="connsiteY0" fmla="*/ 0 h 2690037"/>
              <a:gd name="connsiteX1" fmla="*/ 162510 w 295416"/>
              <a:gd name="connsiteY1" fmla="*/ 2690037 h 2690037"/>
              <a:gd name="connsiteX2" fmla="*/ 141244 w 295416"/>
              <a:gd name="connsiteY2" fmla="*/ 0 h 2690037"/>
              <a:gd name="connsiteX0" fmla="*/ 110167 w 264339"/>
              <a:gd name="connsiteY0" fmla="*/ 0 h 2690037"/>
              <a:gd name="connsiteX1" fmla="*/ 131433 w 264339"/>
              <a:gd name="connsiteY1" fmla="*/ 2690037 h 2690037"/>
              <a:gd name="connsiteX2" fmla="*/ 110167 w 264339"/>
              <a:gd name="connsiteY2" fmla="*/ 0 h 2690037"/>
              <a:gd name="connsiteX0" fmla="*/ 117454 w 271626"/>
              <a:gd name="connsiteY0" fmla="*/ 0 h 2690037"/>
              <a:gd name="connsiteX1" fmla="*/ 138720 w 271626"/>
              <a:gd name="connsiteY1" fmla="*/ 2690037 h 2690037"/>
              <a:gd name="connsiteX2" fmla="*/ 117454 w 271626"/>
              <a:gd name="connsiteY2" fmla="*/ 0 h 2690037"/>
              <a:gd name="connsiteX0" fmla="*/ 117454 w 267667"/>
              <a:gd name="connsiteY0" fmla="*/ 0 h 2690037"/>
              <a:gd name="connsiteX1" fmla="*/ 138720 w 267667"/>
              <a:gd name="connsiteY1" fmla="*/ 2690037 h 2690037"/>
              <a:gd name="connsiteX2" fmla="*/ 117454 w 267667"/>
              <a:gd name="connsiteY2" fmla="*/ 0 h 269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667" h="2690037">
                <a:moveTo>
                  <a:pt x="117454" y="0"/>
                </a:moveTo>
                <a:cubicBezTo>
                  <a:pt x="330105" y="698204"/>
                  <a:pt x="298207" y="2076893"/>
                  <a:pt x="138720" y="2690037"/>
                </a:cubicBezTo>
                <a:cubicBezTo>
                  <a:pt x="-31401" y="2044995"/>
                  <a:pt x="-52666" y="730102"/>
                  <a:pt x="117454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32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44" title="Screenshot 2025-09-23 22.09.57.png"/>
          <p:cNvPicPr preferRelativeResize="0"/>
          <p:nvPr/>
        </p:nvPicPr>
        <p:blipFill rotWithShape="1">
          <a:blip r:embed="rId3">
            <a:alphaModFix/>
          </a:blip>
          <a:srcRect l="3050" r="722"/>
          <a:stretch/>
        </p:blipFill>
        <p:spPr>
          <a:xfrm>
            <a:off x="2575" y="20525"/>
            <a:ext cx="9144000" cy="6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4" title="Screenshot 2026-02-23 08.52.2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770" y="2507725"/>
            <a:ext cx="8837605" cy="145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46" title="Screenshot 2025-09-23 22.09.57.png"/>
          <p:cNvPicPr preferRelativeResize="0"/>
          <p:nvPr/>
        </p:nvPicPr>
        <p:blipFill rotWithShape="1">
          <a:blip r:embed="rId3">
            <a:alphaModFix/>
          </a:blip>
          <a:srcRect l="3050" r="722"/>
          <a:stretch/>
        </p:blipFill>
        <p:spPr>
          <a:xfrm>
            <a:off x="2575" y="20525"/>
            <a:ext cx="9144000" cy="6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6" title="Screenshot 2026-02-23 08.52.3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798625"/>
            <a:ext cx="8429625" cy="574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7" title="Screenshot 2025-09-23 22.09.57.png"/>
          <p:cNvPicPr preferRelativeResize="0"/>
          <p:nvPr/>
        </p:nvPicPr>
        <p:blipFill rotWithShape="1">
          <a:blip r:embed="rId3">
            <a:alphaModFix/>
          </a:blip>
          <a:srcRect l="3050" r="722"/>
          <a:stretch/>
        </p:blipFill>
        <p:spPr>
          <a:xfrm>
            <a:off x="2575" y="20525"/>
            <a:ext cx="9144000" cy="6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7"/>
          <p:cNvSpPr txBox="1"/>
          <p:nvPr/>
        </p:nvSpPr>
        <p:spPr>
          <a:xfrm>
            <a:off x="97375" y="862313"/>
            <a:ext cx="71262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Concave (diverging lenses)</a:t>
            </a:r>
            <a:endParaRPr sz="32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31" name="Google Shape;431;p47"/>
          <p:cNvSpPr txBox="1"/>
          <p:nvPr/>
        </p:nvSpPr>
        <p:spPr>
          <a:xfrm>
            <a:off x="108125" y="1663255"/>
            <a:ext cx="3793800" cy="30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 concave lens the rays of light are refracted </a:t>
            </a:r>
            <a:r>
              <a:rPr lang="en-US" sz="27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OUTWARDS</a:t>
            </a:r>
            <a:r>
              <a:rPr lang="en-US" sz="27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results in diverging rays of light so they will never meet. </a:t>
            </a:r>
            <a:endParaRPr sz="2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7"/>
          <p:cNvSpPr txBox="1"/>
          <p:nvPr/>
        </p:nvSpPr>
        <p:spPr>
          <a:xfrm>
            <a:off x="228275" y="5034875"/>
            <a:ext cx="35535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VIRTUAL images can form in concave lenses</a:t>
            </a:r>
            <a:endParaRPr sz="2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D47333-B550-F64A-85FE-09700C2DC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118" y="1964463"/>
            <a:ext cx="5036592" cy="41022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48" title="Screenshot 2025-09-23 22.09.57.png"/>
          <p:cNvPicPr preferRelativeResize="0"/>
          <p:nvPr/>
        </p:nvPicPr>
        <p:blipFill rotWithShape="1">
          <a:blip r:embed="rId3">
            <a:alphaModFix/>
          </a:blip>
          <a:srcRect l="3050" r="722"/>
          <a:stretch/>
        </p:blipFill>
        <p:spPr>
          <a:xfrm>
            <a:off x="2575" y="20525"/>
            <a:ext cx="9144000" cy="6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48"/>
          <p:cNvSpPr txBox="1"/>
          <p:nvPr/>
        </p:nvSpPr>
        <p:spPr>
          <a:xfrm>
            <a:off x="127539" y="3321357"/>
            <a:ext cx="4252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+mj-lt"/>
              <a:buAutoNum type="arabicPeriod" startAt="2"/>
            </a:pPr>
            <a:r>
              <a:rPr lang="en-US" sz="3000" dirty="0"/>
              <a:t>In optic </a:t>
            </a:r>
            <a:r>
              <a:rPr lang="en-US" sz="3000" dirty="0" err="1"/>
              <a:t>centre</a:t>
            </a:r>
            <a:r>
              <a:rPr lang="en-US" sz="3000" dirty="0"/>
              <a:t>, out </a:t>
            </a:r>
            <a:r>
              <a:rPr lang="en-US" sz="3000" dirty="0" err="1"/>
              <a:t>undeflected</a:t>
            </a:r>
            <a:endParaRPr sz="3000" dirty="0"/>
          </a:p>
        </p:txBody>
      </p:sp>
      <p:sp>
        <p:nvSpPr>
          <p:cNvPr id="441" name="Google Shape;441;p48"/>
          <p:cNvSpPr txBox="1"/>
          <p:nvPr/>
        </p:nvSpPr>
        <p:spPr>
          <a:xfrm>
            <a:off x="36600" y="1309475"/>
            <a:ext cx="4252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AutoNum type="arabicPeriod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TOWARD </a:t>
            </a:r>
            <a:r>
              <a:rPr lang="en-US" sz="3000" b="1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out parallel</a:t>
            </a:r>
            <a:endParaRPr sz="2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8"/>
          <p:cNvSpPr txBox="1"/>
          <p:nvPr/>
        </p:nvSpPr>
        <p:spPr>
          <a:xfrm>
            <a:off x="127539" y="4962725"/>
            <a:ext cx="42522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+mj-lt"/>
              <a:buAutoNum type="arabicPeriod" startAt="3"/>
            </a:pPr>
            <a:r>
              <a:rPr lang="en-US" sz="3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parallel out as if FROM </a:t>
            </a:r>
            <a:r>
              <a:rPr lang="en-US" sz="3100" b="1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3000" b="1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96;p42">
            <a:extLst>
              <a:ext uri="{FF2B5EF4-FFF2-40B4-BE49-F238E27FC236}">
                <a16:creationId xmlns:a16="http://schemas.microsoft.com/office/drawing/2014/main" id="{256486F4-392B-EA42-A952-30F803FB033B}"/>
              </a:ext>
            </a:extLst>
          </p:cNvPr>
          <p:cNvSpPr txBox="1"/>
          <p:nvPr/>
        </p:nvSpPr>
        <p:spPr>
          <a:xfrm>
            <a:off x="124697" y="599853"/>
            <a:ext cx="54777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Rules for drawing ray diagrams</a:t>
            </a:r>
            <a:endParaRPr sz="2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4665B2-1A3E-7449-AF72-AE1AA46AD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739" y="1413980"/>
            <a:ext cx="4094912" cy="52210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49" title="Screenshot 2025-09-23 22.09.57.png"/>
          <p:cNvPicPr preferRelativeResize="0"/>
          <p:nvPr/>
        </p:nvPicPr>
        <p:blipFill rotWithShape="1">
          <a:blip r:embed="rId3">
            <a:alphaModFix/>
          </a:blip>
          <a:srcRect l="3050" r="722"/>
          <a:stretch/>
        </p:blipFill>
        <p:spPr>
          <a:xfrm>
            <a:off x="2575" y="20525"/>
            <a:ext cx="9144000" cy="6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9"/>
          <p:cNvSpPr txBox="1"/>
          <p:nvPr/>
        </p:nvSpPr>
        <p:spPr>
          <a:xfrm>
            <a:off x="24902" y="644225"/>
            <a:ext cx="73599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Images formed in a concave lens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4D957F-49DC-0449-BE57-E44980477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72" y="1344274"/>
            <a:ext cx="7658456" cy="504514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50" title="Screenshot 2025-09-23 22.09.57.png"/>
          <p:cNvPicPr preferRelativeResize="0"/>
          <p:nvPr/>
        </p:nvPicPr>
        <p:blipFill rotWithShape="1">
          <a:blip r:embed="rId3">
            <a:alphaModFix/>
          </a:blip>
          <a:srcRect l="3050" r="722"/>
          <a:stretch/>
        </p:blipFill>
        <p:spPr>
          <a:xfrm>
            <a:off x="2575" y="20525"/>
            <a:ext cx="9144000" cy="6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50" title="Screenshot 2026-02-23 08.53.29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600" y="798625"/>
            <a:ext cx="6728022" cy="59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51" title="Screenshot 2025-09-23 22.09.57.png"/>
          <p:cNvPicPr preferRelativeResize="0"/>
          <p:nvPr/>
        </p:nvPicPr>
        <p:blipFill rotWithShape="1">
          <a:blip r:embed="rId3">
            <a:alphaModFix/>
          </a:blip>
          <a:srcRect l="3050" r="722"/>
          <a:stretch/>
        </p:blipFill>
        <p:spPr>
          <a:xfrm>
            <a:off x="2575" y="20525"/>
            <a:ext cx="9144000" cy="6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1" title="Screenshot 2026-02-23 08.53.37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874825"/>
            <a:ext cx="7924800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917F1F3-29B0-D740-9CE0-98B3EF1A8250}"/>
              </a:ext>
            </a:extLst>
          </p:cNvPr>
          <p:cNvSpPr/>
          <p:nvPr/>
        </p:nvSpPr>
        <p:spPr>
          <a:xfrm>
            <a:off x="7859730" y="5527497"/>
            <a:ext cx="674670" cy="681328"/>
          </a:xfrm>
          <a:prstGeom prst="roundRect">
            <a:avLst/>
          </a:prstGeom>
          <a:solidFill>
            <a:srgbClr val="E60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11663</TotalTime>
  <Words>1561</Words>
  <Application>Microsoft Macintosh PowerPoint</Application>
  <PresentationFormat>On-screen Show (4:3)</PresentationFormat>
  <Paragraphs>276</Paragraphs>
  <Slides>53</Slides>
  <Notes>31</Notes>
  <HiddenSlides>2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53</vt:i4>
      </vt:variant>
    </vt:vector>
  </HeadingPairs>
  <TitlesOfParts>
    <vt:vector size="67" baseType="lpstr">
      <vt:lpstr>Arial</vt:lpstr>
      <vt:lpstr>Arial Black</vt:lpstr>
      <vt:lpstr>Arial Rounded MT Bold</vt:lpstr>
      <vt:lpstr>Calibri</vt:lpstr>
      <vt:lpstr>Cambria Math</vt:lpstr>
      <vt:lpstr>Symbol</vt:lpstr>
      <vt:lpstr>Times New Roman</vt:lpstr>
      <vt:lpstr>Verdana</vt:lpstr>
      <vt:lpstr>Wingdings</vt:lpstr>
      <vt:lpstr>Wingdings 2</vt:lpstr>
      <vt:lpstr>Default Design</vt:lpstr>
      <vt:lpstr>Photo Editor Photo</vt:lpstr>
      <vt:lpstr>Image</vt:lpstr>
      <vt:lpstr>Equation</vt:lpstr>
      <vt:lpstr>PowerPoint Presentation</vt:lpstr>
      <vt:lpstr>LENSES</vt:lpstr>
      <vt:lpstr>Lenses</vt:lpstr>
      <vt:lpstr>What are the uses of lenses?</vt:lpstr>
      <vt:lpstr>What is a converging lens?</vt:lpstr>
      <vt:lpstr>PowerPoint Presentation</vt:lpstr>
      <vt:lpstr>Converging Lens: Important Terms</vt:lpstr>
      <vt:lpstr>PowerPoint Presentation</vt:lpstr>
      <vt:lpstr>PowerPoint Presentation</vt:lpstr>
      <vt:lpstr>PowerPoint Presentation</vt:lpstr>
      <vt:lpstr>PowerPoint Presentation</vt:lpstr>
      <vt:lpstr>Converging lens: There are 5 Cases  i.e. 5 possible positions for the object</vt:lpstr>
      <vt:lpstr>PowerPoint Presentation</vt:lpstr>
      <vt:lpstr>How do we describe images?</vt:lpstr>
      <vt:lpstr>Real Image</vt:lpstr>
      <vt:lpstr>Virtual Image</vt:lpstr>
      <vt:lpstr>Converging Lens - Case 1:  Object Located outside 2f i.e. u  2f</vt:lpstr>
      <vt:lpstr>Converging Lens - Case 1:  Object Located Outside 2f i.e. u  2f</vt:lpstr>
      <vt:lpstr>Converging Lens - Case 2:  Object Located AT 2f. u = 2f</vt:lpstr>
      <vt:lpstr>Converging Lens - Case 2:  Object Located AT 2f i.e. u = 2f</vt:lpstr>
      <vt:lpstr>Converging Lens – Case 2: Object on 2f  i.e. u = 2f</vt:lpstr>
      <vt:lpstr>Converging Lens - Case 3:  Object Located between 2f and the Focal Point i.e. f  u  2 f</vt:lpstr>
      <vt:lpstr>Converging Lens - Case 3:  Object Located between 2f and the Focal Point i.e. f  u  2 f</vt:lpstr>
      <vt:lpstr>Converging Lens - Case 3:  Object Located between 2f and the Focal Point [f  u  2 f ]</vt:lpstr>
      <vt:lpstr>Converging Lens - Case 4:  Object located at the focal point [u = f ]</vt:lpstr>
      <vt:lpstr>Converging Lens – Case 4: Object on f  i.e.u  = f</vt:lpstr>
      <vt:lpstr>SPECIAL CASE:Converging Lens - Case 5:  Object INSIDE the focal point i.e. u  f</vt:lpstr>
      <vt:lpstr>SPECIAL CASE: Converging Lens - Case 5:  Object INSIDE the focal point i.e. u  f</vt:lpstr>
      <vt:lpstr>SPECIAL CASE:Converging Lens – Case 5 Object INSIDE the focal point i.e. u  f</vt:lpstr>
      <vt:lpstr>Converging Lens – Case 5: Object inside f   This is called a   Simple Microscope or Magnifying Glass </vt:lpstr>
      <vt:lpstr>Lens Formula</vt:lpstr>
      <vt:lpstr>What is the lens formula</vt:lpstr>
      <vt:lpstr>What is the lens formula</vt:lpstr>
      <vt:lpstr>When do you get negatives in the lens formula</vt:lpstr>
      <vt:lpstr>PowerPoint Presentation</vt:lpstr>
      <vt:lpstr>Example 1</vt:lpstr>
      <vt:lpstr>Example 2</vt:lpstr>
      <vt:lpstr>Exercise</vt:lpstr>
      <vt:lpstr>Example 3</vt:lpstr>
      <vt:lpstr>Example 4</vt:lpstr>
      <vt:lpstr>Exercise</vt:lpstr>
      <vt:lpstr>Exercise</vt:lpstr>
      <vt:lpstr>Exercise</vt:lpstr>
      <vt:lpstr>Exercise</vt:lpstr>
      <vt:lpstr>Exercise</vt:lpstr>
      <vt:lpstr>Exercise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 Casey</cp:lastModifiedBy>
  <cp:revision>14</cp:revision>
  <cp:lastPrinted>2026-10-12T20:53:12Z</cp:lastPrinted>
  <dcterms:modified xsi:type="dcterms:W3CDTF">2026-10-12T22:25:10Z</dcterms:modified>
</cp:coreProperties>
</file>